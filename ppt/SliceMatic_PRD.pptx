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charts/chart5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71" r:id="rId14"/>
    <p:sldId id="267" r:id="rId15"/>
    <p:sldId id="268" r:id="rId16"/>
    <p:sldId id="275" r:id="rId17"/>
    <p:sldId id="269" r:id="rId18"/>
    <p:sldId id="274" r:id="rId19"/>
    <p:sldId id="272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D3B1A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2D3B1A"/>
                </a:solidFill>
                <a:latin typeface="Arial"/>
              </a:rPr>
              <a:t>Monthly Fixed Costs: ₹2,02,910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Fixed Costs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3B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814-4563-8B46-822F99FCC071}"/>
              </c:ext>
            </c:extLst>
          </c:dPt>
          <c:dPt>
            <c:idx val="1"/>
            <c:bubble3D val="0"/>
            <c:spPr>
              <a:solidFill>
                <a:srgbClr val="5C6E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814-4563-8B46-822F99FCC071}"/>
              </c:ext>
            </c:extLst>
          </c:dPt>
          <c:dPt>
            <c:idx val="2"/>
            <c:bubble3D val="0"/>
            <c:spPr>
              <a:solidFill>
                <a:srgbClr val="C892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814-4563-8B46-822F99FCC071}"/>
              </c:ext>
            </c:extLst>
          </c:dPt>
          <c:dPt>
            <c:idx val="3"/>
            <c:bubble3D val="0"/>
            <c:spPr>
              <a:solidFill>
                <a:srgbClr val="7A8F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814-4563-8B46-822F99FCC071}"/>
              </c:ext>
            </c:extLst>
          </c:dPt>
          <c:dPt>
            <c:idx val="4"/>
            <c:bubble3D val="0"/>
            <c:spPr>
              <a:solidFill>
                <a:srgbClr val="8C9E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814-4563-8B46-822F99FCC071}"/>
              </c:ext>
            </c:extLst>
          </c:dPt>
          <c:dPt>
            <c:idx val="5"/>
            <c:bubble3D val="0"/>
            <c:spPr>
              <a:solidFill>
                <a:srgbClr val="F5DF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814-4563-8B46-822F99FCC071}"/>
              </c:ext>
            </c:extLst>
          </c:dPt>
          <c:dPt>
            <c:idx val="6"/>
            <c:bubble3D val="0"/>
            <c:spPr>
              <a:solidFill>
                <a:srgbClr val="C5DB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814-4563-8B46-822F99FCC071}"/>
              </c:ext>
            </c:extLst>
          </c:dPt>
          <c:dPt>
            <c:idx val="7"/>
            <c:bubble3D val="0"/>
            <c:spPr>
              <a:solidFill>
                <a:srgbClr val="EBF0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F814-4563-8B46-822F99FCC071}"/>
              </c:ext>
            </c:extLst>
          </c:dPt>
          <c:cat>
            <c:strRef>
              <c:f>Sheet1!$A$2:$A$9</c:f>
              <c:strCache>
                <c:ptCount val="8"/>
                <c:pt idx="0">
                  <c:v>Rent</c:v>
                </c:pt>
                <c:pt idx="1">
                  <c:v>Labour</c:v>
                </c:pt>
                <c:pt idx="2">
                  <c:v>Utilities</c:v>
                </c:pt>
                <c:pt idx="3">
                  <c:v>Equipment EMI</c:v>
                </c:pt>
                <c:pt idx="4">
                  <c:v>Marketing</c:v>
                </c:pt>
                <c:pt idx="5">
                  <c:v>Misc / contingency</c:v>
                </c:pt>
                <c:pt idx="6">
                  <c:v>Packaging</c:v>
                </c:pt>
                <c:pt idx="7">
                  <c:v>Tech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55000</c:v>
                </c:pt>
                <c:pt idx="1">
                  <c:v>94500</c:v>
                </c:pt>
                <c:pt idx="2">
                  <c:v>18150</c:v>
                </c:pt>
                <c:pt idx="3">
                  <c:v>14500</c:v>
                </c:pt>
                <c:pt idx="4">
                  <c:v>8000</c:v>
                </c:pt>
                <c:pt idx="5">
                  <c:v>5760</c:v>
                </c:pt>
                <c:pt idx="6">
                  <c:v>4200</c:v>
                </c:pt>
                <c:pt idx="7">
                  <c:v>2800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F814-4563-8B46-822F99FCC0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D3B1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2D3B1A"/>
                </a:solidFill>
                <a:latin typeface="Arial"/>
              </a:rPr>
              <a:t>Where each ₹847 order goes (AOV)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Per-Order Economics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C6E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1B8-4F18-B7D2-3929BF69BBFD}"/>
              </c:ext>
            </c:extLst>
          </c:dPt>
          <c:dPt>
            <c:idx val="1"/>
            <c:bubble3D val="0"/>
            <c:spPr>
              <a:solidFill>
                <a:srgbClr val="C892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1B8-4F18-B7D2-3929BF69BBFD}"/>
              </c:ext>
            </c:extLst>
          </c:dPt>
          <c:dPt>
            <c:idx val="2"/>
            <c:bubble3D val="0"/>
            <c:spPr>
              <a:solidFill>
                <a:srgbClr val="2D3B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1B8-4F18-B7D2-3929BF69BBFD}"/>
              </c:ext>
            </c:extLst>
          </c:dPt>
          <c:dPt>
            <c:idx val="3"/>
            <c:bubble3D val="0"/>
            <c:spPr>
              <a:solidFill>
                <a:srgbClr val="8C9E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1B8-4F18-B7D2-3929BF69BBFD}"/>
              </c:ext>
            </c:extLst>
          </c:dPt>
          <c:dPt>
            <c:idx val="4"/>
            <c:bubble3D val="0"/>
            <c:spPr>
              <a:solidFill>
                <a:srgbClr val="EBF0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1B8-4F18-B7D2-3929BF69BBF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1B8-4F18-B7D2-3929BF69BBF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1B8-4F18-B7D2-3929BF69BBFD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1B8-4F18-B7D2-3929BF69BBFD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1B8-4F18-B7D2-3929BF69BBFD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1B8-4F18-B7D2-3929BF69BBF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Contribution Margin</c:v>
                </c:pt>
                <c:pt idx="1">
                  <c:v>Ingredient COGS</c:v>
                </c:pt>
                <c:pt idx="2">
                  <c:v>Delivery Variable</c:v>
                </c:pt>
                <c:pt idx="3">
                  <c:v>Packaging</c:v>
                </c:pt>
                <c:pt idx="4">
                  <c:v>Gateway Fee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644</c:v>
                </c:pt>
                <c:pt idx="1">
                  <c:v>148</c:v>
                </c:pt>
                <c:pt idx="2">
                  <c:v>22</c:v>
                </c:pt>
                <c:pt idx="3">
                  <c:v>18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1B8-4F18-B7D2-3929BF69BB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D3B1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2D3B1A"/>
                </a:solidFill>
                <a:latin typeface="Arial"/>
              </a:rPr>
              <a:t>Gross Margin % by Pizza Type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spPr>
            <a:solidFill>
              <a:srgbClr val="5C6E3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A0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Margherita (Thin)</c:v>
                </c:pt>
                <c:pt idx="1">
                  <c:v>Farm House (Thick)</c:v>
                </c:pt>
                <c:pt idx="2">
                  <c:v>Cheese Burst (Premium)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65.7</c:v>
                </c:pt>
                <c:pt idx="1">
                  <c:v>60.9</c:v>
                </c:pt>
                <c:pt idx="2">
                  <c:v>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57-447A-B343-D19F8AF059E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A0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EC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6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D3B1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2D3B1A"/>
                </a:solidFill>
                <a:latin typeface="Arial"/>
              </a:rPr>
              <a:t>Daily Revenue: Weekday vs Weekend (₹)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Revenue (₹)</c:v>
                </c:pt>
              </c:strCache>
            </c:strRef>
          </c:tx>
          <c:spPr>
            <a:solidFill>
              <a:srgbClr val="C8922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E0E-4AFE-98C3-C8A124E3D498}"/>
              </c:ext>
            </c:extLst>
          </c:dPt>
          <c:dPt>
            <c:idx val="1"/>
            <c:invertIfNegative val="0"/>
            <c:bubble3D val="0"/>
            <c:spPr>
              <a:solidFill>
                <a:srgbClr val="2D3B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E0E-4AFE-98C3-C8A124E3D49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Weekday</c:v>
                </c:pt>
                <c:pt idx="1">
                  <c:v>Weekend / Holiday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30096</c:v>
                </c:pt>
                <c:pt idx="1">
                  <c:v>63920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E0E-4AFE-98C3-C8A124E3D4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A0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EC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6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C6E35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5C6E35"/>
                </a:solidFill>
                <a:latin typeface="Arial"/>
              </a:rPr>
              <a:t>Daily Orders: Break-Even vs Plan vs Capacity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 / Day</c:v>
                </c:pt>
              </c:strCache>
            </c:strRef>
          </c:tx>
          <c:spPr>
            <a:solidFill>
              <a:srgbClr val="C8922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7F8-4F9E-95D7-D9943F801B69}"/>
              </c:ext>
            </c:extLst>
          </c:dPt>
          <c:dPt>
            <c:idx val="1"/>
            <c:invertIfNegative val="0"/>
            <c:bubble3D val="0"/>
            <c:spPr>
              <a:solidFill>
                <a:srgbClr val="5C6E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7F8-4F9E-95D7-D9943F801B69}"/>
              </c:ext>
            </c:extLst>
          </c:dPt>
          <c:dPt>
            <c:idx val="2"/>
            <c:invertIfNegative val="0"/>
            <c:bubble3D val="0"/>
            <c:spPr>
              <a:solidFill>
                <a:srgbClr val="2D3B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7F8-4F9E-95D7-D9943F801B6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D3B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Break-Even</c:v>
                </c:pt>
                <c:pt idx="1">
                  <c:v>Plan (60% cap)</c:v>
                </c:pt>
                <c:pt idx="2">
                  <c:v>Max Capacity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</c:v>
                </c:pt>
                <c:pt idx="1">
                  <c:v>47</c:v>
                </c:pt>
                <c:pt idx="2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7F8-4F9E-95D7-D9943F801B6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A0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EC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6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F5E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7155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NfJnI0RF4q8gNfj6VryQtEuzq9XDseHJ/view?usp=sharin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822960"/>
            <a:ext cx="4572000" cy="4572000"/>
          </a:xfrm>
          <a:prstGeom prst="ellipse">
            <a:avLst/>
          </a:prstGeom>
          <a:solidFill>
            <a:srgbClr val="5C6E35">
              <a:alpha val="3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914400" y="2743200"/>
            <a:ext cx="3474720" cy="3474720"/>
          </a:xfrm>
          <a:prstGeom prst="ellipse">
            <a:avLst/>
          </a:prstGeom>
          <a:solidFill>
            <a:srgbClr val="5C6E35">
              <a:alpha val="2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863840" y="2926080"/>
            <a:ext cx="2011680" cy="2011680"/>
          </a:xfrm>
          <a:prstGeom prst="ellipse">
            <a:avLst/>
          </a:prstGeom>
          <a:solidFill>
            <a:srgbClr val="C8922A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548640"/>
            <a:ext cx="7315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SliceMatic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5D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Ordering System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474720" cy="36576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2807208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5D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+ Business Analysis - Stage 1 Submission</a:t>
            </a:r>
          </a:p>
          <a:p>
            <a:pPr marL="0" indent="0" algn="l">
              <a:buNone/>
            </a:pPr>
            <a:endParaRPr lang="en-US" sz="1400" dirty="0">
              <a:solidFill>
                <a:srgbClr val="C5DBA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400" b="1" dirty="0">
                <a:solidFill>
                  <a:srgbClr val="C5D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5D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Mouli Murakambattu 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5D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Sharma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5D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Saurabh Sekhar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5D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Sushant Kumar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5D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Shaik Mohammed Pasha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C5D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  ·  June 25, 2026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3716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0" dirty="0">
                <a:solidFill>
                  <a:srgbClr val="000000"/>
                </a:solidFill>
              </a:rPr>
              <a:t>🍕</a:t>
            </a:r>
            <a:endParaRPr lang="en-US" sz="8800" dirty="0"/>
          </a:p>
        </p:txBody>
      </p:sp>
      <p:sp>
        <p:nvSpPr>
          <p:cNvPr id="10" name="Text 8">
            <a:hlinkClick r:id="rId3" tooltip="Open Reference Model on Google Drive"/>
            <a:extLst>
              <a:ext uri="{FF2B5EF4-FFF2-40B4-BE49-F238E27FC236}">
                <a16:creationId xmlns:a16="http://schemas.microsoft.com/office/drawing/2014/main" id="{73AE881F-92F1-0D92-2AC8-1BAEF8F5426E}"/>
              </a:ext>
            </a:extLst>
          </p:cNvPr>
          <p:cNvSpPr/>
          <p:nvPr/>
        </p:nvSpPr>
        <p:spPr>
          <a:xfrm>
            <a:off x="365760" y="455371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u="sng" dirty="0">
                <a:solidFill>
                  <a:srgbClr val="F5DFA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Reference Model on Google Driv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Reference Business Economics Model (Google Drive)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D3B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1440" y="3200400"/>
            <a:ext cx="2834640" cy="2834640"/>
          </a:xfrm>
          <a:prstGeom prst="ellipse">
            <a:avLst/>
          </a:prstGeom>
          <a:solidFill>
            <a:srgbClr val="C8922A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4114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Vision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" y="4434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SliceMatic · Stage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474720" y="274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6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74720" y="694944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FA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11880" y="758952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phone ordering — error-prone, slow, and leaves no data for business decisions.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148132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6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 — Solves Two Problems at Once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74720" y="1883664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11880" y="1975104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6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🍕  Customer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11880" y="2286000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transparent, consistent ordering experience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883664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309360" y="1975104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6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Owner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2286000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consistency + order-level data to run unit economics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321868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6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Eliminates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3584448"/>
            <a:ext cx="5303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GST math and pricing errors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tied to a phone line for every order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billing and customer disputes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order data for any business decision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We're Building For — User Personas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38912" y="685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stakeholders, three distinct needs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9184" y="1005840"/>
            <a:ext cx="2697480" cy="36118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393192" y="1051560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🧑‍🍳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84632" y="1737360"/>
            <a:ext cx="2514600" cy="384048"/>
          </a:xfrm>
          <a:prstGeom prst="roundRect">
            <a:avLst>
              <a:gd name="adj" fmla="val 11905"/>
            </a:avLst>
          </a:prstGeom>
          <a:solidFill>
            <a:srgbClr val="5C6E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75564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Order-Taking Staff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" y="22128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6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2424149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/ billing person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1208" y="26060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6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2766189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orders quickly and accurately; no manual math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1208" y="30632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6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2356" y="3275214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step-by-step flow; automatic pricing, discount &amp; GST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" y="3858768"/>
            <a:ext cx="2514600" cy="621792"/>
          </a:xfrm>
          <a:prstGeom prst="roundRect">
            <a:avLst>
              <a:gd name="adj" fmla="val 7353"/>
            </a:avLst>
          </a:prstGeom>
          <a:solidFill>
            <a:srgbClr val="EBF0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30352" y="388620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more slow phone orders or pricing mistakes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1005840"/>
            <a:ext cx="2697480" cy="36118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46120" y="1051560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🍕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3337560" y="1737360"/>
            <a:ext cx="2514600" cy="384048"/>
          </a:xfrm>
          <a:prstGeom prst="roundRect">
            <a:avLst>
              <a:gd name="adj" fmla="val 11905"/>
            </a:avLst>
          </a:prstGeom>
          <a:solidFill>
            <a:srgbClr val="5C6E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355848" y="175564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74136" y="22128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6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56432" y="2359152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ordering online 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74136" y="26060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6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38144" y="2792374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transparent order with a clear, fair bill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69564" y="308498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6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29000" y="3282696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ordering, itemised bill, consistent pricing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37560" y="3858768"/>
            <a:ext cx="2514600" cy="621792"/>
          </a:xfrm>
          <a:prstGeom prst="roundRect">
            <a:avLst>
              <a:gd name="adj" fmla="val 7353"/>
            </a:avLst>
          </a:prstGeom>
          <a:solidFill>
            <a:srgbClr val="EBF0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383280" y="388620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inconsistent quotes or billing disputes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89320" y="997977"/>
            <a:ext cx="2697480" cy="36118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099048" y="1051560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6190488" y="1737360"/>
            <a:ext cx="2514600" cy="384048"/>
          </a:xfrm>
          <a:prstGeom prst="roundRect">
            <a:avLst>
              <a:gd name="adj" fmla="val 11905"/>
            </a:avLst>
          </a:prstGeom>
          <a:solidFill>
            <a:srgbClr val="5C6E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208776" y="175564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/ Admin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27064" y="22128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6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09360" y="2355861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Rajan Sharma — runs the outlet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27064" y="26060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6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09360" y="2803917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sales, margins &amp; demand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27064" y="30632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6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09360" y="3261117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record of every order for decisions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71616" y="3850087"/>
            <a:ext cx="2514600" cy="621792"/>
          </a:xfrm>
          <a:prstGeom prst="roundRect">
            <a:avLst>
              <a:gd name="adj" fmla="val 7353"/>
            </a:avLst>
          </a:prstGeom>
          <a:solidFill>
            <a:srgbClr val="EBF0D9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9" name="Text 37"/>
          <p:cNvSpPr/>
          <p:nvPr/>
        </p:nvSpPr>
        <p:spPr>
          <a:xfrm>
            <a:off x="6236208" y="388620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more operating blind on unit economics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— MVP vs PROD(Stage 3)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boundary: what we build now vs what comes next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852298"/>
              </p:ext>
            </p:extLst>
          </p:nvPr>
        </p:nvGraphicFramePr>
        <p:xfrm>
          <a:off x="411480" y="1051560"/>
          <a:ext cx="8321040" cy="36576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 (Stage 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3 (Full-Stack)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3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 / step-driven 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7A8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app (Vercel frontend + Supabase DB + Auth)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3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 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.txt files at runtime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7A8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tables — same data, served from Supabase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3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ordering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Guided form: name → phone → selections → qty → pay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7A8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Guided form + Conversational chat ordering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3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&amp; rules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— name, phone, qty, selection, payment; discount + 18% GST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7A8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rules enforced server-side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3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 to orders_log.txt (pipe-separated)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7A8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DB with IDs, transactions, backups, indexing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3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 selection + confirmation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7A8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Real/Mimic payment gateway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3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/ reporting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order log/ No real time insights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7A8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dashboard: login, order filters, revenue, CSV export/real time insights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requirement groups — precise enough to build from without ambiguity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4041648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21208" y="1289304"/>
            <a:ext cx="384048" cy="384048"/>
          </a:xfrm>
          <a:prstGeom prst="ellipse">
            <a:avLst/>
          </a:prstGeom>
          <a:solidFill>
            <a:srgbClr val="5C6E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21208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6696" y="1143000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Intake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96696" y="1463040"/>
            <a:ext cx="3346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alphabets+spaces, 2–40 chars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Phone: 10 digits, starts with 6/7/8/9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99432" y="1078992"/>
            <a:ext cx="4041648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09160" y="1289304"/>
            <a:ext cx="384048" cy="384048"/>
          </a:xfrm>
          <a:prstGeom prst="ellipse">
            <a:avLst/>
          </a:prstGeom>
          <a:solidFill>
            <a:srgbClr val="5C6E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09160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84648" y="1143000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 Loading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84648" y="1463040"/>
            <a:ext cx="3346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.txt files at startup; no hardcoded items; defensive line parsing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029968"/>
            <a:ext cx="4041648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21208" y="2240280"/>
            <a:ext cx="384048" cy="384048"/>
          </a:xfrm>
          <a:prstGeom prst="ellipse">
            <a:avLst/>
          </a:prstGeom>
          <a:solidFill>
            <a:srgbClr val="5C6E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21208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96696" y="2093976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 Selection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96696" y="2414016"/>
            <a:ext cx="3346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Base + one Pizza + one Topping; by item number only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99432" y="2029968"/>
            <a:ext cx="4041648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709160" y="2240280"/>
            <a:ext cx="384048" cy="384048"/>
          </a:xfrm>
          <a:prstGeom prst="ellipse">
            <a:avLst/>
          </a:prstGeom>
          <a:solidFill>
            <a:srgbClr val="5C6E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09160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84648" y="2093976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84648" y="2414016"/>
            <a:ext cx="3346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1–10 only; 10% discount auto-applied at qty ≥ 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2980944"/>
            <a:ext cx="4041648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21208" y="3191256"/>
            <a:ext cx="384048" cy="384048"/>
          </a:xfrm>
          <a:prstGeom prst="ellipse">
            <a:avLst/>
          </a:prstGeom>
          <a:solidFill>
            <a:srgbClr val="5C6E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21208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96696" y="3044952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Engine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96696" y="3364992"/>
            <a:ext cx="3346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price → Subtotal → Discount → GST 18% → Total payable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99432" y="2980944"/>
            <a:ext cx="4041648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709160" y="3191256"/>
            <a:ext cx="384048" cy="384048"/>
          </a:xfrm>
          <a:prstGeom prst="ellipse">
            <a:avLst/>
          </a:prstGeom>
          <a:solidFill>
            <a:srgbClr val="5C6E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0916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84648" y="3044952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Itemised Bill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84648" y="3364992"/>
            <a:ext cx="3346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table; discount + GST + final total clearly marked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11480" y="3931920"/>
            <a:ext cx="4041648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21208" y="4142232"/>
            <a:ext cx="384048" cy="384048"/>
          </a:xfrm>
          <a:prstGeom prst="ellipse">
            <a:avLst/>
          </a:prstGeom>
          <a:solidFill>
            <a:srgbClr val="5C6E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21208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96696" y="3995928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Modes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96696" y="4315968"/>
            <a:ext cx="3346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/ Card / UPI; confirmation per mode; invalid rejected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99432" y="3931920"/>
            <a:ext cx="4041648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709160" y="4142232"/>
            <a:ext cx="384048" cy="384048"/>
          </a:xfrm>
          <a:prstGeom prst="ellipse">
            <a:avLst/>
          </a:prstGeom>
          <a:solidFill>
            <a:srgbClr val="5C6E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70916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184648" y="3995928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Persistence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184648" y="4315968"/>
            <a:ext cx="3346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Pipe-separated log; all fields; one block per order; appended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7252" y="12483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Engine — FR5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3166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deterministic steps — reproducible on every order; no manual calculation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47472" y="1097280"/>
            <a:ext cx="1316736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32104" y="877030"/>
            <a:ext cx="347472" cy="347472"/>
          </a:xfrm>
          <a:prstGeom prst="ellipse">
            <a:avLst/>
          </a:prstGeom>
          <a:solidFill>
            <a:srgbClr val="2D3B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32104" y="905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1152144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Price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1481328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+ Pizza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Topping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73352" y="1499616"/>
            <a:ext cx="100584" cy="0"/>
          </a:xfrm>
          <a:prstGeom prst="line">
            <a:avLst/>
          </a:prstGeom>
          <a:noFill/>
          <a:ln w="19050">
            <a:solidFill>
              <a:srgbClr val="5C6E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773936" y="1097280"/>
            <a:ext cx="1316736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258568" y="864108"/>
            <a:ext cx="347472" cy="347472"/>
          </a:xfrm>
          <a:prstGeom prst="ellipse">
            <a:avLst/>
          </a:prstGeom>
          <a:solidFill>
            <a:srgbClr val="2D3B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258568" y="905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73936" y="1152144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Subtotal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73936" y="1481328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Price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Quantity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099816" y="1499616"/>
            <a:ext cx="100584" cy="0"/>
          </a:xfrm>
          <a:prstGeom prst="line">
            <a:avLst/>
          </a:prstGeom>
          <a:noFill/>
          <a:ln w="19050">
            <a:solidFill>
              <a:srgbClr val="5C6E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200400" y="1097280"/>
            <a:ext cx="1316736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685032" y="880953"/>
            <a:ext cx="347472" cy="347472"/>
          </a:xfrm>
          <a:prstGeom prst="ellipse">
            <a:avLst/>
          </a:prstGeom>
          <a:solidFill>
            <a:srgbClr val="2D3B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685032" y="905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0" y="1152144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0" y="1481328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if Qty ≥ 5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₹0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26280" y="1499616"/>
            <a:ext cx="100584" cy="0"/>
          </a:xfrm>
          <a:prstGeom prst="line">
            <a:avLst/>
          </a:prstGeom>
          <a:noFill/>
          <a:ln w="19050">
            <a:solidFill>
              <a:srgbClr val="5C6E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626864" y="1097280"/>
            <a:ext cx="1316736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111496" y="872887"/>
            <a:ext cx="347472" cy="347472"/>
          </a:xfrm>
          <a:prstGeom prst="ellipse">
            <a:avLst/>
          </a:prstGeom>
          <a:solidFill>
            <a:srgbClr val="2D3B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111496" y="905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26864" y="1152144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Taxable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26864" y="1481328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Discount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52744" y="1499616"/>
            <a:ext cx="100584" cy="0"/>
          </a:xfrm>
          <a:prstGeom prst="line">
            <a:avLst/>
          </a:prstGeom>
          <a:noFill/>
          <a:ln w="19050">
            <a:solidFill>
              <a:srgbClr val="5C6E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053328" y="1097280"/>
            <a:ext cx="1316736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537960" y="872887"/>
            <a:ext cx="347472" cy="347472"/>
          </a:xfrm>
          <a:prstGeom prst="ellipse">
            <a:avLst/>
          </a:prstGeom>
          <a:solidFill>
            <a:srgbClr val="2D3B1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0" name="Text 28"/>
          <p:cNvSpPr/>
          <p:nvPr/>
        </p:nvSpPr>
        <p:spPr>
          <a:xfrm>
            <a:off x="6537960" y="905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53328" y="1152144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053328" y="1481328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of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Taxable amount (Delivery)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379208" y="1499616"/>
            <a:ext cx="100584" cy="0"/>
          </a:xfrm>
          <a:prstGeom prst="line">
            <a:avLst/>
          </a:prstGeom>
          <a:noFill/>
          <a:ln w="19050">
            <a:solidFill>
              <a:srgbClr val="5C6E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479792" y="1097280"/>
            <a:ext cx="1316736" cy="804672"/>
          </a:xfrm>
          <a:prstGeom prst="roundRect">
            <a:avLst>
              <a:gd name="adj" fmla="val 9091"/>
            </a:avLst>
          </a:prstGeom>
          <a:solidFill>
            <a:srgbClr val="5C6E35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7964424" y="861855"/>
            <a:ext cx="347472" cy="347472"/>
          </a:xfrm>
          <a:prstGeom prst="ellipse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964424" y="905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79792" y="1152144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479792" y="1481328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Taxable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5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GST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47472" y="2068133"/>
            <a:ext cx="8449056" cy="2788920"/>
          </a:xfrm>
          <a:prstGeom prst="roundRect">
            <a:avLst>
              <a:gd name="adj" fmla="val 3279"/>
            </a:avLst>
          </a:prstGeom>
          <a:solidFill>
            <a:srgbClr val="2D3B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57200" y="20939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D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(Delivery mode): </a:t>
            </a:r>
            <a:endParaRPr lang="en-US" sz="14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6110718"/>
              </p:ext>
            </p:extLst>
          </p:nvPr>
        </p:nvGraphicFramePr>
        <p:xfrm>
          <a:off x="402336" y="2403413"/>
          <a:ext cx="8229600" cy="245364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(₹)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5DB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Base: Cheese Burst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8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A8C8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8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5D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229.00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8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5DB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Pizza: BBQ Chicken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A8C8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5D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379.00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5DB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Topping: Extra Cheese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8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A8C8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8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5D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8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5DB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A8C8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229 + 379 + 69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5D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677.00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5DB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Subtotal (Qty 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8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A8C8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677 ×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8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5D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3,385.00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8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5DB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A8C8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 ≥ 5  →  10% off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E87E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− 338.50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5DB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Taxable amount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8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A8C8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3,385 − 338.50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8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5D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3,046.50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8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5DB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GST @ 18%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A8C8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 × 3,046.50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5D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548.37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D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Payable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6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D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Taxable + GST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6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5D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3,594.87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6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 &amp; Edge Cases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edge cases handled gracefully — zero unhandled exceptions, ever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01168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329184" cy="329184"/>
          </a:xfrm>
          <a:prstGeom prst="ellipse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179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" y="1170432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only spaces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5448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— not a valid name; re-prompt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96312" y="1097280"/>
            <a:ext cx="201168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587752" y="1170432"/>
            <a:ext cx="329184" cy="329184"/>
          </a:xfrm>
          <a:prstGeom prst="ellipse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587752" y="1179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90088" y="1170432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starting with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06040" y="155448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— require first digit 6/7/8/9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26864" y="1097280"/>
            <a:ext cx="201168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718304" y="1170432"/>
            <a:ext cx="329184" cy="329184"/>
          </a:xfrm>
          <a:prstGeom prst="ellipse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18304" y="1179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20640" y="1170432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= 0 or 11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36592" y="155448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— require integer 1–10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57416" y="1097280"/>
            <a:ext cx="201168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848856" y="1170432"/>
            <a:ext cx="329184" cy="329184"/>
          </a:xfrm>
          <a:prstGeom prst="ellipse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848856" y="1179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51192" y="1170432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= 0 or &gt; menu length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67144" y="155448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— require in-range number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057400"/>
            <a:ext cx="201168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57200" y="2130552"/>
            <a:ext cx="329184" cy="329184"/>
          </a:xfrm>
          <a:prstGeom prst="ellipse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7200" y="2139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9536" y="2130552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as item number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" y="251460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if out of range — invalid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496312" y="2057400"/>
            <a:ext cx="201168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2587752" y="2130552"/>
            <a:ext cx="329184" cy="329184"/>
          </a:xfrm>
          <a:prstGeom prst="ellipse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587752" y="2139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990088" y="2130552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input at any step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606040" y="251460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— re-prompt with guidance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26864" y="2057400"/>
            <a:ext cx="201168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718304" y="2130552"/>
            <a:ext cx="329184" cy="329184"/>
          </a:xfrm>
          <a:prstGeom prst="ellipse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718304" y="2139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20640" y="2130552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Non-integer qty (e.g. 2.5)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36592" y="251460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— require strict integer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757416" y="2057400"/>
            <a:ext cx="201168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848856" y="2130552"/>
            <a:ext cx="329184" cy="329184"/>
          </a:xfrm>
          <a:prstGeom prst="ellipse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848856" y="2139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251192" y="2130552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price in file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67144" y="251460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line defensively — no crash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5760" y="4206240"/>
            <a:ext cx="8412480" cy="685800"/>
          </a:xfrm>
          <a:prstGeom prst="roundRect">
            <a:avLst>
              <a:gd name="adj" fmla="val 9333"/>
            </a:avLst>
          </a:prstGeom>
          <a:solidFill>
            <a:srgbClr val="EBF0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48640" y="42702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parsing  </a:t>
            </a:r>
            <a:r>
              <a:rPr lang="en-US" sz="1100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whitespace · Validate numeric price · Skip malformed lines      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exit  </a:t>
            </a:r>
            <a:r>
              <a:rPr lang="en-US" sz="1100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file = clear error + exit — never a stack trace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Flow — Ordering Journey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launch to confirmed order — every step loops back on invalid input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4232" y="1389888"/>
            <a:ext cx="1261872" cy="841248"/>
          </a:xfrm>
          <a:prstGeom prst="roundRect">
            <a:avLst>
              <a:gd name="adj" fmla="val 10870"/>
            </a:avLst>
          </a:prstGeom>
          <a:solidFill>
            <a:srgbClr val="2D3B1A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4232" y="144475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Files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4232" y="184708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file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5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graceful exit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374392" y="1810512"/>
            <a:ext cx="219456" cy="0"/>
          </a:xfrm>
          <a:prstGeom prst="line">
            <a:avLst/>
          </a:prstGeom>
          <a:noFill/>
          <a:ln w="19050">
            <a:solidFill>
              <a:srgbClr val="5C6E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25168" y="2231136"/>
            <a:ext cx="0" cy="256032"/>
          </a:xfrm>
          <a:prstGeom prst="line">
            <a:avLst/>
          </a:prstGeom>
          <a:noFill/>
          <a:ln w="12700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92024" y="2487168"/>
            <a:ext cx="1481328" cy="457200"/>
          </a:xfrm>
          <a:prstGeom prst="roundRect">
            <a:avLst>
              <a:gd name="adj" fmla="val 10000"/>
            </a:avLst>
          </a:prstGeom>
          <a:solidFill>
            <a:srgbClr val="FA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1080" y="2514600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B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→ Re-prompt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612136" y="1389888"/>
            <a:ext cx="126187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612136" y="144475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12136" y="184708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Phone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892296" y="1810512"/>
            <a:ext cx="219456" cy="0"/>
          </a:xfrm>
          <a:prstGeom prst="line">
            <a:avLst/>
          </a:prstGeom>
          <a:noFill/>
          <a:ln w="19050">
            <a:solidFill>
              <a:srgbClr val="5C6E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43072" y="2231136"/>
            <a:ext cx="0" cy="256032"/>
          </a:xfrm>
          <a:prstGeom prst="line">
            <a:avLst/>
          </a:prstGeom>
          <a:noFill/>
          <a:ln w="12700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574785" y="2488480"/>
            <a:ext cx="1481328" cy="457200"/>
          </a:xfrm>
          <a:prstGeom prst="roundRect">
            <a:avLst>
              <a:gd name="adj" fmla="val 10000"/>
            </a:avLst>
          </a:prstGeom>
          <a:solidFill>
            <a:srgbClr val="FA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538984" y="2514600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B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→ Re-prompt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30040" y="1389888"/>
            <a:ext cx="126187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130040" y="144475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30040" y="184708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→ Pizza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Topping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410200" y="1810512"/>
            <a:ext cx="219456" cy="0"/>
          </a:xfrm>
          <a:prstGeom prst="line">
            <a:avLst/>
          </a:prstGeom>
          <a:noFill/>
          <a:ln w="19050">
            <a:solidFill>
              <a:srgbClr val="5C6E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760976" y="2231136"/>
            <a:ext cx="0" cy="256032"/>
          </a:xfrm>
          <a:prstGeom prst="line">
            <a:avLst/>
          </a:prstGeom>
          <a:noFill/>
          <a:ln w="12700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020312" y="2487168"/>
            <a:ext cx="1481328" cy="457200"/>
          </a:xfrm>
          <a:prstGeom prst="roundRect">
            <a:avLst>
              <a:gd name="adj" fmla="val 10000"/>
            </a:avLst>
          </a:prstGeom>
          <a:solidFill>
            <a:srgbClr val="FA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056888" y="2514600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B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→ Re-prompt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47944" y="1389888"/>
            <a:ext cx="126187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647944" y="144475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47944" y="184708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qty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bill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28104" y="1810512"/>
            <a:ext cx="219456" cy="0"/>
          </a:xfrm>
          <a:prstGeom prst="line">
            <a:avLst/>
          </a:prstGeom>
          <a:noFill/>
          <a:ln w="19050">
            <a:solidFill>
              <a:srgbClr val="5C6E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278880" y="2231136"/>
            <a:ext cx="0" cy="256032"/>
          </a:xfrm>
          <a:prstGeom prst="line">
            <a:avLst/>
          </a:prstGeom>
          <a:noFill/>
          <a:ln w="12700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538216" y="2487168"/>
            <a:ext cx="1481328" cy="457200"/>
          </a:xfrm>
          <a:prstGeom prst="roundRect">
            <a:avLst>
              <a:gd name="adj" fmla="val 10000"/>
            </a:avLst>
          </a:prstGeom>
          <a:solidFill>
            <a:srgbClr val="FA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574792" y="2514600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B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→ Re-prompt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65848" y="1389888"/>
            <a:ext cx="126187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165848" y="144475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65848" y="184708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/ Card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UPI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446008" y="1810512"/>
            <a:ext cx="219456" cy="0"/>
          </a:xfrm>
          <a:prstGeom prst="line">
            <a:avLst/>
          </a:prstGeom>
          <a:noFill/>
          <a:ln w="19050">
            <a:solidFill>
              <a:srgbClr val="5C6E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796784" y="2231136"/>
            <a:ext cx="0" cy="256032"/>
          </a:xfrm>
          <a:prstGeom prst="line">
            <a:avLst/>
          </a:prstGeom>
          <a:noFill/>
          <a:ln w="12700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056120" y="2487168"/>
            <a:ext cx="1481328" cy="457200"/>
          </a:xfrm>
          <a:prstGeom prst="roundRect">
            <a:avLst>
              <a:gd name="adj" fmla="val 10000"/>
            </a:avLst>
          </a:prstGeom>
          <a:solidFill>
            <a:srgbClr val="FA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092696" y="2514600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B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→ Re-prompt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683752" y="1389888"/>
            <a:ext cx="1261872" cy="841248"/>
          </a:xfrm>
          <a:prstGeom prst="roundRect">
            <a:avLst>
              <a:gd name="adj" fmla="val 10870"/>
            </a:avLst>
          </a:prstGeom>
          <a:solidFill>
            <a:srgbClr val="2D3B1A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7683752" y="144475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683752" y="184708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log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5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confirmed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8314688" y="2231136"/>
            <a:ext cx="0" cy="256032"/>
          </a:xfrm>
          <a:prstGeom prst="line">
            <a:avLst/>
          </a:prstGeom>
          <a:noFill/>
          <a:ln w="12700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7574024" y="2487168"/>
            <a:ext cx="1481328" cy="457200"/>
          </a:xfrm>
          <a:prstGeom prst="roundRect">
            <a:avLst>
              <a:gd name="adj" fmla="val 10000"/>
            </a:avLst>
          </a:prstGeom>
          <a:solidFill>
            <a:srgbClr val="FA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610600" y="2514600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B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→ Re-prompt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node loops back on invalid input — the system never crashes under any user input.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Drawbacks &amp; Risk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 of MVP limitations — and what Stage 3 resolves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1658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6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Architectural Limitations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39776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Flat-file storage doesn't scale past ~1,000 orders (no indexing, no concurrency control)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Single-session: simultaneous writes can interleave and corrupt the log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menu version tracking in the log — past orders can't tie back to a price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true cart — one Base + Pizza + Topping × qty per order only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Card/UPI: mode selection and confirmation only — no live payment gateway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0" y="9601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6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Register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435109"/>
              </p:ext>
            </p:extLst>
          </p:nvPr>
        </p:nvGraphicFramePr>
        <p:xfrm>
          <a:off x="4572000" y="1325880"/>
          <a:ext cx="4206240" cy="2407920"/>
        </p:xfrm>
        <a:graphic>
          <a:graphicData uri="http://schemas.openxmlformats.org/drawingml/2006/table">
            <a:tbl>
              <a:tblPr/>
              <a:tblGrid>
                <a:gridCol w="384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3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corruption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A8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Append-only single-session design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3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Malformed menu 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A8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Defensive parsing → graceful exit </a:t>
                      </a:r>
                      <a:r>
                        <a:rPr lang="en-US" sz="1000" dirty="0">
                          <a:solidFill>
                            <a:srgbClr val="7A8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sym typeface="Wingdings" panose="05000000000000000000" pitchFamily="2" charset="2"/>
                        </a:rPr>
                        <a:t> fallback to previous menu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3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error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A8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engine + worked-example 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3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PII in plaintext not encrypted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A8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Acknowledged → Stage 3 auth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3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loss, no backup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A8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Interim file backup; DB in Stage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51460" y="3876018"/>
            <a:ext cx="8389620" cy="1225296"/>
          </a:xfrm>
          <a:prstGeom prst="roundRect">
            <a:avLst>
              <a:gd name="adj" fmla="val 6452"/>
            </a:avLst>
          </a:prstGeom>
          <a:solidFill>
            <a:srgbClr val="2D3B1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6"/>
          <p:cNvSpPr/>
          <p:nvPr/>
        </p:nvSpPr>
        <p:spPr>
          <a:xfrm>
            <a:off x="594360" y="387601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D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3 Resolves All Architectural Risks</a:t>
            </a:r>
            <a:endParaRPr lang="en-US" sz="1300" dirty="0"/>
          </a:p>
        </p:txBody>
      </p:sp>
      <p:sp>
        <p:nvSpPr>
          <p:cNvPr id="7" name="Text 7"/>
          <p:cNvSpPr/>
          <p:nvPr/>
        </p:nvSpPr>
        <p:spPr>
          <a:xfrm>
            <a:off x="502920" y="4139184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D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(Supabase)  </a:t>
            </a:r>
            <a:r>
              <a:rPr lang="en-US" sz="1100" dirty="0">
                <a:solidFill>
                  <a:srgbClr val="C5D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Indexed, concurrent-write-safe, queryable      </a:t>
            </a:r>
            <a:r>
              <a:rPr lang="en-US" sz="1100" b="1" dirty="0">
                <a:solidFill>
                  <a:srgbClr val="C5D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 </a:t>
            </a:r>
            <a:r>
              <a:rPr lang="en-US" sz="1100" dirty="0">
                <a:solidFill>
                  <a:srgbClr val="C5D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PII protected, authenticated dashboard      </a:t>
            </a:r>
            <a:r>
              <a:rPr lang="en-US" sz="1100" b="1" dirty="0">
                <a:solidFill>
                  <a:srgbClr val="C5D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backups  </a:t>
            </a:r>
            <a:r>
              <a:rPr lang="en-US" sz="1100" dirty="0">
                <a:solidFill>
                  <a:srgbClr val="C5D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single point of data loss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vs Value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~21–28 hours of build effort produces capabilities the business currently has none 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6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Effort — MVP (Stage 2)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3931920" cy="338328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Item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 file loader + defensive parsing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validation (name, phone, qty, etc.)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engine (discount + GST + rounding)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 rendering (structured table)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flow + confirmations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persistence (parseable log)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Edge-case hardening + testing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assembly / step-driven 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D3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D3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~21–28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617720" y="9601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6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Delivered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617720" y="1325880"/>
            <a:ext cx="416052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754880" y="1389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Operational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54880" y="16733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manual billing errors; frees counter staff from phone ordering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203704"/>
            <a:ext cx="416052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8"/>
          <p:cNvSpPr/>
          <p:nvPr/>
        </p:nvSpPr>
        <p:spPr>
          <a:xfrm>
            <a:off x="4754880" y="22677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754880" y="25511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captured → enables AOV, peak-hour, break-even tracking from Day 1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617720" y="3081528"/>
            <a:ext cx="416052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754880" y="31455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🍕  Customer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754880" y="34290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ordering, transparent itemised bill, consistent discount application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617720" y="3959352"/>
            <a:ext cx="416052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754880" y="40233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Strategic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754880" y="43068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log is the foundation for Stage 3 dashboard and AI recommendation features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Unit Economics — Key Numbers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at 60% capacity (47 orders/day) · All figures ex-GST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2011680" cy="987552"/>
          </a:xfrm>
          <a:prstGeom prst="roundRect">
            <a:avLst>
              <a:gd name="adj" fmla="val 9259"/>
            </a:avLst>
          </a:prstGeom>
          <a:solidFill>
            <a:srgbClr val="2D3B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D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₹847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5727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8105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₹792 · Weekend ₹940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96312" y="1024128"/>
            <a:ext cx="2011680" cy="987552"/>
          </a:xfrm>
          <a:prstGeom prst="roundRect">
            <a:avLst>
              <a:gd name="adj" fmla="val 9259"/>
            </a:avLst>
          </a:prstGeom>
          <a:solidFill>
            <a:srgbClr val="2D3B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496312" y="10972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D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₹9.96L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96312" y="15727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96312" y="18105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60% capacity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26864" y="1024128"/>
            <a:ext cx="2011680" cy="987552"/>
          </a:xfrm>
          <a:prstGeom prst="roundRect">
            <a:avLst>
              <a:gd name="adj" fmla="val 9259"/>
            </a:avLst>
          </a:prstGeom>
          <a:solidFill>
            <a:srgbClr val="2D3B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626864" y="10972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D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26864" y="15727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Margin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26864" y="18105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₹644 per order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757416" y="1024128"/>
            <a:ext cx="2011680" cy="987552"/>
          </a:xfrm>
          <a:prstGeom prst="roundRect">
            <a:avLst>
              <a:gd name="adj" fmla="val 9259"/>
            </a:avLst>
          </a:prstGeom>
          <a:solidFill>
            <a:srgbClr val="2D3B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757416" y="10972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D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58.9%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757416" y="15727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Margin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57416" y="18105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₹7.0L/mo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5760" y="22128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6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COGS per Pizza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78608"/>
          <a:ext cx="4114800" cy="21031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Pizza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 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Margherita (Thin)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 House (Thick)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Cheese Burst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3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 Average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4709160" y="221284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6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Fixed Costs  ₹2,02,910</a:t>
            </a:r>
            <a:endParaRPr lang="en-US" sz="13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2578608"/>
          <a:ext cx="4069080" cy="243230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Labour (all staff + 2 riders)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₹94,500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Kitchen Rent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 EMI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₹14,500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Utilities (electricity + gas)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₹18,150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+ Tech + Misc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₹20,760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D3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D3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₹2,02,910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D3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Economics — Cost &amp; Order Breakdown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monthly fixed cost composition and per-order profit/cost split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97280"/>
          <a:ext cx="39319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754880" y="1097280"/>
          <a:ext cx="39319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Economics — Margins &amp; Revenue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gross margins by pizza type and weekday vs weekend revenue potential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97280"/>
          <a:ext cx="39319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754880" y="1097280"/>
          <a:ext cx="39319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Break-Even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costs ÷ contribution margin — and the safety margin we operate with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5661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06070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Costs / Month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487168" y="1060704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₹2,02,910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35661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56362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Margin / Order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487168" y="1563624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₹644  (76%)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35661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" y="206654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Orders / Month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487168" y="2066544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315 orders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3566160" cy="420624"/>
          </a:xfrm>
          <a:prstGeom prst="roundRect">
            <a:avLst>
              <a:gd name="adj" fmla="val 13043"/>
            </a:avLst>
          </a:prstGeom>
          <a:solidFill>
            <a:srgbClr val="2D3B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256946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Orders / Day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487168" y="2569464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orders/day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35661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02920" y="307238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— 60% Capacity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487168" y="3072384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orders/day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520440"/>
            <a:ext cx="3566160" cy="420624"/>
          </a:xfrm>
          <a:prstGeom prst="roundRect">
            <a:avLst>
              <a:gd name="adj" fmla="val 13043"/>
            </a:avLst>
          </a:prstGeom>
          <a:solidFill>
            <a:srgbClr val="2D3B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02920" y="357530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Margin at Plan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487168" y="3575304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4.3× break-even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023360"/>
            <a:ext cx="35661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02920" y="407822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487168" y="4078224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 months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645152"/>
            <a:ext cx="3566160" cy="292608"/>
          </a:xfrm>
          <a:prstGeom prst="roundRect">
            <a:avLst>
              <a:gd name="adj" fmla="val 15625"/>
            </a:avLst>
          </a:prstGeom>
          <a:solidFill>
            <a:srgbClr val="EBF0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5488" y="46634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is a pass-through — customer pays, SliceMatic remits. P&amp;L always ex-GST.</a:t>
            </a:r>
            <a:endParaRPr lang="en-US" sz="85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4114800" y="960120"/>
          <a:ext cx="46634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These Numbers — Stress Tests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4346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scenarios stress-tested with reproducible calculations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662135"/>
            <a:ext cx="4160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11480" y="753575"/>
            <a:ext cx="420624" cy="402336"/>
          </a:xfrm>
          <a:prstGeom prst="roundRect">
            <a:avLst>
              <a:gd name="adj" fmla="val 11364"/>
            </a:avLst>
          </a:prstGeom>
          <a:solidFill>
            <a:srgbClr val="5C6E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762719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753575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 → ₹70,000/mo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1137623"/>
            <a:ext cx="3447288" cy="237744"/>
          </a:xfrm>
          <a:prstGeom prst="roundRect">
            <a:avLst>
              <a:gd name="adj" fmla="val 15385"/>
            </a:avLst>
          </a:prstGeom>
          <a:solidFill>
            <a:srgbClr val="EBF0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41832" y="1155911"/>
            <a:ext cx="3392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Break-even: 12/day (+1 only)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768" y="1448519"/>
            <a:ext cx="3941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Robust. Model only turns unviable at rent ~₹7.6L (13× current). Demand volume is the binding risk — not rent.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662135"/>
            <a:ext cx="4160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54880" y="753575"/>
            <a:ext cx="420624" cy="402336"/>
          </a:xfrm>
          <a:prstGeom prst="roundRect">
            <a:avLst>
              <a:gd name="adj" fmla="val 11364"/>
            </a:avLst>
          </a:prstGeom>
          <a:solidFill>
            <a:srgbClr val="5C6E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54880" y="762719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57800" y="753575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 orders via Aggregator (25% comm.)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57800" y="1137623"/>
            <a:ext cx="3447288" cy="237744"/>
          </a:xfrm>
          <a:prstGeom prst="roundRect">
            <a:avLst>
              <a:gd name="adj" fmla="val 15385"/>
            </a:avLst>
          </a:prstGeom>
          <a:solidFill>
            <a:srgbClr val="EBF0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285232" y="1155911"/>
            <a:ext cx="3392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Blended CM ₹574; B/E: 12/day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73168" y="1448519"/>
            <a:ext cx="3941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Viable channel — but every direct order is worth ₹175 more. Core case for the own-app.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198327"/>
            <a:ext cx="4160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1480" y="2289767"/>
            <a:ext cx="420624" cy="402336"/>
          </a:xfrm>
          <a:prstGeom prst="roundRect">
            <a:avLst>
              <a:gd name="adj" fmla="val 11364"/>
            </a:avLst>
          </a:prstGeom>
          <a:solidFill>
            <a:srgbClr val="5C6E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11480" y="2298911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2289767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hire 3rd Rider?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400" y="2673815"/>
            <a:ext cx="3447288" cy="237744"/>
          </a:xfrm>
          <a:prstGeom prst="roundRect">
            <a:avLst>
              <a:gd name="adj" fmla="val 15385"/>
            </a:avLst>
          </a:prstGeom>
          <a:solidFill>
            <a:srgbClr val="EBF0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41832" y="2692103"/>
            <a:ext cx="3392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Trigger at 55–60 orders/day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29768" y="2984711"/>
            <a:ext cx="3941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Financially trivial (25 extra orders pays ₹16k/mo cost). Real trigger: SLA breaks before finances do.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198327"/>
            <a:ext cx="4160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54880" y="2289767"/>
            <a:ext cx="420624" cy="402336"/>
          </a:xfrm>
          <a:prstGeom prst="roundRect">
            <a:avLst>
              <a:gd name="adj" fmla="val 11364"/>
            </a:avLst>
          </a:prstGeom>
          <a:solidFill>
            <a:srgbClr val="5C6E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754880" y="2298911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7800" y="2289767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 Discount at Qty ≥ 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257800" y="2673815"/>
            <a:ext cx="3447288" cy="237744"/>
          </a:xfrm>
          <a:prstGeom prst="roundRect">
            <a:avLst>
              <a:gd name="adj" fmla="val 15385"/>
            </a:avLst>
          </a:prstGeom>
          <a:solidFill>
            <a:srgbClr val="EBF0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285232" y="2692103"/>
            <a:ext cx="3392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Driver or leak — depends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73168" y="2984711"/>
            <a:ext cx="3941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+₹134 CM if it converts 4→5 pizzas. −₹331 if buyer orders 5+ anyway. Threshold configurable.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3734519"/>
            <a:ext cx="4160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11480" y="3825959"/>
            <a:ext cx="420624" cy="402336"/>
          </a:xfrm>
          <a:prstGeom prst="roundRect">
            <a:avLst>
              <a:gd name="adj" fmla="val 11364"/>
            </a:avLst>
          </a:prstGeom>
          <a:solidFill>
            <a:srgbClr val="5C6E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11480" y="3835103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4400" y="3825959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COGS Inflation +12%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14400" y="4210007"/>
            <a:ext cx="3447288" cy="237744"/>
          </a:xfrm>
          <a:prstGeom prst="roundRect">
            <a:avLst>
              <a:gd name="adj" fmla="val 15385"/>
            </a:avLst>
          </a:prstGeom>
          <a:solidFill>
            <a:srgbClr val="EBF0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941832" y="4228295"/>
            <a:ext cx="3392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CM drops to ₹626/order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29768" y="4520903"/>
            <a:ext cx="3941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~1.3 extra orders/day needed to hold EBITDA. Low severity — high absorbability.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3734519"/>
            <a:ext cx="4160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754880" y="3825959"/>
            <a:ext cx="420624" cy="402336"/>
          </a:xfrm>
          <a:prstGeom prst="roundRect">
            <a:avLst>
              <a:gd name="adj" fmla="val 11364"/>
            </a:avLst>
          </a:prstGeom>
          <a:solidFill>
            <a:srgbClr val="5C6E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754880" y="3835103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57800" y="3825959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3 BI Metrics from Order Log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257800" y="4210007"/>
            <a:ext cx="3447288" cy="237744"/>
          </a:xfrm>
          <a:prstGeom prst="roundRect">
            <a:avLst>
              <a:gd name="adj" fmla="val 15385"/>
            </a:avLst>
          </a:prstGeom>
          <a:solidFill>
            <a:srgbClr val="EBF0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5285232" y="4228295"/>
            <a:ext cx="3392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Feeds all Stage 3 features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773168" y="4520903"/>
            <a:ext cx="3941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AOV + topping attach rate  (2) Demand heatmap by hour × day  (3) Item-level CM ranking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 &amp; Success Metrics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business and operational targets for the SliceMatic system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40233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21208" y="1444752"/>
            <a:ext cx="402336" cy="402336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1453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" y="12161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Accurate Billing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33272" y="1545336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correct bills; automatic discount (qty ≥ 5) &amp; 18% GST; zero manual calculation errors.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40233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18888" y="1444752"/>
            <a:ext cx="402336" cy="402336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11" name="Text 9"/>
          <p:cNvSpPr/>
          <p:nvPr/>
        </p:nvSpPr>
        <p:spPr>
          <a:xfrm>
            <a:off x="4818888" y="1453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30952" y="12161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Reliability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30952" y="1545336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unhandled crashes; complete coverage for all 8 edge cases and swapped menu files.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313432"/>
            <a:ext cx="40233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1208" y="2615184"/>
            <a:ext cx="402336" cy="402336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" y="2624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33272" y="23865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Persistence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33272" y="271576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completed orders written to the log in a parseable, consistent format.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313432"/>
            <a:ext cx="40233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18888" y="2615184"/>
            <a:ext cx="402336" cy="402336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21" name="Text 19"/>
          <p:cNvSpPr/>
          <p:nvPr/>
        </p:nvSpPr>
        <p:spPr>
          <a:xfrm>
            <a:off x="4818888" y="2624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30952" y="23865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Configuration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30952" y="271576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code changes for menu updates; swap/edit menu files at runtime with instant loading.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3483864"/>
            <a:ext cx="40233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21208" y="3785616"/>
            <a:ext cx="402336" cy="402336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26" name="Text 24"/>
          <p:cNvSpPr/>
          <p:nvPr/>
        </p:nvSpPr>
        <p:spPr>
          <a:xfrm>
            <a:off x="521208" y="3794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33272" y="35570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Speed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33272" y="388620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completion under 2 mins; recovers staff time from manual phone billing.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3483864"/>
            <a:ext cx="40233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18888" y="3785616"/>
            <a:ext cx="402336" cy="402336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31" name="Text 29"/>
          <p:cNvSpPr/>
          <p:nvPr/>
        </p:nvSpPr>
        <p:spPr>
          <a:xfrm>
            <a:off x="4818888" y="3794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30952" y="35570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Enablement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30952" y="388620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visibility: AOV, peaks, margins, and break-even easily derived from order logs.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8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Stage 3 targets include 80%+ digital adoption and natural-language extraction via conversational AI (OpenRouter).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3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548640"/>
            <a:ext cx="2926080" cy="2926080"/>
          </a:xfrm>
          <a:prstGeom prst="ellipse">
            <a:avLst/>
          </a:prstGeom>
          <a:solidFill>
            <a:srgbClr val="5C6E35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548640" y="3017520"/>
            <a:ext cx="2560320" cy="2560320"/>
          </a:xfrm>
          <a:prstGeom prst="ellipse">
            <a:avLst/>
          </a:prstGeom>
          <a:solidFill>
            <a:srgbClr val="C8922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Roadmap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58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builds on the order data captured from Phase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2057400" cy="3291840"/>
          </a:xfrm>
          <a:prstGeom prst="roundRect">
            <a:avLst>
              <a:gd name="adj" fmla="val 4444"/>
            </a:avLst>
          </a:prstGeom>
          <a:solidFill>
            <a:srgbClr val="5C6E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74420" y="1353312"/>
            <a:ext cx="548640" cy="548640"/>
          </a:xfrm>
          <a:prstGeom prst="ellipse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74420" y="1362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199339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D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 MVP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34086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File-Based Ordering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62940" y="2679192"/>
            <a:ext cx="1371600" cy="219456"/>
          </a:xfrm>
          <a:prstGeom prst="roundRect">
            <a:avLst>
              <a:gd name="adj" fmla="val 16667"/>
            </a:avLst>
          </a:prstGeom>
          <a:solidFill>
            <a:srgbClr val="C892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62940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  ✅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9768" y="2999232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D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CLI step-driven flow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29768" y="3282696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D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Full input validation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9768" y="3566160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D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Pricing engine + discount + GST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29768" y="3849624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D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Parseable orders_log.txt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29768" y="4133088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D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All 8 edge cases hardened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468880" y="1261872"/>
            <a:ext cx="2057400" cy="3291840"/>
          </a:xfrm>
          <a:prstGeom prst="roundRect">
            <a:avLst>
              <a:gd name="adj" fmla="val 4444"/>
            </a:avLst>
          </a:prstGeom>
          <a:solidFill>
            <a:srgbClr val="374E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223260" y="1353312"/>
            <a:ext cx="548640" cy="548640"/>
          </a:xfrm>
          <a:prstGeom prst="ellipse">
            <a:avLst/>
          </a:prstGeom>
          <a:solidFill>
            <a:srgbClr val="5C6E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223260" y="1362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560320" y="199339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3 — Web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0320" y="234086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Production App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811780" y="2679192"/>
            <a:ext cx="1371600" cy="219456"/>
          </a:xfrm>
          <a:prstGeom prst="roundRect">
            <a:avLst>
              <a:gd name="adj" fmla="val 16667"/>
            </a:avLst>
          </a:prstGeom>
          <a:solidFill>
            <a:srgbClr val="4A60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811780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578608" y="2999232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D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Next.js / React on Vercel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78608" y="3282696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D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Supabase PostgreSQL + Auth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78608" y="3566160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D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Admin dashboard + filters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78608" y="3849624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D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Revenue summary + metrics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578608" y="4133088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D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CSV export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17720" y="1261872"/>
            <a:ext cx="2057400" cy="3291840"/>
          </a:xfrm>
          <a:prstGeom prst="roundRect">
            <a:avLst>
              <a:gd name="adj" fmla="val 4444"/>
            </a:avLst>
          </a:prstGeom>
          <a:solidFill>
            <a:srgbClr val="374E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5372100" y="1353312"/>
            <a:ext cx="548640" cy="548640"/>
          </a:xfrm>
          <a:prstGeom prst="ellipse">
            <a:avLst/>
          </a:prstGeom>
          <a:solidFill>
            <a:srgbClr val="5C6E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372100" y="1362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709160" y="199339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3 — AI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09160" y="234086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Ordering and Demand Forecasting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960620" y="2679192"/>
            <a:ext cx="1371600" cy="219456"/>
          </a:xfrm>
          <a:prstGeom prst="roundRect">
            <a:avLst>
              <a:gd name="adj" fmla="val 16667"/>
            </a:avLst>
          </a:prstGeom>
          <a:solidFill>
            <a:srgbClr val="4A60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960620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27448" y="2999232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D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LLM via OpenRouter (Option B)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27448" y="3282696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D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Natural-language ordering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27448" y="3566160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D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Menu-grounded extraction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27448" y="3849624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D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Deterministic pricing kept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27448" y="4133088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D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Graceful fallback to form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766560" y="1261872"/>
            <a:ext cx="2057400" cy="3291840"/>
          </a:xfrm>
          <a:prstGeom prst="roundRect">
            <a:avLst>
              <a:gd name="adj" fmla="val 4444"/>
            </a:avLst>
          </a:prstGeom>
          <a:solidFill>
            <a:srgbClr val="374E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7520940" y="1353312"/>
            <a:ext cx="548640" cy="548640"/>
          </a:xfrm>
          <a:prstGeom prst="ellipse">
            <a:avLst/>
          </a:prstGeom>
          <a:solidFill>
            <a:srgbClr val="5C6E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520940" y="1362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58000" y="199339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858000" y="234086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&amp; Intelligence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109460" y="2679192"/>
            <a:ext cx="1371600" cy="219456"/>
          </a:xfrm>
          <a:prstGeom prst="roundRect">
            <a:avLst>
              <a:gd name="adj" fmla="val 16667"/>
            </a:avLst>
          </a:prstGeom>
          <a:solidFill>
            <a:srgbClr val="4A60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7109460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876288" y="2999232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D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Aggregator integration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876288" y="3282696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D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Loyalty / coupon codes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876288" y="3566160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D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Demand forecasting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876288" y="3849624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D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AI recommendations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876288" y="4133088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D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Multi-outlet support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CD4153C-71E6-ADF4-C6A7-D0FAB8AE392D}"/>
              </a:ext>
            </a:extLst>
          </p:cNvPr>
          <p:cNvSpPr/>
          <p:nvPr/>
        </p:nvSpPr>
        <p:spPr>
          <a:xfrm>
            <a:off x="515565" y="282265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</a:rPr>
              <a:t>Out of Scope</a:t>
            </a:r>
            <a:endParaRPr lang="en-US" sz="26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32D2ED33-2B25-9518-6D61-2195D66A7DD1}"/>
              </a:ext>
            </a:extLst>
          </p:cNvPr>
          <p:cNvSpPr/>
          <p:nvPr/>
        </p:nvSpPr>
        <p:spPr>
          <a:xfrm>
            <a:off x="515565" y="1531945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AutoNum type="arabicPeriod"/>
            </a:pPr>
            <a:r>
              <a:rPr lang="en-IN" dirty="0"/>
              <a:t>Aggregator (Zomato/Swiggy) integration </a:t>
            </a:r>
          </a:p>
          <a:p>
            <a:pPr marL="228600" indent="-228600">
              <a:buAutoNum type="arabicPeriod"/>
            </a:pPr>
            <a:r>
              <a:rPr lang="en-IN" dirty="0"/>
              <a:t>Loyalty/coupon codes beyond the qty discount </a:t>
            </a:r>
          </a:p>
          <a:p>
            <a:pPr marL="228600" indent="-228600">
              <a:buAutoNum type="arabicPeriod"/>
            </a:pPr>
            <a:r>
              <a:rPr lang="en-IN" dirty="0"/>
              <a:t>Multi-outlet support </a:t>
            </a:r>
          </a:p>
          <a:p>
            <a:pPr marL="228600" indent="-228600">
              <a:buAutoNum type="arabicPeriod"/>
            </a:pPr>
            <a:r>
              <a:rPr lang="en-IN" dirty="0"/>
              <a:t>Live order tracking</a:t>
            </a:r>
          </a:p>
          <a:p>
            <a:pPr marL="228600" indent="-228600">
              <a:buAutoNum type="arabicPeriod"/>
            </a:pPr>
            <a:r>
              <a:rPr lang="en-IN" dirty="0"/>
              <a:t>Inventory management</a:t>
            </a:r>
          </a:p>
          <a:p>
            <a:pPr marL="228600" indent="-228600">
              <a:buAutoNum type="arabicPeriod"/>
            </a:pPr>
            <a:r>
              <a:rPr lang="en-IN" dirty="0"/>
              <a:t>Refunds/cancellations</a:t>
            </a:r>
          </a:p>
          <a:p>
            <a:pPr marL="228600" indent="-228600">
              <a:buAutoNum type="arabicPeriod"/>
            </a:pPr>
            <a:r>
              <a:rPr lang="en-IN" dirty="0"/>
              <a:t>SMS/email notifications</a:t>
            </a:r>
            <a:endParaRPr lang="en-US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9FCA0724-6227-2B66-A21C-109FC912CE7D}"/>
              </a:ext>
            </a:extLst>
          </p:cNvPr>
          <p:cNvSpPr/>
          <p:nvPr/>
        </p:nvSpPr>
        <p:spPr>
          <a:xfrm>
            <a:off x="457200" y="12681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6185DE36-13F3-27E4-D2F5-53E445A49FA6}"/>
              </a:ext>
            </a:extLst>
          </p:cNvPr>
          <p:cNvSpPr/>
          <p:nvPr/>
        </p:nvSpPr>
        <p:spPr>
          <a:xfrm>
            <a:off x="457200" y="1257625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9346578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C0CFA7D-1D2D-1DDC-01CD-B5497A3209A8}"/>
              </a:ext>
            </a:extLst>
          </p:cNvPr>
          <p:cNvSpPr/>
          <p:nvPr/>
        </p:nvSpPr>
        <p:spPr>
          <a:xfrm>
            <a:off x="839821" y="2240767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3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			Thank You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735933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2191</Words>
  <Application>Microsoft Office PowerPoint</Application>
  <PresentationFormat>On-screen Show (16:9)</PresentationFormat>
  <Paragraphs>492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SliceMatic Digital Ordering System — PRD &amp; Business Analysis</dc:title>
  <dc:subject>PptxGenJS Presentation</dc:subject>
  <dc:creator>Group 3</dc:creator>
  <cp:lastModifiedBy>moulisai.2296@outlook.com</cp:lastModifiedBy>
  <cp:revision>11</cp:revision>
  <dcterms:created xsi:type="dcterms:W3CDTF">2026-06-25T13:30:58Z</dcterms:created>
  <dcterms:modified xsi:type="dcterms:W3CDTF">2026-06-25T18:04:27Z</dcterms:modified>
</cp:coreProperties>
</file>