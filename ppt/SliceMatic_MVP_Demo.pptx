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10"/>
  </p:normalViewPr>
  <p:slideViewPr>
    <p:cSldViewPr snapToGrid="0" snapToObjects="1">
      <p:cViewPr varScale="1">
        <p:scale>
          <a:sx n="104" d="100"/>
          <a:sy n="104" d="100"/>
        </p:scale>
        <p:origin x="60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6-30T05:49:30.602"/>
    </inkml:context>
    <inkml:brush xml:id="br0">
      <inkml:brushProperty name="width" value="0.1" units="cm"/>
      <inkml:brushProperty name="height" value="0.1" units="cm"/>
      <inkml:brushProperty name="color" value="#008C3A"/>
      <inkml:brushProperty name="ignorePressure" value="1"/>
    </inkml:brush>
  </inkml:definitions>
  <inkml:trace contextRef="#ctx0" brushRef="#br0">1 1,'0'1381,"0"-1366</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6-30T05:49:44.450"/>
    </inkml:context>
    <inkml:brush xml:id="br0">
      <inkml:brushProperty name="width" value="0.1" units="cm"/>
      <inkml:brushProperty name="height" value="0.1" units="cm"/>
      <inkml:brushProperty name="color" value="#008C3A"/>
      <inkml:brushProperty name="ignorePressure" value="1"/>
    </inkml:brush>
  </inkml:definitions>
  <inkml:trace contextRef="#ctx0" brushRef="#br0">0 1,'0'1434,"0"-1419</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6-30T05:50:02.948"/>
    </inkml:context>
    <inkml:brush xml:id="br0">
      <inkml:brushProperty name="width" value="0.1" units="cm"/>
      <inkml:brushProperty name="height" value="0.1" units="cm"/>
      <inkml:brushProperty name="color" value="#008C3A"/>
      <inkml:brushProperty name="ignorePressure" value="1"/>
    </inkml:brush>
  </inkml:definitions>
  <inkml:trace contextRef="#ctx0" brushRef="#br0">1 0,'3821'0,"-3806"0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6-30T05:50:12.281"/>
    </inkml:context>
    <inkml:brush xml:id="br0">
      <inkml:brushProperty name="width" value="0.1" units="cm"/>
      <inkml:brushProperty name="height" value="0.1" units="cm"/>
      <inkml:brushProperty name="color" value="#008C3A"/>
      <inkml:brushProperty name="ignorePressure" value="1"/>
    </inkml:brush>
  </inkml:definitions>
  <inkml:trace contextRef="#ctx0" brushRef="#br0">1 1,'3833'0,"-3812"0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8934591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IN" sz="1200" b="0" i="0" kern="1200" dirty="0">
                <a:solidFill>
                  <a:schemeClr val="tx1"/>
                </a:solidFill>
                <a:effectLst/>
                <a:latin typeface="+mn-lt"/>
                <a:ea typeface="+mn-ea"/>
                <a:cs typeface="+mn-cs"/>
              </a:rPr>
              <a:t>Hello everyone, we are Group 3. Today, we are excited to present the MVP Live Demo for the </a:t>
            </a:r>
            <a:r>
              <a:rPr lang="en-IN" sz="1200" b="0" i="0" kern="1200" dirty="0" err="1">
                <a:solidFill>
                  <a:schemeClr val="tx1"/>
                </a:solidFill>
                <a:effectLst/>
                <a:latin typeface="+mn-lt"/>
                <a:ea typeface="+mn-ea"/>
                <a:cs typeface="+mn-cs"/>
              </a:rPr>
              <a:t>SliceMatic</a:t>
            </a:r>
            <a:r>
              <a:rPr lang="en-IN" sz="1200" b="0" i="0" kern="1200" dirty="0">
                <a:solidFill>
                  <a:schemeClr val="tx1"/>
                </a:solidFill>
                <a:effectLst/>
                <a:latin typeface="+mn-lt"/>
                <a:ea typeface="+mn-ea"/>
                <a:cs typeface="+mn-cs"/>
              </a:rPr>
              <a:t> </a:t>
            </a:r>
            <a:r>
              <a:rPr lang="en-IN" sz="1200" b="0" i="0" kern="1200" dirty="0" err="1">
                <a:solidFill>
                  <a:schemeClr val="tx1"/>
                </a:solidFill>
                <a:effectLst/>
                <a:latin typeface="+mn-lt"/>
                <a:ea typeface="+mn-ea"/>
                <a:cs typeface="+mn-cs"/>
              </a:rPr>
              <a:t>PizzaFlow</a:t>
            </a:r>
            <a:r>
              <a:rPr lang="en-IN" sz="1200" b="0" i="0" kern="1200" dirty="0">
                <a:solidFill>
                  <a:schemeClr val="tx1"/>
                </a:solidFill>
                <a:effectLst/>
                <a:latin typeface="+mn-lt"/>
                <a:ea typeface="+mn-ea"/>
                <a:cs typeface="+mn-cs"/>
              </a:rPr>
              <a:t> project. What you are about to see is a fully validated, digital ordering system that we built strictly to spec, and it is currently running live in production.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IN" sz="1200" b="0" i="0" kern="1200" dirty="0">
                <a:solidFill>
                  <a:schemeClr val="tx1"/>
                </a:solidFill>
                <a:effectLst/>
                <a:latin typeface="+mn-lt"/>
                <a:ea typeface="+mn-ea"/>
                <a:cs typeface="+mn-cs"/>
              </a:rPr>
              <a:t>To summarize our MVP in one minute: We built a guided pizza ordering flow that handles all edge cases and prices every order with 100% mathematical accuracy. Under the hood, nothing is hardcoded. Our menu loads dynamically from text files, our pricing engine follows a strict 6-step deterministic calculation, and every completed order is safely persisted into a </a:t>
            </a:r>
            <a:r>
              <a:rPr lang="en-IN" sz="1200" b="0" i="0" kern="1200" dirty="0" err="1">
                <a:solidFill>
                  <a:schemeClr val="tx1"/>
                </a:solidFill>
                <a:effectLst/>
                <a:latin typeface="+mn-lt"/>
                <a:ea typeface="+mn-ea"/>
                <a:cs typeface="+mn-cs"/>
              </a:rPr>
              <a:t>parseable</a:t>
            </a:r>
            <a:r>
              <a:rPr lang="en-IN" sz="1200" b="0" i="0" kern="1200" dirty="0">
                <a:solidFill>
                  <a:schemeClr val="tx1"/>
                </a:solidFill>
                <a:effectLst/>
                <a:latin typeface="+mn-lt"/>
                <a:ea typeface="+mn-ea"/>
                <a:cs typeface="+mn-cs"/>
              </a:rPr>
              <a:t> log.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IN" sz="1200" b="0" i="0" kern="1200" dirty="0">
                <a:solidFill>
                  <a:schemeClr val="tx1"/>
                </a:solidFill>
                <a:effectLst/>
                <a:latin typeface="+mn-lt"/>
                <a:ea typeface="+mn-ea"/>
                <a:cs typeface="+mn-cs"/>
              </a:rPr>
              <a:t>We will now walk you through the customer journey. It consists of six guided steps: Customer Intake, Menu Selection, Quantity, Itemised Bill, Payment, and Confirmation. At every single step, our system validates the user's input to ensure the business never receives bad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IN" sz="1200" b="0" i="0" kern="1200" dirty="0">
                <a:solidFill>
                  <a:schemeClr val="tx1"/>
                </a:solidFill>
                <a:effectLst/>
                <a:latin typeface="+mn-lt"/>
                <a:ea typeface="+mn-ea"/>
                <a:cs typeface="+mn-cs"/>
              </a:rPr>
              <a:t>Step 1 is Customer Intake. We don't just accept any text; the name is validated for characters, and the phone number must be exactly 10 digits starting with an Indian mobile prefix (6 through 9). The exact timestamp of the session is logged instantly.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IN" sz="1200" b="0" i="0" kern="1200" dirty="0">
                <a:solidFill>
                  <a:schemeClr val="tx1"/>
                </a:solidFill>
                <a:effectLst/>
                <a:latin typeface="+mn-lt"/>
                <a:ea typeface="+mn-ea"/>
                <a:cs typeface="+mn-cs"/>
              </a:rPr>
              <a:t>"Step 2 is Menu Selection. The user picks their Base, Pizza, and Topping. Because we built this dynamically, the app reads directly from our menu files. If the owner updates a price in the text file, this UI updates automatically—no code changes required."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IN" sz="1200" b="0" i="0" kern="1200" dirty="0">
                <a:solidFill>
                  <a:schemeClr val="tx1"/>
                </a:solidFill>
                <a:effectLst/>
                <a:latin typeface="+mn-lt"/>
                <a:ea typeface="+mn-ea"/>
                <a:cs typeface="+mn-cs"/>
              </a:rPr>
              <a:t>"Step 3 asks for Quantity. We cap orders at 10 pizzas to manage capacity. More importantly, this is where our business logic kicks in automatically: if a customer orders 5 or more pizzas, the system seamlessly triggers a 10% discount."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IN" sz="1200" b="0" i="0" kern="1200" dirty="0">
                <a:solidFill>
                  <a:schemeClr val="tx1"/>
                </a:solidFill>
                <a:effectLst/>
                <a:latin typeface="+mn-lt"/>
                <a:ea typeface="+mn-ea"/>
                <a:cs typeface="+mn-cs"/>
              </a:rPr>
              <a:t>"Step 4 generates the Itemised Bill. Transparency is key. The customer sees exactly how the cost is broken down—the unit price, the subtotal, the applied discount, and the 18% GST which is strictly calculated on the post-discount taxable amount. Every rupee is accounted for."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IN" sz="1200" b="0" i="0" kern="1200" dirty="0">
                <a:solidFill>
                  <a:schemeClr val="tx1"/>
                </a:solidFill>
                <a:effectLst/>
                <a:latin typeface="+mn-lt"/>
                <a:ea typeface="+mn-ea"/>
                <a:cs typeface="+mn-cs"/>
              </a:rPr>
              <a:t>"Steps 5 and 6 handle Payment and Confirmation. The customer selects Cash, Card, or UPI. Once confirmed, they receive a success message, and in the background, this order is immediately appended to our orders_log.txt file. It's saved, secured, and ready for business analysis."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IN" sz="1200" b="0" i="0" kern="1200" dirty="0">
                <a:solidFill>
                  <a:schemeClr val="tx1"/>
                </a:solidFill>
                <a:effectLst/>
                <a:latin typeface="+mn-lt"/>
                <a:ea typeface="+mn-ea"/>
                <a:cs typeface="+mn-cs"/>
              </a:rPr>
              <a:t>"Steps 5 and 6 handle Payment and Confirmation. The customer selects Cash, Card, or UPI. Once confirmed, they receive a success message, and in the background, this order is immediately appended to our orders_log.txt file. It's saved, secured, and ready for business analysis."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IN" sz="1200" b="0" i="0" kern="1200" dirty="0">
                <a:solidFill>
                  <a:schemeClr val="tx1"/>
                </a:solidFill>
                <a:effectLst/>
                <a:latin typeface="+mn-lt"/>
                <a:ea typeface="+mn-ea"/>
                <a:cs typeface="+mn-cs"/>
              </a:rPr>
              <a:t>"A prototype only works if you use it perfectly; a production app survives the real world. We actively tested our system against edge cases. If you enter an 11-digit phone number, request 15 pizzas, or pick a menu item that doesn't exist, the system refuses to crash. It intercepts the error, gives the user a specific warning, and </a:t>
            </a:r>
            <a:r>
              <a:rPr lang="en-IN" sz="1200" b="0" i="0" kern="1200" dirty="0" err="1">
                <a:solidFill>
                  <a:schemeClr val="tx1"/>
                </a:solidFill>
                <a:effectLst/>
                <a:latin typeface="+mn-lt"/>
                <a:ea typeface="+mn-ea"/>
                <a:cs typeface="+mn-cs"/>
              </a:rPr>
              <a:t>reprompts</a:t>
            </a:r>
            <a:r>
              <a:rPr lang="en-IN" sz="1200" b="0" i="0" kern="1200" dirty="0">
                <a:solidFill>
                  <a:schemeClr val="tx1"/>
                </a:solidFill>
                <a:effectLst/>
                <a:latin typeface="+mn-lt"/>
                <a:ea typeface="+mn-ea"/>
                <a:cs typeface="+mn-cs"/>
              </a:rPr>
              <a:t>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IN" sz="1200" b="0" i="0" kern="1200" dirty="0">
                <a:solidFill>
                  <a:schemeClr val="tx1"/>
                </a:solidFill>
                <a:effectLst/>
                <a:latin typeface="+mn-lt"/>
                <a:ea typeface="+mn-ea"/>
                <a:cs typeface="+mn-cs"/>
              </a:rPr>
              <a:t>"This brings us to Persistence. Every order is captured in a pipe-separated log. This is the exact data structure we needed to fuel our Part B economics analysis. You can see here exactly how the data is structured: completely machine-</a:t>
            </a:r>
            <a:r>
              <a:rPr lang="en-IN" sz="1200" b="0" i="0" kern="1200" dirty="0" err="1">
                <a:solidFill>
                  <a:schemeClr val="tx1"/>
                </a:solidFill>
                <a:effectLst/>
                <a:latin typeface="+mn-lt"/>
                <a:ea typeface="+mn-ea"/>
                <a:cs typeface="+mn-cs"/>
              </a:rPr>
              <a:t>parseable</a:t>
            </a:r>
            <a:r>
              <a:rPr lang="en-IN" sz="1200" b="0" i="0" kern="1200" dirty="0">
                <a:solidFill>
                  <a:schemeClr val="tx1"/>
                </a:solidFill>
                <a:effectLst/>
                <a:latin typeface="+mn-lt"/>
                <a:ea typeface="+mn-ea"/>
                <a:cs typeface="+mn-cs"/>
              </a:rPr>
              <a:t> and clean."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IN" sz="1200" b="0" i="0" kern="1200" dirty="0">
                <a:solidFill>
                  <a:schemeClr val="tx1"/>
                </a:solidFill>
                <a:effectLst/>
                <a:latin typeface="+mn-lt"/>
                <a:ea typeface="+mn-ea"/>
                <a:cs typeface="+mn-cs"/>
              </a:rPr>
              <a:t>"Now, we’d like to show you something we delivered </a:t>
            </a:r>
            <a:r>
              <a:rPr lang="en-IN" sz="1200" b="0" i="1" kern="1200" dirty="0">
                <a:solidFill>
                  <a:schemeClr val="tx1"/>
                </a:solidFill>
                <a:effectLst/>
                <a:latin typeface="+mn-lt"/>
                <a:ea typeface="+mn-ea"/>
                <a:cs typeface="+mn-cs"/>
              </a:rPr>
              <a:t>ahead of schedule</a:t>
            </a:r>
            <a:r>
              <a:rPr lang="en-IN" sz="1200" b="0" i="0" kern="1200" dirty="0">
                <a:solidFill>
                  <a:schemeClr val="tx1"/>
                </a:solidFill>
                <a:effectLst/>
                <a:latin typeface="+mn-lt"/>
                <a:ea typeface="+mn-ea"/>
                <a:cs typeface="+mn-cs"/>
              </a:rPr>
              <a:t>. The PRD originally parked the Admin Console for Stage 3, but we built a PIN-gated owner console today. The owner can log in and literally edit the menu, change prices, or adjust the 10% discount threshold on the fly without ever calling a developer."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IN" sz="1200" b="0" i="0" kern="1200" dirty="0">
                <a:solidFill>
                  <a:schemeClr val="tx1"/>
                </a:solidFill>
                <a:effectLst/>
                <a:latin typeface="+mn-lt"/>
                <a:ea typeface="+mn-ea"/>
                <a:cs typeface="+mn-cs"/>
              </a:rPr>
              <a:t>"Now, we’d like to show you something we delivered </a:t>
            </a:r>
            <a:r>
              <a:rPr lang="en-IN" sz="1200" b="0" i="1" kern="1200" dirty="0">
                <a:solidFill>
                  <a:schemeClr val="tx1"/>
                </a:solidFill>
                <a:effectLst/>
                <a:latin typeface="+mn-lt"/>
                <a:ea typeface="+mn-ea"/>
                <a:cs typeface="+mn-cs"/>
              </a:rPr>
              <a:t>ahead of schedule</a:t>
            </a:r>
            <a:r>
              <a:rPr lang="en-IN" sz="1200" b="0" i="0" kern="1200" dirty="0">
                <a:solidFill>
                  <a:schemeClr val="tx1"/>
                </a:solidFill>
                <a:effectLst/>
                <a:latin typeface="+mn-lt"/>
                <a:ea typeface="+mn-ea"/>
                <a:cs typeface="+mn-cs"/>
              </a:rPr>
              <a:t>. The PRD originally parked the Admin Console for Stage 3, but we built a PIN-gated owner console today. The owner can log in and literally edit the menu, change prices, or adjust the 10% discount threshold on the fly without ever calling a developer."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IN" sz="1200" b="0" i="0" kern="1200" dirty="0">
                <a:solidFill>
                  <a:schemeClr val="tx1"/>
                </a:solidFill>
                <a:effectLst/>
                <a:latin typeface="+mn-lt"/>
                <a:ea typeface="+mn-ea"/>
                <a:cs typeface="+mn-cs"/>
              </a:rPr>
              <a:t>"Within that same console, the owner gets a real-time Analytics Dashboard. They can see their top-selling items and best combinations. Furthermore, they can view the entire order history and download it with one click for GST filing or accounting."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IN" sz="1200" b="0" i="0" kern="1200" dirty="0">
                <a:solidFill>
                  <a:schemeClr val="tx1"/>
                </a:solidFill>
                <a:effectLst/>
                <a:latin typeface="+mn-lt"/>
                <a:ea typeface="+mn-ea"/>
                <a:cs typeface="+mn-cs"/>
              </a:rPr>
              <a:t>"Within that same console, the owner gets a real-time Analytics Dashboard. They can see their top-selling items and best combinations. Furthermore, they can view the entire order history and download it with one click for GST filing or accounting."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IN" sz="1200" b="0" i="0" kern="1200" dirty="0">
                <a:solidFill>
                  <a:schemeClr val="tx1"/>
                </a:solidFill>
                <a:effectLst/>
                <a:latin typeface="+mn-lt"/>
                <a:ea typeface="+mn-ea"/>
                <a:cs typeface="+mn-cs"/>
              </a:rPr>
              <a:t>"We want to emphasize why our financial numbers are trustworthy. We took the exact reference order from the assignment brief—a Cheese Burst BBQ Chicken pizza with Extra Cheese at quantity 5—and ran it through our engine. Our system hits the exact same paisa. The 10% discount and 18% GST are calculated deterministically every single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IN" sz="1200" b="0" i="0" kern="1200" dirty="0">
                <a:solidFill>
                  <a:schemeClr val="tx1"/>
                </a:solidFill>
                <a:effectLst/>
                <a:latin typeface="+mn-lt"/>
                <a:ea typeface="+mn-ea"/>
                <a:cs typeface="+mn-cs"/>
              </a:rPr>
              <a:t>"In terms of accountability, every commitment we made in our Stage 2 PRD has been successfully delivered and mapped to the MVP, plus the Admin tools which we delivered an entire stage 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IN" sz="1200" b="0" i="0" kern="1200" dirty="0">
                <a:solidFill>
                  <a:schemeClr val="tx1"/>
                </a:solidFill>
                <a:effectLst/>
                <a:latin typeface="+mn-lt"/>
                <a:ea typeface="+mn-ea"/>
                <a:cs typeface="+mn-cs"/>
              </a:rPr>
              <a:t>"We know we are ready to ship. From an engineering perspective, we use GitHub Actions for automated CI/CD and Docker for environment parity. From a product perspective, every feature traces back to the PRD, edge cases are locked down, and the economics are validated. This is a production-grade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IN" sz="1200" b="0" i="0" kern="1200" dirty="0">
                <a:solidFill>
                  <a:schemeClr val="tx1"/>
                </a:solidFill>
                <a:effectLst/>
                <a:latin typeface="+mn-lt"/>
                <a:ea typeface="+mn-ea"/>
                <a:cs typeface="+mn-cs"/>
              </a:rPr>
              <a:t>"Looking ahead to Stage 3, we will upgrade our file-based logging to a </a:t>
            </a:r>
            <a:r>
              <a:rPr lang="en-IN" sz="1200" b="0" i="0" kern="1200" dirty="0" err="1">
                <a:solidFill>
                  <a:schemeClr val="tx1"/>
                </a:solidFill>
                <a:effectLst/>
                <a:latin typeface="+mn-lt"/>
                <a:ea typeface="+mn-ea"/>
                <a:cs typeface="+mn-cs"/>
              </a:rPr>
              <a:t>Supabase</a:t>
            </a:r>
            <a:r>
              <a:rPr lang="en-IN" sz="1200" b="0" i="0" kern="1200" dirty="0">
                <a:solidFill>
                  <a:schemeClr val="tx1"/>
                </a:solidFill>
                <a:effectLst/>
                <a:latin typeface="+mn-lt"/>
                <a:ea typeface="+mn-ea"/>
                <a:cs typeface="+mn-cs"/>
              </a:rPr>
              <a:t> Postgres database. We will also introduce Conversational AI ordering using natural language, backed by our deterministic pricing engine to ensure accuracy."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r>
              <a:rPr lang="en-IN" sz="1200" b="0" i="0" kern="1200" dirty="0">
                <a:solidFill>
                  <a:schemeClr val="tx1"/>
                </a:solidFill>
                <a:effectLst/>
                <a:latin typeface="+mn-lt"/>
                <a:ea typeface="+mn-ea"/>
                <a:cs typeface="+mn-cs"/>
              </a:rPr>
              <a:t>"Our MVP is currently live on Hugging Face Spaces. We invite you to visit the link and place a real order yourself. </a:t>
            </a:r>
            <a:r>
              <a:rPr lang="en-IN" sz="1200" b="0" i="0" kern="1200">
                <a:solidFill>
                  <a:schemeClr val="tx1"/>
                </a:solidFill>
                <a:effectLst/>
                <a:latin typeface="+mn-lt"/>
                <a:ea typeface="+mn-ea"/>
                <a:cs typeface="+mn-cs"/>
              </a:rPr>
              <a:t>Thank you from Group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hyperlink" Target="https://huggingface.co/spaces/moulsai2296/pizzaflow_v2" TargetMode="Externa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 Id="rId9" Type="http://schemas.openxmlformats.org/officeDocument/2006/relationships/image" Target="../media/image10.png"/></Relationships>
</file>

<file path=ppt/slides/_rels/slide3.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1.png"/><Relationship Id="rId7" Type="http://schemas.openxmlformats.org/officeDocument/2006/relationships/image" Target="../media/image14.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20.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21.png"/><Relationship Id="rId5" Type="http://schemas.openxmlformats.org/officeDocument/2006/relationships/image" Target="../media/image19.png"/><Relationship Id="rId4" Type="http://schemas.openxmlformats.org/officeDocument/2006/relationships/image" Target="../media/image18.png"/></Relationships>
</file>

<file path=ppt/slides/_rels/slide6.xml.rels><?xml version="1.0" encoding="UTF-8" standalone="yes"?>
<Relationships xmlns="http://schemas.openxmlformats.org/package/2006/relationships"><Relationship Id="rId8" Type="http://schemas.openxmlformats.org/officeDocument/2006/relationships/image" Target="../media/image22.png"/><Relationship Id="rId13" Type="http://schemas.openxmlformats.org/officeDocument/2006/relationships/customXml" Target="../ink/ink4.xml"/><Relationship Id="rId3" Type="http://schemas.openxmlformats.org/officeDocument/2006/relationships/image" Target="../media/image16.png"/><Relationship Id="rId7" Type="http://schemas.openxmlformats.org/officeDocument/2006/relationships/customXml" Target="../ink/ink1.xml"/><Relationship Id="rId12" Type="http://schemas.openxmlformats.org/officeDocument/2006/relationships/image" Target="../media/image24.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21.png"/><Relationship Id="rId11" Type="http://schemas.openxmlformats.org/officeDocument/2006/relationships/customXml" Target="../ink/ink3.xml"/><Relationship Id="rId5" Type="http://schemas.openxmlformats.org/officeDocument/2006/relationships/image" Target="../media/image19.png"/><Relationship Id="rId10" Type="http://schemas.openxmlformats.org/officeDocument/2006/relationships/image" Target="../media/image23.png"/><Relationship Id="rId4" Type="http://schemas.openxmlformats.org/officeDocument/2006/relationships/image" Target="../media/image18.png"/><Relationship Id="rId9" Type="http://schemas.openxmlformats.org/officeDocument/2006/relationships/customXml" Target="../ink/ink2.xml"/><Relationship Id="rId14" Type="http://schemas.openxmlformats.org/officeDocument/2006/relationships/image" Target="../media/image25.png"/></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26.png"/><Relationship Id="rId5" Type="http://schemas.openxmlformats.org/officeDocument/2006/relationships/image" Target="../media/image19.png"/><Relationship Id="rId4" Type="http://schemas.openxmlformats.org/officeDocument/2006/relationships/image" Target="../media/image18.png"/></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27.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s/_rels/slide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28.png"/><Relationship Id="rId5" Type="http://schemas.openxmlformats.org/officeDocument/2006/relationships/image" Target="../media/image19.png"/><Relationship Id="rId4" Type="http://schemas.openxmlformats.org/officeDocument/2006/relationships/image" Target="../media/image18.png"/></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7" Type="http://schemas.openxmlformats.org/officeDocument/2006/relationships/image" Target="../media/image31.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19.png"/></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8" Type="http://schemas.openxmlformats.org/officeDocument/2006/relationships/image" Target="../media/image18.png"/><Relationship Id="rId3" Type="http://schemas.openxmlformats.org/officeDocument/2006/relationships/image" Target="../media/image8.png"/><Relationship Id="rId7" Type="http://schemas.openxmlformats.org/officeDocument/2006/relationships/image" Target="../media/image34.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10.png"/><Relationship Id="rId5" Type="http://schemas.openxmlformats.org/officeDocument/2006/relationships/image" Target="../media/image33.png"/><Relationship Id="rId10" Type="http://schemas.openxmlformats.org/officeDocument/2006/relationships/image" Target="../media/image35.png"/><Relationship Id="rId4" Type="http://schemas.openxmlformats.org/officeDocument/2006/relationships/image" Target="../media/image32.png"/><Relationship Id="rId9" Type="http://schemas.openxmlformats.org/officeDocument/2006/relationships/image" Target="../media/image19.png"/></Relationships>
</file>

<file path=ppt/slides/_rels/slide13.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image" Target="../media/image36.png"/><Relationship Id="rId7" Type="http://schemas.openxmlformats.org/officeDocument/2006/relationships/image" Target="../media/image18.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38.png"/><Relationship Id="rId4" Type="http://schemas.openxmlformats.org/officeDocument/2006/relationships/image" Target="../media/image37.png"/><Relationship Id="rId9" Type="http://schemas.openxmlformats.org/officeDocument/2006/relationships/image" Target="../media/image40.png"/></Relationships>
</file>

<file path=ppt/slides/_rels/slide14.xml.rels><?xml version="1.0" encoding="UTF-8" standalone="yes"?>
<Relationships xmlns="http://schemas.openxmlformats.org/package/2006/relationships"><Relationship Id="rId3" Type="http://schemas.openxmlformats.org/officeDocument/2006/relationships/image" Target="../media/image41.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42.png"/></Relationships>
</file>

<file path=ppt/slides/_rels/slide15.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6.png"/><Relationship Id="rId7" Type="http://schemas.openxmlformats.org/officeDocument/2006/relationships/image" Target="../media/image18.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44.png"/><Relationship Id="rId5" Type="http://schemas.openxmlformats.org/officeDocument/2006/relationships/image" Target="../media/image34.png"/><Relationship Id="rId4" Type="http://schemas.openxmlformats.org/officeDocument/2006/relationships/image" Target="../media/image43.png"/><Relationship Id="rId9" Type="http://schemas.openxmlformats.org/officeDocument/2006/relationships/image" Target="../media/image45.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47.png"/><Relationship Id="rId2" Type="http://schemas.openxmlformats.org/officeDocument/2006/relationships/notesSlide" Target="../notesSlides/notesSlide18.xml"/><Relationship Id="rId1" Type="http://schemas.openxmlformats.org/officeDocument/2006/relationships/slideLayout" Target="../slideLayouts/slideLayout1.xml"/><Relationship Id="rId5" Type="http://schemas.openxmlformats.org/officeDocument/2006/relationships/image" Target="../media/image15.png"/><Relationship Id="rId4" Type="http://schemas.openxmlformats.org/officeDocument/2006/relationships/image" Target="../media/image16.png"/></Relationships>
</file>

<file path=ppt/slides/_rels/slide19.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19.xml"/><Relationship Id="rId1" Type="http://schemas.openxmlformats.org/officeDocument/2006/relationships/slideLayout" Target="../slideLayouts/slideLayout1.xml"/><Relationship Id="rId5" Type="http://schemas.openxmlformats.org/officeDocument/2006/relationships/image" Target="../media/image33.png"/><Relationship Id="rId4" Type="http://schemas.openxmlformats.org/officeDocument/2006/relationships/image" Target="../media/image49.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1.xml"/><Relationship Id="rId6" Type="http://schemas.openxmlformats.org/officeDocument/2006/relationships/hyperlink" Target="https://huggingface.co/spaces/moulsai2296/pizzaflow_v2" TargetMode="External"/><Relationship Id="rId5" Type="http://schemas.openxmlformats.org/officeDocument/2006/relationships/image" Target="../media/image3.png"/><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6201D"/>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12000"/>
          </a:blip>
          <a:stretch>
            <a:fillRect/>
          </a:stretch>
        </p:blipFill>
        <p:spPr>
          <a:xfrm>
            <a:off x="8869680" y="2743200"/>
            <a:ext cx="4754880" cy="4754880"/>
          </a:xfrm>
          <a:prstGeom prst="rect">
            <a:avLst/>
          </a:prstGeom>
        </p:spPr>
      </p:pic>
      <p:sp>
        <p:nvSpPr>
          <p:cNvPr id="3" name="Shape 0"/>
          <p:cNvSpPr/>
          <p:nvPr/>
        </p:nvSpPr>
        <p:spPr>
          <a:xfrm>
            <a:off x="822960" y="1078992"/>
            <a:ext cx="841248" cy="841248"/>
          </a:xfrm>
          <a:prstGeom prst="ellipse">
            <a:avLst/>
          </a:prstGeom>
          <a:solidFill>
            <a:srgbClr val="C1352B"/>
          </a:solidFill>
          <a:ln/>
          <a:effectLst>
            <a:outerShdw blurRad="88900" dist="38100" dir="5400000" algn="bl" rotWithShape="0">
              <a:srgbClr val="000000">
                <a:alpha val="16000"/>
              </a:srgbClr>
            </a:outerShdw>
          </a:effectLst>
        </p:spPr>
        <p:txBody>
          <a:bodyPr/>
          <a:lstStyle/>
          <a:p>
            <a:endParaRPr lang="en-IN"/>
          </a:p>
        </p:txBody>
      </p:sp>
      <p:pic>
        <p:nvPicPr>
          <p:cNvPr id="4" name="Image 1" descr="preencoded.png"/>
          <p:cNvPicPr>
            <a:picLocks noChangeAspect="1"/>
          </p:cNvPicPr>
          <p:nvPr/>
        </p:nvPicPr>
        <p:blipFill>
          <a:blip r:embed="rId4"/>
          <a:stretch>
            <a:fillRect/>
          </a:stretch>
        </p:blipFill>
        <p:spPr>
          <a:xfrm>
            <a:off x="1024128" y="1280160"/>
            <a:ext cx="438912" cy="438912"/>
          </a:xfrm>
          <a:prstGeom prst="rect">
            <a:avLst/>
          </a:prstGeom>
        </p:spPr>
      </p:pic>
      <p:sp>
        <p:nvSpPr>
          <p:cNvPr id="5" name="Text 1"/>
          <p:cNvSpPr/>
          <p:nvPr/>
        </p:nvSpPr>
        <p:spPr>
          <a:xfrm>
            <a:off x="777240" y="2148840"/>
            <a:ext cx="10058400" cy="1097280"/>
          </a:xfrm>
          <a:prstGeom prst="rect">
            <a:avLst/>
          </a:prstGeom>
          <a:noFill/>
          <a:ln/>
        </p:spPr>
        <p:txBody>
          <a:bodyPr wrap="square" lIns="0" tIns="0" rIns="0" bIns="0" rtlCol="0" anchor="ctr"/>
          <a:lstStyle/>
          <a:p>
            <a:pPr marL="0" indent="0">
              <a:buNone/>
            </a:pPr>
            <a:r>
              <a:rPr lang="en-US" sz="6400" b="1" dirty="0">
                <a:solidFill>
                  <a:srgbClr val="FFFFFF"/>
                </a:solidFill>
                <a:latin typeface="Cambria" pitchFamily="34" charset="0"/>
                <a:ea typeface="Cambria" pitchFamily="34" charset="-122"/>
                <a:cs typeface="Cambria" pitchFamily="34" charset="-120"/>
              </a:rPr>
              <a:t>SliceMatic</a:t>
            </a:r>
            <a:endParaRPr lang="en-US" sz="6400" dirty="0"/>
          </a:p>
        </p:txBody>
      </p:sp>
      <p:sp>
        <p:nvSpPr>
          <p:cNvPr id="6" name="Text 2"/>
          <p:cNvSpPr/>
          <p:nvPr/>
        </p:nvSpPr>
        <p:spPr>
          <a:xfrm>
            <a:off x="822960" y="3310128"/>
            <a:ext cx="10058400" cy="502920"/>
          </a:xfrm>
          <a:prstGeom prst="rect">
            <a:avLst/>
          </a:prstGeom>
          <a:noFill/>
          <a:ln/>
        </p:spPr>
        <p:txBody>
          <a:bodyPr wrap="square" lIns="0" tIns="0" rIns="0" bIns="0" rtlCol="0" anchor="ctr"/>
          <a:lstStyle/>
          <a:p>
            <a:pPr marL="0" indent="0">
              <a:buNone/>
            </a:pPr>
            <a:r>
              <a:rPr lang="en-US" sz="2300" dirty="0">
                <a:solidFill>
                  <a:srgbClr val="F3EBE0"/>
                </a:solidFill>
                <a:latin typeface="Calibri" pitchFamily="34" charset="0"/>
                <a:ea typeface="Calibri" pitchFamily="34" charset="-122"/>
                <a:cs typeface="Calibri" pitchFamily="34" charset="-120"/>
              </a:rPr>
              <a:t>MVP Live Demo</a:t>
            </a:r>
            <a:endParaRPr lang="en-US" sz="2300" dirty="0"/>
          </a:p>
        </p:txBody>
      </p:sp>
      <p:sp>
        <p:nvSpPr>
          <p:cNvPr id="7" name="Text 3"/>
          <p:cNvSpPr/>
          <p:nvPr/>
        </p:nvSpPr>
        <p:spPr>
          <a:xfrm>
            <a:off x="822960" y="3886200"/>
            <a:ext cx="8778240" cy="365760"/>
          </a:xfrm>
          <a:prstGeom prst="rect">
            <a:avLst/>
          </a:prstGeom>
          <a:noFill/>
          <a:ln/>
        </p:spPr>
        <p:txBody>
          <a:bodyPr wrap="square" lIns="0" tIns="0" rIns="0" bIns="0" rtlCol="0" anchor="ctr"/>
          <a:lstStyle/>
          <a:p>
            <a:pPr marL="0" indent="0">
              <a:buNone/>
            </a:pPr>
            <a:r>
              <a:rPr lang="en-US" sz="1400" i="1" dirty="0">
                <a:solidFill>
                  <a:srgbClr val="F3EBE0">
                    <a:alpha val="90000"/>
                  </a:srgbClr>
                </a:solidFill>
                <a:latin typeface="Calibri" pitchFamily="34" charset="0"/>
                <a:ea typeface="Calibri" pitchFamily="34" charset="-122"/>
                <a:cs typeface="Calibri" pitchFamily="34" charset="-120"/>
              </a:rPr>
              <a:t>Validated, file-based digital ordering system — built to spec, running live.</a:t>
            </a:r>
            <a:endParaRPr lang="en-US" sz="1400" dirty="0"/>
          </a:p>
        </p:txBody>
      </p:sp>
      <p:sp>
        <p:nvSpPr>
          <p:cNvPr id="8" name="Shape 4"/>
          <p:cNvSpPr/>
          <p:nvPr/>
        </p:nvSpPr>
        <p:spPr>
          <a:xfrm>
            <a:off x="777240" y="4572000"/>
            <a:ext cx="5532120" cy="457200"/>
          </a:xfrm>
          <a:prstGeom prst="roundRect">
            <a:avLst>
              <a:gd name="adj" fmla="val 50000"/>
            </a:avLst>
          </a:prstGeom>
          <a:solidFill>
            <a:srgbClr val="342B26"/>
          </a:solidFill>
          <a:ln w="12700">
            <a:solidFill>
              <a:srgbClr val="E0A43B"/>
            </a:solidFill>
            <a:prstDash val="solid"/>
          </a:ln>
        </p:spPr>
        <p:txBody>
          <a:bodyPr/>
          <a:lstStyle/>
          <a:p>
            <a:endParaRPr lang="en-IN" dirty="0"/>
          </a:p>
        </p:txBody>
      </p:sp>
      <p:pic>
        <p:nvPicPr>
          <p:cNvPr id="9" name="Image 2" descr="preencoded.png"/>
          <p:cNvPicPr>
            <a:picLocks noChangeAspect="1"/>
          </p:cNvPicPr>
          <p:nvPr/>
        </p:nvPicPr>
        <p:blipFill>
          <a:blip r:embed="rId5"/>
          <a:stretch>
            <a:fillRect/>
          </a:stretch>
        </p:blipFill>
        <p:spPr>
          <a:xfrm>
            <a:off x="987552" y="4672584"/>
            <a:ext cx="246888" cy="246888"/>
          </a:xfrm>
          <a:prstGeom prst="rect">
            <a:avLst/>
          </a:prstGeom>
        </p:spPr>
      </p:pic>
      <p:sp>
        <p:nvSpPr>
          <p:cNvPr id="10" name="Text 5"/>
          <p:cNvSpPr/>
          <p:nvPr/>
        </p:nvSpPr>
        <p:spPr>
          <a:xfrm>
            <a:off x="1298448" y="4572000"/>
            <a:ext cx="4937760" cy="457200"/>
          </a:xfrm>
          <a:prstGeom prst="rect">
            <a:avLst/>
          </a:prstGeom>
          <a:noFill/>
          <a:ln/>
        </p:spPr>
        <p:txBody>
          <a:bodyPr wrap="square" lIns="0" tIns="0" rIns="0" bIns="0" rtlCol="0" anchor="ctr"/>
          <a:lstStyle/>
          <a:p>
            <a:pPr marL="0" indent="0">
              <a:buNone/>
            </a:pPr>
            <a:r>
              <a:rPr lang="en-US" sz="2000" dirty="0">
                <a:solidFill>
                  <a:srgbClr val="954F72"/>
                </a:solidFill>
                <a:latin typeface="Calibri" pitchFamily="34" charset="0"/>
                <a:ea typeface="Calibri" pitchFamily="34" charset="-122"/>
                <a:cs typeface="Calibri" pitchFamily="34" charset="-120"/>
                <a:hlinkClick r:id="rId6" tooltip="Slicematic">
                  <a:extLst>
                    <a:ext uri="{A12FA001-AC4F-418D-AE19-62706E023703}">
                      <ahyp:hlinkClr xmlns:ahyp="http://schemas.microsoft.com/office/drawing/2018/hyperlinkcolor" val="tx"/>
                    </a:ext>
                  </a:extLst>
                </a:hlinkClick>
              </a:rPr>
              <a:t>Slicematic</a:t>
            </a:r>
            <a:r>
              <a:rPr lang="en-US" sz="2000" dirty="0">
                <a:solidFill>
                  <a:schemeClr val="bg1"/>
                </a:solidFill>
                <a:latin typeface="Calibri" pitchFamily="34" charset="0"/>
                <a:ea typeface="Calibri" pitchFamily="34" charset="-122"/>
                <a:cs typeface="Calibri" pitchFamily="34" charset="-120"/>
                <a:hlinkClick r:id="rId6" tooltip="Slicematic">
                  <a:extLst>
                    <a:ext uri="{A12FA001-AC4F-418D-AE19-62706E023703}">
                      <ahyp:hlinkClr xmlns:ahyp="http://schemas.microsoft.com/office/drawing/2018/hyperlinkcolor" val="tx"/>
                    </a:ext>
                  </a:extLst>
                </a:hlinkClick>
              </a:rPr>
              <a:t> Application</a:t>
            </a:r>
            <a:endParaRPr lang="en-US" sz="2000" dirty="0">
              <a:solidFill>
                <a:schemeClr val="bg1"/>
              </a:solidFill>
            </a:endParaRPr>
          </a:p>
        </p:txBody>
      </p:sp>
      <p:sp>
        <p:nvSpPr>
          <p:cNvPr id="11" name="Text 6"/>
          <p:cNvSpPr/>
          <p:nvPr/>
        </p:nvSpPr>
        <p:spPr>
          <a:xfrm>
            <a:off x="822960" y="5806440"/>
            <a:ext cx="4572000" cy="274320"/>
          </a:xfrm>
          <a:prstGeom prst="rect">
            <a:avLst/>
          </a:prstGeom>
          <a:noFill/>
          <a:ln/>
        </p:spPr>
        <p:txBody>
          <a:bodyPr wrap="square" lIns="0" tIns="0" rIns="0" bIns="0" rtlCol="0" anchor="ctr"/>
          <a:lstStyle/>
          <a:p>
            <a:pPr marL="0" indent="0">
              <a:buNone/>
            </a:pPr>
            <a:r>
              <a:rPr lang="en-US" sz="1300" b="1" dirty="0">
                <a:solidFill>
                  <a:srgbClr val="E0A43B"/>
                </a:solidFill>
                <a:latin typeface="Calibri" pitchFamily="34" charset="0"/>
                <a:ea typeface="Calibri" pitchFamily="34" charset="-122"/>
                <a:cs typeface="Calibri" pitchFamily="34" charset="-120"/>
              </a:rPr>
              <a:t>Group 3</a:t>
            </a:r>
            <a:endParaRPr lang="en-US" sz="1300" dirty="0"/>
          </a:p>
        </p:txBody>
      </p:sp>
      <p:sp>
        <p:nvSpPr>
          <p:cNvPr id="12" name="Text 7"/>
          <p:cNvSpPr/>
          <p:nvPr/>
        </p:nvSpPr>
        <p:spPr>
          <a:xfrm>
            <a:off x="822960" y="6089904"/>
            <a:ext cx="10058400" cy="274320"/>
          </a:xfrm>
          <a:prstGeom prst="rect">
            <a:avLst/>
          </a:prstGeom>
          <a:noFill/>
          <a:ln/>
        </p:spPr>
        <p:txBody>
          <a:bodyPr wrap="square" lIns="0" tIns="0" rIns="0" bIns="0" rtlCol="0" anchor="ctr"/>
          <a:lstStyle/>
          <a:p>
            <a:pPr marL="0" indent="0">
              <a:buNone/>
            </a:pPr>
            <a:r>
              <a:rPr lang="en-US" sz="1100" dirty="0">
                <a:solidFill>
                  <a:srgbClr val="F3EBE0">
                    <a:alpha val="85000"/>
                  </a:srgbClr>
                </a:solidFill>
                <a:latin typeface="Calibri" pitchFamily="34" charset="0"/>
                <a:ea typeface="Calibri" pitchFamily="34" charset="-122"/>
                <a:cs typeface="Calibri" pitchFamily="34" charset="-120"/>
              </a:rPr>
              <a:t>Mouli Murakambattu · Shaik Mohammed Pasha · Aman Sharma · Saurabh Sekhar · Sushant Kumar</a:t>
            </a:r>
            <a:endParaRPr lang="en-US" sz="1100" dirty="0"/>
          </a:p>
        </p:txBody>
      </p:sp>
      <p:sp>
        <p:nvSpPr>
          <p:cNvPr id="13" name="Text 8"/>
          <p:cNvSpPr/>
          <p:nvPr/>
        </p:nvSpPr>
        <p:spPr>
          <a:xfrm>
            <a:off x="822960" y="6364224"/>
            <a:ext cx="10058400" cy="274320"/>
          </a:xfrm>
          <a:prstGeom prst="rect">
            <a:avLst/>
          </a:prstGeom>
          <a:noFill/>
          <a:ln/>
        </p:spPr>
        <p:txBody>
          <a:bodyPr wrap="square" lIns="0" tIns="0" rIns="0" bIns="0" rtlCol="0" anchor="ctr"/>
          <a:lstStyle/>
          <a:p>
            <a:pPr marL="0" indent="0">
              <a:buNone/>
            </a:pPr>
            <a:r>
              <a:rPr lang="en-US" sz="1000" dirty="0">
                <a:solidFill>
                  <a:srgbClr val="8A7E76"/>
                </a:solidFill>
                <a:latin typeface="Calibri" pitchFamily="34" charset="0"/>
                <a:ea typeface="Calibri" pitchFamily="34" charset="-122"/>
                <a:cs typeface="Calibri" pitchFamily="34" charset="-120"/>
              </a:rPr>
              <a:t>FDE Academy · PizzaFlow Applied Project · 30 June 2026</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BF6EF"/>
        </a:solidFill>
        <a:effectLst/>
      </p:bgPr>
    </p:bg>
    <p:spTree>
      <p:nvGrpSpPr>
        <p:cNvPr id="1" name=""/>
        <p:cNvGrpSpPr/>
        <p:nvPr/>
      </p:nvGrpSpPr>
      <p:grpSpPr>
        <a:xfrm>
          <a:off x="0" y="0"/>
          <a:ext cx="0" cy="0"/>
          <a:chOff x="0" y="0"/>
          <a:chExt cx="0" cy="0"/>
        </a:xfrm>
      </p:grpSpPr>
      <p:sp>
        <p:nvSpPr>
          <p:cNvPr id="2" name="Text 0"/>
          <p:cNvSpPr/>
          <p:nvPr/>
        </p:nvSpPr>
        <p:spPr>
          <a:xfrm>
            <a:off x="502920" y="457200"/>
            <a:ext cx="8229600" cy="274320"/>
          </a:xfrm>
          <a:prstGeom prst="rect">
            <a:avLst/>
          </a:prstGeom>
          <a:noFill/>
          <a:ln/>
        </p:spPr>
        <p:txBody>
          <a:bodyPr wrap="square" lIns="0" tIns="0" rIns="0" bIns="0" rtlCol="0" anchor="ctr"/>
          <a:lstStyle/>
          <a:p>
            <a:pPr marL="0" indent="0">
              <a:buNone/>
            </a:pPr>
            <a:r>
              <a:rPr lang="en-US" sz="1200" b="1" kern="0" spc="300" dirty="0">
                <a:solidFill>
                  <a:srgbClr val="C1352B"/>
                </a:solidFill>
                <a:latin typeface="Calibri" pitchFamily="34" charset="0"/>
                <a:ea typeface="Calibri" pitchFamily="34" charset="-122"/>
                <a:cs typeface="Calibri" pitchFamily="34" charset="-120"/>
              </a:rPr>
              <a:t>WHAT WE BUILT</a:t>
            </a:r>
            <a:endParaRPr lang="en-US" sz="1200" dirty="0"/>
          </a:p>
        </p:txBody>
      </p:sp>
      <p:sp>
        <p:nvSpPr>
          <p:cNvPr id="3" name="Text 1"/>
          <p:cNvSpPr/>
          <p:nvPr/>
        </p:nvSpPr>
        <p:spPr>
          <a:xfrm>
            <a:off x="475488" y="749808"/>
            <a:ext cx="10515600" cy="685800"/>
          </a:xfrm>
          <a:prstGeom prst="rect">
            <a:avLst/>
          </a:prstGeom>
          <a:noFill/>
          <a:ln/>
        </p:spPr>
        <p:txBody>
          <a:bodyPr wrap="square" lIns="0" tIns="0" rIns="0" bIns="0" rtlCol="0" anchor="ctr"/>
          <a:lstStyle/>
          <a:p>
            <a:pPr marL="0" indent="0">
              <a:buNone/>
            </a:pPr>
            <a:r>
              <a:rPr lang="en-US" sz="3300" b="1" dirty="0">
                <a:solidFill>
                  <a:srgbClr val="2B2422"/>
                </a:solidFill>
                <a:latin typeface="Cambria" pitchFamily="34" charset="0"/>
                <a:ea typeface="Cambria" pitchFamily="34" charset="-122"/>
                <a:cs typeface="Cambria" pitchFamily="34" charset="-120"/>
              </a:rPr>
              <a:t>The MVP in one minute</a:t>
            </a:r>
            <a:endParaRPr lang="en-US" sz="3300" dirty="0"/>
          </a:p>
        </p:txBody>
      </p:sp>
      <p:sp>
        <p:nvSpPr>
          <p:cNvPr id="4" name="Text 2"/>
          <p:cNvSpPr/>
          <p:nvPr/>
        </p:nvSpPr>
        <p:spPr>
          <a:xfrm>
            <a:off x="502920" y="1417320"/>
            <a:ext cx="11155680" cy="548640"/>
          </a:xfrm>
          <a:prstGeom prst="rect">
            <a:avLst/>
          </a:prstGeom>
          <a:noFill/>
          <a:ln/>
        </p:spPr>
        <p:txBody>
          <a:bodyPr wrap="square" lIns="0" tIns="0" rIns="0" bIns="0" rtlCol="0" anchor="ctr"/>
          <a:lstStyle/>
          <a:p>
            <a:pPr marL="0" indent="0">
              <a:buNone/>
            </a:pPr>
            <a:r>
              <a:rPr lang="en-US" sz="1450" dirty="0">
                <a:solidFill>
                  <a:srgbClr val="2B2422"/>
                </a:solidFill>
                <a:latin typeface="Calibri" pitchFamily="34" charset="0"/>
                <a:ea typeface="Calibri" pitchFamily="34" charset="-122"/>
                <a:cs typeface="Calibri" pitchFamily="34" charset="-120"/>
              </a:rPr>
              <a:t>A guided, fully-validated pizza ordering flow that prices every order deterministically and persists it in a parseable log — no manual math, no crashes, every order captured.</a:t>
            </a:r>
            <a:endParaRPr lang="en-US" sz="1450" dirty="0"/>
          </a:p>
        </p:txBody>
      </p:sp>
      <p:sp>
        <p:nvSpPr>
          <p:cNvPr id="5" name="Shape 3"/>
          <p:cNvSpPr/>
          <p:nvPr/>
        </p:nvSpPr>
        <p:spPr>
          <a:xfrm>
            <a:off x="361188" y="2311189"/>
            <a:ext cx="2670048" cy="1428707"/>
          </a:xfrm>
          <a:prstGeom prst="roundRect">
            <a:avLst>
              <a:gd name="adj" fmla="val 5556"/>
            </a:avLst>
          </a:prstGeom>
          <a:solidFill>
            <a:srgbClr val="FFFFFF"/>
          </a:solidFill>
          <a:ln w="12700">
            <a:solidFill>
              <a:srgbClr val="E7DCCD"/>
            </a:solidFill>
            <a:prstDash val="solid"/>
          </a:ln>
          <a:effectLst>
            <a:outerShdw blurRad="88900" dist="38100" dir="5400000" algn="bl" rotWithShape="0">
              <a:srgbClr val="000000">
                <a:alpha val="10000"/>
              </a:srgbClr>
            </a:outerShdw>
          </a:effectLst>
        </p:spPr>
        <p:txBody>
          <a:bodyPr/>
          <a:lstStyle/>
          <a:p>
            <a:endParaRPr lang="en-IN"/>
          </a:p>
        </p:txBody>
      </p:sp>
      <p:sp>
        <p:nvSpPr>
          <p:cNvPr id="6" name="Shape 4"/>
          <p:cNvSpPr/>
          <p:nvPr/>
        </p:nvSpPr>
        <p:spPr>
          <a:xfrm>
            <a:off x="758952" y="2496312"/>
            <a:ext cx="566928" cy="566928"/>
          </a:xfrm>
          <a:prstGeom prst="ellipse">
            <a:avLst/>
          </a:prstGeom>
          <a:solidFill>
            <a:srgbClr val="F3EBE0"/>
          </a:solidFill>
          <a:ln/>
        </p:spPr>
        <p:txBody>
          <a:bodyPr/>
          <a:lstStyle/>
          <a:p>
            <a:endParaRPr lang="en-IN"/>
          </a:p>
        </p:txBody>
      </p:sp>
      <p:pic>
        <p:nvPicPr>
          <p:cNvPr id="7" name="Image 0" descr="preencoded.png"/>
          <p:cNvPicPr>
            <a:picLocks noChangeAspect="1"/>
          </p:cNvPicPr>
          <p:nvPr/>
        </p:nvPicPr>
        <p:blipFill>
          <a:blip r:embed="rId3"/>
          <a:stretch>
            <a:fillRect/>
          </a:stretch>
        </p:blipFill>
        <p:spPr>
          <a:xfrm>
            <a:off x="896112" y="2633472"/>
            <a:ext cx="292608" cy="292608"/>
          </a:xfrm>
          <a:prstGeom prst="rect">
            <a:avLst/>
          </a:prstGeom>
        </p:spPr>
      </p:pic>
      <p:sp>
        <p:nvSpPr>
          <p:cNvPr id="8" name="Text 5"/>
          <p:cNvSpPr/>
          <p:nvPr/>
        </p:nvSpPr>
        <p:spPr>
          <a:xfrm>
            <a:off x="1463040" y="2521458"/>
            <a:ext cx="1297915" cy="502920"/>
          </a:xfrm>
          <a:prstGeom prst="rect">
            <a:avLst/>
          </a:prstGeom>
          <a:noFill/>
          <a:ln/>
        </p:spPr>
        <p:txBody>
          <a:bodyPr wrap="square" lIns="0" tIns="0" rIns="0" bIns="0" rtlCol="0" anchor="ctr"/>
          <a:lstStyle/>
          <a:p>
            <a:pPr marL="0" indent="0">
              <a:buNone/>
            </a:pPr>
            <a:r>
              <a:rPr lang="en-US" sz="3000" b="1" dirty="0">
                <a:solidFill>
                  <a:srgbClr val="C1352B"/>
                </a:solidFill>
                <a:latin typeface="Cambria" pitchFamily="34" charset="0"/>
                <a:ea typeface="Cambria" pitchFamily="34" charset="-122"/>
                <a:cs typeface="Cambria" pitchFamily="34" charset="-120"/>
              </a:rPr>
              <a:t>8 / 8</a:t>
            </a:r>
            <a:endParaRPr lang="en-US" sz="3000" dirty="0"/>
          </a:p>
        </p:txBody>
      </p:sp>
      <p:sp>
        <p:nvSpPr>
          <p:cNvPr id="9" name="Text 6"/>
          <p:cNvSpPr/>
          <p:nvPr/>
        </p:nvSpPr>
        <p:spPr>
          <a:xfrm>
            <a:off x="758952" y="3226107"/>
            <a:ext cx="2212848" cy="292608"/>
          </a:xfrm>
          <a:prstGeom prst="rect">
            <a:avLst/>
          </a:prstGeom>
          <a:noFill/>
          <a:ln/>
        </p:spPr>
        <p:txBody>
          <a:bodyPr wrap="square" lIns="0" tIns="0" rIns="0" bIns="0" rtlCol="0" anchor="ctr"/>
          <a:lstStyle/>
          <a:p>
            <a:pPr marL="0" indent="0">
              <a:buNone/>
            </a:pPr>
            <a:r>
              <a:rPr lang="en-US" sz="1050" dirty="0">
                <a:solidFill>
                  <a:srgbClr val="8A7E76"/>
                </a:solidFill>
                <a:latin typeface="Calibri" pitchFamily="34" charset="0"/>
                <a:ea typeface="Calibri" pitchFamily="34" charset="-122"/>
                <a:cs typeface="Calibri" pitchFamily="34" charset="-120"/>
              </a:rPr>
              <a:t>Edge cases handled </a:t>
            </a:r>
          </a:p>
          <a:p>
            <a:pPr marL="0" indent="0">
              <a:buNone/>
            </a:pPr>
            <a:r>
              <a:rPr lang="en-US" sz="1050" dirty="0">
                <a:solidFill>
                  <a:srgbClr val="8A7E76"/>
                </a:solidFill>
                <a:latin typeface="Calibri" pitchFamily="34" charset="0"/>
                <a:ea typeface="Calibri" pitchFamily="34" charset="-122"/>
                <a:cs typeface="Calibri" pitchFamily="34" charset="-120"/>
              </a:rPr>
              <a:t>Zero unhandled crashes</a:t>
            </a:r>
            <a:endParaRPr lang="en-US" sz="1050" dirty="0"/>
          </a:p>
        </p:txBody>
      </p:sp>
      <p:sp>
        <p:nvSpPr>
          <p:cNvPr id="10" name="Shape 7"/>
          <p:cNvSpPr/>
          <p:nvPr/>
        </p:nvSpPr>
        <p:spPr>
          <a:xfrm>
            <a:off x="3351276" y="2286000"/>
            <a:ext cx="2670048" cy="1453896"/>
          </a:xfrm>
          <a:prstGeom prst="roundRect">
            <a:avLst>
              <a:gd name="adj" fmla="val 5556"/>
            </a:avLst>
          </a:prstGeom>
          <a:solidFill>
            <a:srgbClr val="FFFFFF"/>
          </a:solidFill>
          <a:ln w="12700">
            <a:solidFill>
              <a:srgbClr val="E7DCCD"/>
            </a:solidFill>
            <a:prstDash val="solid"/>
          </a:ln>
          <a:effectLst>
            <a:outerShdw blurRad="88900" dist="38100" dir="5400000" algn="bl" rotWithShape="0">
              <a:srgbClr val="000000">
                <a:alpha val="10000"/>
              </a:srgbClr>
            </a:outerShdw>
          </a:effectLst>
        </p:spPr>
        <p:txBody>
          <a:bodyPr/>
          <a:lstStyle/>
          <a:p>
            <a:endParaRPr lang="en-IN"/>
          </a:p>
        </p:txBody>
      </p:sp>
      <p:sp>
        <p:nvSpPr>
          <p:cNvPr id="11" name="Shape 8"/>
          <p:cNvSpPr/>
          <p:nvPr/>
        </p:nvSpPr>
        <p:spPr>
          <a:xfrm>
            <a:off x="3675888" y="2496312"/>
            <a:ext cx="566928" cy="566928"/>
          </a:xfrm>
          <a:prstGeom prst="ellipse">
            <a:avLst/>
          </a:prstGeom>
          <a:solidFill>
            <a:srgbClr val="F3EBE0"/>
          </a:solidFill>
          <a:ln/>
        </p:spPr>
        <p:txBody>
          <a:bodyPr/>
          <a:lstStyle/>
          <a:p>
            <a:endParaRPr lang="en-IN"/>
          </a:p>
        </p:txBody>
      </p:sp>
      <p:pic>
        <p:nvPicPr>
          <p:cNvPr id="12" name="Image 1" descr="preencoded.png"/>
          <p:cNvPicPr>
            <a:picLocks noChangeAspect="1"/>
          </p:cNvPicPr>
          <p:nvPr/>
        </p:nvPicPr>
        <p:blipFill>
          <a:blip r:embed="rId4"/>
          <a:stretch>
            <a:fillRect/>
          </a:stretch>
        </p:blipFill>
        <p:spPr>
          <a:xfrm>
            <a:off x="3813048" y="2633472"/>
            <a:ext cx="292608" cy="292608"/>
          </a:xfrm>
          <a:prstGeom prst="rect">
            <a:avLst/>
          </a:prstGeom>
        </p:spPr>
      </p:pic>
      <p:sp>
        <p:nvSpPr>
          <p:cNvPr id="13" name="Text 9"/>
          <p:cNvSpPr/>
          <p:nvPr/>
        </p:nvSpPr>
        <p:spPr>
          <a:xfrm>
            <a:off x="4311396" y="2505456"/>
            <a:ext cx="2212848" cy="502920"/>
          </a:xfrm>
          <a:prstGeom prst="rect">
            <a:avLst/>
          </a:prstGeom>
          <a:noFill/>
          <a:ln/>
        </p:spPr>
        <p:txBody>
          <a:bodyPr wrap="square" lIns="0" tIns="0" rIns="0" bIns="0" rtlCol="0" anchor="ctr"/>
          <a:lstStyle/>
          <a:p>
            <a:pPr marL="0" indent="0">
              <a:buNone/>
            </a:pPr>
            <a:r>
              <a:rPr lang="en-US" sz="3000" b="1" dirty="0">
                <a:solidFill>
                  <a:srgbClr val="C1352B"/>
                </a:solidFill>
                <a:latin typeface="Cambria" pitchFamily="34" charset="0"/>
                <a:ea typeface="Cambria" pitchFamily="34" charset="-122"/>
                <a:cs typeface="Cambria" pitchFamily="34" charset="-120"/>
              </a:rPr>
              <a:t>100%</a:t>
            </a:r>
            <a:endParaRPr lang="en-US" sz="3000" dirty="0"/>
          </a:p>
        </p:txBody>
      </p:sp>
      <p:sp>
        <p:nvSpPr>
          <p:cNvPr id="14" name="Text 10"/>
          <p:cNvSpPr/>
          <p:nvPr/>
        </p:nvSpPr>
        <p:spPr>
          <a:xfrm>
            <a:off x="3656824" y="3220931"/>
            <a:ext cx="2212848" cy="292608"/>
          </a:xfrm>
          <a:prstGeom prst="rect">
            <a:avLst/>
          </a:prstGeom>
          <a:noFill/>
          <a:ln/>
        </p:spPr>
        <p:txBody>
          <a:bodyPr wrap="square" lIns="0" tIns="0" rIns="0" bIns="0" rtlCol="0" anchor="ctr"/>
          <a:lstStyle/>
          <a:p>
            <a:pPr marL="0" indent="0">
              <a:buNone/>
            </a:pPr>
            <a:r>
              <a:rPr lang="en-US" sz="1050" dirty="0">
                <a:solidFill>
                  <a:srgbClr val="8A7E76"/>
                </a:solidFill>
                <a:latin typeface="Calibri" pitchFamily="34" charset="0"/>
                <a:ea typeface="Calibri" pitchFamily="34" charset="-122"/>
                <a:cs typeface="Calibri" pitchFamily="34" charset="-120"/>
              </a:rPr>
              <a:t>Bills computed by one deterministic engine</a:t>
            </a:r>
            <a:endParaRPr lang="en-US" sz="1050" dirty="0"/>
          </a:p>
        </p:txBody>
      </p:sp>
      <p:sp>
        <p:nvSpPr>
          <p:cNvPr id="15" name="Shape 11"/>
          <p:cNvSpPr/>
          <p:nvPr/>
        </p:nvSpPr>
        <p:spPr>
          <a:xfrm>
            <a:off x="6302502" y="2267712"/>
            <a:ext cx="2670048" cy="1453896"/>
          </a:xfrm>
          <a:prstGeom prst="roundRect">
            <a:avLst>
              <a:gd name="adj" fmla="val 5556"/>
            </a:avLst>
          </a:prstGeom>
          <a:solidFill>
            <a:srgbClr val="FFFFFF"/>
          </a:solidFill>
          <a:ln w="12700">
            <a:solidFill>
              <a:srgbClr val="E7DCCD"/>
            </a:solidFill>
            <a:prstDash val="solid"/>
          </a:ln>
          <a:effectLst>
            <a:outerShdw blurRad="88900" dist="38100" dir="5400000" algn="bl" rotWithShape="0">
              <a:srgbClr val="000000">
                <a:alpha val="10000"/>
              </a:srgbClr>
            </a:outerShdw>
          </a:effectLst>
        </p:spPr>
        <p:txBody>
          <a:bodyPr/>
          <a:lstStyle/>
          <a:p>
            <a:endParaRPr lang="en-IN" dirty="0"/>
          </a:p>
        </p:txBody>
      </p:sp>
      <p:sp>
        <p:nvSpPr>
          <p:cNvPr id="16" name="Shape 12"/>
          <p:cNvSpPr/>
          <p:nvPr/>
        </p:nvSpPr>
        <p:spPr>
          <a:xfrm>
            <a:off x="6592824" y="2496312"/>
            <a:ext cx="566928" cy="566928"/>
          </a:xfrm>
          <a:prstGeom prst="ellipse">
            <a:avLst/>
          </a:prstGeom>
          <a:solidFill>
            <a:srgbClr val="F3EBE0"/>
          </a:solidFill>
          <a:ln/>
        </p:spPr>
        <p:txBody>
          <a:bodyPr/>
          <a:lstStyle/>
          <a:p>
            <a:endParaRPr lang="en-IN"/>
          </a:p>
        </p:txBody>
      </p:sp>
      <p:pic>
        <p:nvPicPr>
          <p:cNvPr id="17" name="Image 2" descr="preencoded.png"/>
          <p:cNvPicPr>
            <a:picLocks noChangeAspect="1"/>
          </p:cNvPicPr>
          <p:nvPr/>
        </p:nvPicPr>
        <p:blipFill>
          <a:blip r:embed="rId5"/>
          <a:stretch>
            <a:fillRect/>
          </a:stretch>
        </p:blipFill>
        <p:spPr>
          <a:xfrm>
            <a:off x="6729984" y="2633472"/>
            <a:ext cx="292608" cy="292608"/>
          </a:xfrm>
          <a:prstGeom prst="rect">
            <a:avLst/>
          </a:prstGeom>
        </p:spPr>
      </p:pic>
      <p:sp>
        <p:nvSpPr>
          <p:cNvPr id="18" name="Text 13"/>
          <p:cNvSpPr/>
          <p:nvPr/>
        </p:nvSpPr>
        <p:spPr>
          <a:xfrm>
            <a:off x="7278624" y="2492171"/>
            <a:ext cx="2212848" cy="502920"/>
          </a:xfrm>
          <a:prstGeom prst="rect">
            <a:avLst/>
          </a:prstGeom>
          <a:noFill/>
          <a:ln/>
        </p:spPr>
        <p:txBody>
          <a:bodyPr wrap="square" lIns="0" tIns="0" rIns="0" bIns="0" rtlCol="0" anchor="ctr"/>
          <a:lstStyle/>
          <a:p>
            <a:pPr marL="0" indent="0">
              <a:buNone/>
            </a:pPr>
            <a:r>
              <a:rPr lang="en-US" sz="3000" b="1" dirty="0">
                <a:solidFill>
                  <a:srgbClr val="C1352B"/>
                </a:solidFill>
                <a:latin typeface="Cambria" pitchFamily="34" charset="0"/>
                <a:ea typeface="Cambria" pitchFamily="34" charset="-122"/>
                <a:cs typeface="Cambria" pitchFamily="34" charset="-120"/>
              </a:rPr>
              <a:t>All</a:t>
            </a:r>
            <a:endParaRPr lang="en-US" sz="3000" dirty="0"/>
          </a:p>
        </p:txBody>
      </p:sp>
      <p:sp>
        <p:nvSpPr>
          <p:cNvPr id="19" name="Text 14"/>
          <p:cNvSpPr/>
          <p:nvPr/>
        </p:nvSpPr>
        <p:spPr>
          <a:xfrm>
            <a:off x="6601537" y="3136392"/>
            <a:ext cx="2212848" cy="292608"/>
          </a:xfrm>
          <a:prstGeom prst="rect">
            <a:avLst/>
          </a:prstGeom>
          <a:noFill/>
          <a:ln/>
        </p:spPr>
        <p:txBody>
          <a:bodyPr wrap="square" lIns="0" tIns="0" rIns="0" bIns="0" rtlCol="0" anchor="ctr"/>
          <a:lstStyle/>
          <a:p>
            <a:pPr marL="0" indent="0">
              <a:buNone/>
            </a:pPr>
            <a:r>
              <a:rPr lang="en-US" sz="1050" dirty="0">
                <a:solidFill>
                  <a:srgbClr val="8A7E76"/>
                </a:solidFill>
                <a:latin typeface="Calibri" pitchFamily="34" charset="0"/>
                <a:ea typeface="Calibri" pitchFamily="34" charset="-122"/>
                <a:cs typeface="Calibri" pitchFamily="34" charset="-120"/>
              </a:rPr>
              <a:t>Order appended to a parseable log</a:t>
            </a:r>
            <a:endParaRPr lang="en-US" sz="1050" dirty="0"/>
          </a:p>
        </p:txBody>
      </p:sp>
      <p:sp>
        <p:nvSpPr>
          <p:cNvPr id="20" name="Shape 15"/>
          <p:cNvSpPr/>
          <p:nvPr/>
        </p:nvSpPr>
        <p:spPr>
          <a:xfrm>
            <a:off x="9165710" y="2287208"/>
            <a:ext cx="2670048" cy="1452688"/>
          </a:xfrm>
          <a:prstGeom prst="roundRect">
            <a:avLst>
              <a:gd name="adj" fmla="val 5556"/>
            </a:avLst>
          </a:prstGeom>
          <a:solidFill>
            <a:srgbClr val="FFFFFF"/>
          </a:solidFill>
          <a:ln w="12700">
            <a:solidFill>
              <a:srgbClr val="E7DCCD"/>
            </a:solidFill>
            <a:prstDash val="solid"/>
          </a:ln>
          <a:effectLst>
            <a:outerShdw blurRad="88900" dist="38100" dir="5400000" algn="bl" rotWithShape="0">
              <a:srgbClr val="000000">
                <a:alpha val="10000"/>
              </a:srgbClr>
            </a:outerShdw>
          </a:effectLst>
        </p:spPr>
        <p:txBody>
          <a:bodyPr/>
          <a:lstStyle/>
          <a:p>
            <a:endParaRPr lang="en-IN"/>
          </a:p>
        </p:txBody>
      </p:sp>
      <p:sp>
        <p:nvSpPr>
          <p:cNvPr id="21" name="Shape 16"/>
          <p:cNvSpPr/>
          <p:nvPr/>
        </p:nvSpPr>
        <p:spPr>
          <a:xfrm>
            <a:off x="9509760" y="2496312"/>
            <a:ext cx="566928" cy="566928"/>
          </a:xfrm>
          <a:prstGeom prst="ellipse">
            <a:avLst/>
          </a:prstGeom>
          <a:solidFill>
            <a:srgbClr val="F3EBE0"/>
          </a:solidFill>
          <a:ln/>
        </p:spPr>
        <p:txBody>
          <a:bodyPr/>
          <a:lstStyle/>
          <a:p>
            <a:endParaRPr lang="en-IN"/>
          </a:p>
        </p:txBody>
      </p:sp>
      <p:pic>
        <p:nvPicPr>
          <p:cNvPr id="22" name="Image 3" descr="preencoded.png"/>
          <p:cNvPicPr>
            <a:picLocks noChangeAspect="1"/>
          </p:cNvPicPr>
          <p:nvPr/>
        </p:nvPicPr>
        <p:blipFill>
          <a:blip r:embed="rId6"/>
          <a:stretch>
            <a:fillRect/>
          </a:stretch>
        </p:blipFill>
        <p:spPr>
          <a:xfrm>
            <a:off x="9646920" y="2633472"/>
            <a:ext cx="292608" cy="292608"/>
          </a:xfrm>
          <a:prstGeom prst="rect">
            <a:avLst/>
          </a:prstGeom>
        </p:spPr>
      </p:pic>
      <p:sp>
        <p:nvSpPr>
          <p:cNvPr id="23" name="Text 17"/>
          <p:cNvSpPr/>
          <p:nvPr/>
        </p:nvSpPr>
        <p:spPr>
          <a:xfrm>
            <a:off x="10378181" y="2496312"/>
            <a:ext cx="566928" cy="502920"/>
          </a:xfrm>
          <a:prstGeom prst="rect">
            <a:avLst/>
          </a:prstGeom>
          <a:noFill/>
          <a:ln/>
        </p:spPr>
        <p:txBody>
          <a:bodyPr wrap="square" lIns="0" tIns="0" rIns="0" bIns="0" rtlCol="0" anchor="ctr"/>
          <a:lstStyle/>
          <a:p>
            <a:pPr marL="0" indent="0">
              <a:buNone/>
            </a:pPr>
            <a:r>
              <a:rPr lang="en-US" sz="3000" b="1" dirty="0">
                <a:solidFill>
                  <a:srgbClr val="C1352B"/>
                </a:solidFill>
                <a:latin typeface="Cambria" pitchFamily="34" charset="0"/>
                <a:ea typeface="Cambria" pitchFamily="34" charset="-122"/>
                <a:cs typeface="Cambria" pitchFamily="34" charset="-120"/>
              </a:rPr>
              <a:t>0</a:t>
            </a:r>
            <a:endParaRPr lang="en-US" sz="3000" dirty="0"/>
          </a:p>
        </p:txBody>
      </p:sp>
      <p:sp>
        <p:nvSpPr>
          <p:cNvPr id="24" name="Text 18"/>
          <p:cNvSpPr/>
          <p:nvPr/>
        </p:nvSpPr>
        <p:spPr>
          <a:xfrm>
            <a:off x="9271757" y="3136392"/>
            <a:ext cx="2212848" cy="292608"/>
          </a:xfrm>
          <a:prstGeom prst="rect">
            <a:avLst/>
          </a:prstGeom>
          <a:noFill/>
          <a:ln/>
        </p:spPr>
        <p:txBody>
          <a:bodyPr wrap="square" lIns="0" tIns="0" rIns="0" bIns="0" rtlCol="0" anchor="ctr"/>
          <a:lstStyle/>
          <a:p>
            <a:pPr marL="0" indent="0">
              <a:buNone/>
            </a:pPr>
            <a:r>
              <a:rPr lang="en-US" sz="1050" dirty="0">
                <a:solidFill>
                  <a:srgbClr val="8A7E76"/>
                </a:solidFill>
                <a:latin typeface="Calibri" pitchFamily="34" charset="0"/>
                <a:ea typeface="Calibri" pitchFamily="34" charset="-122"/>
                <a:cs typeface="Calibri" pitchFamily="34" charset="-120"/>
              </a:rPr>
              <a:t>Code changes to swap the menu files</a:t>
            </a:r>
            <a:endParaRPr lang="en-US" sz="1050" dirty="0"/>
          </a:p>
        </p:txBody>
      </p:sp>
      <p:sp>
        <p:nvSpPr>
          <p:cNvPr id="25" name="Shape 19"/>
          <p:cNvSpPr/>
          <p:nvPr/>
        </p:nvSpPr>
        <p:spPr>
          <a:xfrm>
            <a:off x="502920" y="4343400"/>
            <a:ext cx="11183112" cy="1783080"/>
          </a:xfrm>
          <a:prstGeom prst="roundRect">
            <a:avLst>
              <a:gd name="adj" fmla="val 5128"/>
            </a:avLst>
          </a:prstGeom>
          <a:solidFill>
            <a:srgbClr val="26201D"/>
          </a:solidFill>
          <a:ln/>
        </p:spPr>
        <p:txBody>
          <a:bodyPr/>
          <a:lstStyle/>
          <a:p>
            <a:endParaRPr lang="en-IN"/>
          </a:p>
        </p:txBody>
      </p:sp>
      <p:sp>
        <p:nvSpPr>
          <p:cNvPr id="26" name="Text 20"/>
          <p:cNvSpPr/>
          <p:nvPr/>
        </p:nvSpPr>
        <p:spPr>
          <a:xfrm>
            <a:off x="868680" y="4553712"/>
            <a:ext cx="7315200" cy="320040"/>
          </a:xfrm>
          <a:prstGeom prst="rect">
            <a:avLst/>
          </a:prstGeom>
          <a:noFill/>
          <a:ln/>
        </p:spPr>
        <p:txBody>
          <a:bodyPr wrap="square" lIns="0" tIns="0" rIns="0" bIns="0" rtlCol="0" anchor="ctr"/>
          <a:lstStyle/>
          <a:p>
            <a:pPr marL="0" indent="0">
              <a:buNone/>
            </a:pPr>
            <a:r>
              <a:rPr lang="en-US" sz="1300" b="1" dirty="0">
                <a:solidFill>
                  <a:srgbClr val="E0A43B"/>
                </a:solidFill>
                <a:latin typeface="Calibri" pitchFamily="34" charset="0"/>
                <a:ea typeface="Calibri" pitchFamily="34" charset="-122"/>
                <a:cs typeface="Calibri" pitchFamily="34" charset="-120"/>
              </a:rPr>
              <a:t>How it works under the hood</a:t>
            </a:r>
            <a:endParaRPr lang="en-US" sz="1300" dirty="0"/>
          </a:p>
        </p:txBody>
      </p:sp>
      <p:pic>
        <p:nvPicPr>
          <p:cNvPr id="27" name="Image 4" descr="preencoded.png"/>
          <p:cNvPicPr>
            <a:picLocks noChangeAspect="1"/>
          </p:cNvPicPr>
          <p:nvPr/>
        </p:nvPicPr>
        <p:blipFill>
          <a:blip r:embed="rId7"/>
          <a:stretch>
            <a:fillRect/>
          </a:stretch>
        </p:blipFill>
        <p:spPr>
          <a:xfrm>
            <a:off x="868680" y="4974336"/>
            <a:ext cx="201168" cy="201168"/>
          </a:xfrm>
          <a:prstGeom prst="rect">
            <a:avLst/>
          </a:prstGeom>
        </p:spPr>
      </p:pic>
      <p:sp>
        <p:nvSpPr>
          <p:cNvPr id="28" name="Text 21"/>
          <p:cNvSpPr/>
          <p:nvPr/>
        </p:nvSpPr>
        <p:spPr>
          <a:xfrm>
            <a:off x="1207008" y="4919472"/>
            <a:ext cx="10149840" cy="365760"/>
          </a:xfrm>
          <a:prstGeom prst="rect">
            <a:avLst/>
          </a:prstGeom>
          <a:noFill/>
          <a:ln/>
        </p:spPr>
        <p:txBody>
          <a:bodyPr wrap="square" lIns="0" tIns="0" rIns="0" bIns="0" rtlCol="0" anchor="ctr"/>
          <a:lstStyle/>
          <a:p>
            <a:pPr marL="0" indent="0">
              <a:buNone/>
            </a:pPr>
            <a:r>
              <a:rPr lang="en-US" sz="1150" dirty="0">
                <a:solidFill>
                  <a:srgbClr val="F3EBE0"/>
                </a:solidFill>
                <a:latin typeface="Calibri" pitchFamily="34" charset="0"/>
                <a:ea typeface="Calibri" pitchFamily="34" charset="-122"/>
                <a:cs typeface="Calibri" pitchFamily="34" charset="-120"/>
              </a:rPr>
              <a:t>Menu loaded at runtime from 3 .txt files (Base · Pizza · Topping) — defensively parsed, never hardcoded.</a:t>
            </a:r>
            <a:endParaRPr lang="en-US" sz="1150" dirty="0"/>
          </a:p>
        </p:txBody>
      </p:sp>
      <p:pic>
        <p:nvPicPr>
          <p:cNvPr id="29" name="Image 5" descr="preencoded.png"/>
          <p:cNvPicPr>
            <a:picLocks noChangeAspect="1"/>
          </p:cNvPicPr>
          <p:nvPr/>
        </p:nvPicPr>
        <p:blipFill>
          <a:blip r:embed="rId8"/>
          <a:stretch>
            <a:fillRect/>
          </a:stretch>
        </p:blipFill>
        <p:spPr>
          <a:xfrm>
            <a:off x="868680" y="5358384"/>
            <a:ext cx="201168" cy="201168"/>
          </a:xfrm>
          <a:prstGeom prst="rect">
            <a:avLst/>
          </a:prstGeom>
        </p:spPr>
      </p:pic>
      <p:sp>
        <p:nvSpPr>
          <p:cNvPr id="30" name="Text 22"/>
          <p:cNvSpPr/>
          <p:nvPr/>
        </p:nvSpPr>
        <p:spPr>
          <a:xfrm>
            <a:off x="1207008" y="5303520"/>
            <a:ext cx="10149840" cy="365760"/>
          </a:xfrm>
          <a:prstGeom prst="rect">
            <a:avLst/>
          </a:prstGeom>
          <a:noFill/>
          <a:ln/>
        </p:spPr>
        <p:txBody>
          <a:bodyPr wrap="square" lIns="0" tIns="0" rIns="0" bIns="0" rtlCol="0" anchor="ctr"/>
          <a:lstStyle/>
          <a:p>
            <a:pPr marL="0" indent="0">
              <a:buNone/>
            </a:pPr>
            <a:r>
              <a:rPr lang="en-US" sz="1150" dirty="0">
                <a:solidFill>
                  <a:srgbClr val="F3EBE0"/>
                </a:solidFill>
                <a:latin typeface="Calibri" pitchFamily="34" charset="0"/>
                <a:ea typeface="Calibri" pitchFamily="34" charset="-122"/>
                <a:cs typeface="Calibri" pitchFamily="34" charset="-120"/>
              </a:rPr>
              <a:t>Pricing engine runs 6 fixed steps: unit price → subtotal → 10% discount at qty ≥ 5 → 18% GST on the post-discount total → payable.</a:t>
            </a:r>
            <a:endParaRPr lang="en-US" sz="1150" dirty="0"/>
          </a:p>
        </p:txBody>
      </p:sp>
      <p:pic>
        <p:nvPicPr>
          <p:cNvPr id="31" name="Image 6" descr="preencoded.png"/>
          <p:cNvPicPr>
            <a:picLocks noChangeAspect="1"/>
          </p:cNvPicPr>
          <p:nvPr/>
        </p:nvPicPr>
        <p:blipFill>
          <a:blip r:embed="rId9"/>
          <a:stretch>
            <a:fillRect/>
          </a:stretch>
        </p:blipFill>
        <p:spPr>
          <a:xfrm>
            <a:off x="868680" y="5742432"/>
            <a:ext cx="201168" cy="201168"/>
          </a:xfrm>
          <a:prstGeom prst="rect">
            <a:avLst/>
          </a:prstGeom>
        </p:spPr>
      </p:pic>
      <p:sp>
        <p:nvSpPr>
          <p:cNvPr id="32" name="Text 23"/>
          <p:cNvSpPr/>
          <p:nvPr/>
        </p:nvSpPr>
        <p:spPr>
          <a:xfrm>
            <a:off x="1207008" y="5687568"/>
            <a:ext cx="10149840" cy="365760"/>
          </a:xfrm>
          <a:prstGeom prst="rect">
            <a:avLst/>
          </a:prstGeom>
          <a:noFill/>
          <a:ln/>
        </p:spPr>
        <p:txBody>
          <a:bodyPr wrap="square" lIns="0" tIns="0" rIns="0" bIns="0" rtlCol="0" anchor="ctr"/>
          <a:lstStyle/>
          <a:p>
            <a:pPr marL="0" indent="0">
              <a:buNone/>
            </a:pPr>
            <a:r>
              <a:rPr lang="en-US" sz="1150" dirty="0">
                <a:solidFill>
                  <a:srgbClr val="F3EBE0"/>
                </a:solidFill>
                <a:latin typeface="Calibri" pitchFamily="34" charset="0"/>
                <a:ea typeface="Calibri" pitchFamily="34" charset="-122"/>
                <a:cs typeface="Calibri" pitchFamily="34" charset="-120"/>
              </a:rPr>
              <a:t>Completed orders are appended to orders_log.txt, pipe-separated, one block each — ready for AOV, peak-hour &amp; break-even analysis.</a:t>
            </a:r>
            <a:endParaRPr lang="en-US" sz="1150" dirty="0"/>
          </a:p>
        </p:txBody>
      </p:sp>
      <p:sp>
        <p:nvSpPr>
          <p:cNvPr id="33" name="Text 24"/>
          <p:cNvSpPr/>
          <p:nvPr/>
        </p:nvSpPr>
        <p:spPr>
          <a:xfrm>
            <a:off x="502920" y="6473952"/>
            <a:ext cx="5486400" cy="274320"/>
          </a:xfrm>
          <a:prstGeom prst="rect">
            <a:avLst/>
          </a:prstGeom>
          <a:noFill/>
          <a:ln/>
        </p:spPr>
        <p:txBody>
          <a:bodyPr wrap="square" lIns="0" tIns="0" rIns="0" bIns="0" rtlCol="0" anchor="ctr"/>
          <a:lstStyle/>
          <a:p>
            <a:pPr marL="0" indent="0" algn="l">
              <a:buNone/>
            </a:pPr>
            <a:r>
              <a:rPr lang="en-US" sz="900" dirty="0">
                <a:solidFill>
                  <a:srgbClr val="8A7E76"/>
                </a:solidFill>
                <a:latin typeface="Calibri" pitchFamily="34" charset="0"/>
                <a:ea typeface="Calibri" pitchFamily="34" charset="-122"/>
                <a:cs typeface="Calibri" pitchFamily="34" charset="-120"/>
              </a:rPr>
              <a:t>SliceMatic · PizzaFlow MVP Demo</a:t>
            </a:r>
            <a:endParaRPr lang="en-US" sz="900" dirty="0"/>
          </a:p>
        </p:txBody>
      </p:sp>
      <p:sp>
        <p:nvSpPr>
          <p:cNvPr id="34" name="Text 25"/>
          <p:cNvSpPr/>
          <p:nvPr/>
        </p:nvSpPr>
        <p:spPr>
          <a:xfrm>
            <a:off x="11274552" y="6473952"/>
            <a:ext cx="411480" cy="274320"/>
          </a:xfrm>
          <a:prstGeom prst="rect">
            <a:avLst/>
          </a:prstGeom>
          <a:noFill/>
          <a:ln/>
        </p:spPr>
        <p:txBody>
          <a:bodyPr wrap="square" lIns="0" tIns="0" rIns="0" bIns="0" rtlCol="0" anchor="ctr"/>
          <a:lstStyle/>
          <a:p>
            <a:pPr marL="0" indent="0" algn="r">
              <a:buNone/>
            </a:pPr>
            <a:r>
              <a:rPr lang="en-US" sz="900" dirty="0">
                <a:solidFill>
                  <a:srgbClr val="8A7E76"/>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BF6EF"/>
        </a:solidFill>
        <a:effectLst/>
      </p:bgPr>
    </p:bg>
    <p:spTree>
      <p:nvGrpSpPr>
        <p:cNvPr id="1" name=""/>
        <p:cNvGrpSpPr/>
        <p:nvPr/>
      </p:nvGrpSpPr>
      <p:grpSpPr>
        <a:xfrm>
          <a:off x="0" y="0"/>
          <a:ext cx="0" cy="0"/>
          <a:chOff x="0" y="0"/>
          <a:chExt cx="0" cy="0"/>
        </a:xfrm>
      </p:grpSpPr>
      <p:sp>
        <p:nvSpPr>
          <p:cNvPr id="2" name="Text 0"/>
          <p:cNvSpPr/>
          <p:nvPr/>
        </p:nvSpPr>
        <p:spPr>
          <a:xfrm>
            <a:off x="502920" y="457200"/>
            <a:ext cx="8229600" cy="274320"/>
          </a:xfrm>
          <a:prstGeom prst="rect">
            <a:avLst/>
          </a:prstGeom>
          <a:noFill/>
          <a:ln/>
        </p:spPr>
        <p:txBody>
          <a:bodyPr wrap="square" lIns="0" tIns="0" rIns="0" bIns="0" rtlCol="0" anchor="ctr"/>
          <a:lstStyle/>
          <a:p>
            <a:pPr marL="0" indent="0">
              <a:buNone/>
            </a:pPr>
            <a:r>
              <a:rPr lang="en-US" sz="1200" b="1" kern="0" spc="300" dirty="0">
                <a:solidFill>
                  <a:srgbClr val="C2872A"/>
                </a:solidFill>
                <a:latin typeface="Calibri" pitchFamily="34" charset="0"/>
                <a:ea typeface="Calibri" pitchFamily="34" charset="-122"/>
                <a:cs typeface="Calibri" pitchFamily="34" charset="-120"/>
              </a:rPr>
              <a:t>DEMO WALKTHROUGH</a:t>
            </a:r>
            <a:endParaRPr lang="en-US" sz="1200" dirty="0"/>
          </a:p>
        </p:txBody>
      </p:sp>
      <p:sp>
        <p:nvSpPr>
          <p:cNvPr id="3" name="Text 1"/>
          <p:cNvSpPr/>
          <p:nvPr/>
        </p:nvSpPr>
        <p:spPr>
          <a:xfrm>
            <a:off x="475488" y="749808"/>
            <a:ext cx="10515600" cy="685800"/>
          </a:xfrm>
          <a:prstGeom prst="rect">
            <a:avLst/>
          </a:prstGeom>
          <a:noFill/>
          <a:ln/>
        </p:spPr>
        <p:txBody>
          <a:bodyPr wrap="square" lIns="0" tIns="0" rIns="0" bIns="0" rtlCol="0" anchor="ctr"/>
          <a:lstStyle/>
          <a:p>
            <a:pPr marL="0" indent="0">
              <a:buNone/>
            </a:pPr>
            <a:r>
              <a:rPr lang="en-US" sz="3300" b="1" dirty="0">
                <a:solidFill>
                  <a:srgbClr val="2B2422"/>
                </a:solidFill>
                <a:latin typeface="Cambria" pitchFamily="34" charset="0"/>
                <a:ea typeface="Cambria" pitchFamily="34" charset="-122"/>
                <a:cs typeface="Cambria" pitchFamily="34" charset="-120"/>
              </a:rPr>
              <a:t>The order journey — what you'll see</a:t>
            </a:r>
            <a:endParaRPr lang="en-US" sz="3300" dirty="0"/>
          </a:p>
        </p:txBody>
      </p:sp>
      <p:sp>
        <p:nvSpPr>
          <p:cNvPr id="4" name="Text 2"/>
          <p:cNvSpPr/>
          <p:nvPr/>
        </p:nvSpPr>
        <p:spPr>
          <a:xfrm>
            <a:off x="502920" y="1417320"/>
            <a:ext cx="11155680" cy="457200"/>
          </a:xfrm>
          <a:prstGeom prst="rect">
            <a:avLst/>
          </a:prstGeom>
          <a:noFill/>
          <a:ln/>
        </p:spPr>
        <p:txBody>
          <a:bodyPr wrap="square" lIns="0" tIns="0" rIns="0" bIns="0" rtlCol="0" anchor="ctr"/>
          <a:lstStyle/>
          <a:p>
            <a:pPr marL="0" indent="0">
              <a:buNone/>
            </a:pPr>
            <a:r>
              <a:rPr lang="en-US" sz="1350" dirty="0">
                <a:solidFill>
                  <a:srgbClr val="2B2422"/>
                </a:solidFill>
                <a:latin typeface="Calibri" pitchFamily="34" charset="0"/>
                <a:ea typeface="Calibri" pitchFamily="34" charset="-122"/>
                <a:cs typeface="Calibri" pitchFamily="34" charset="-120"/>
              </a:rPr>
              <a:t>Six guided steps from launch to a confirmed, saved order. Every step validates input and loops back on anything invalid.</a:t>
            </a:r>
            <a:endParaRPr lang="en-US" sz="1350" dirty="0"/>
          </a:p>
        </p:txBody>
      </p:sp>
      <p:sp>
        <p:nvSpPr>
          <p:cNvPr id="5" name="Shape 3"/>
          <p:cNvSpPr/>
          <p:nvPr/>
        </p:nvSpPr>
        <p:spPr>
          <a:xfrm>
            <a:off x="548640" y="2148840"/>
            <a:ext cx="3520440" cy="1627632"/>
          </a:xfrm>
          <a:prstGeom prst="roundRect">
            <a:avLst>
              <a:gd name="adj" fmla="val 5618"/>
            </a:avLst>
          </a:prstGeom>
          <a:solidFill>
            <a:srgbClr val="FFFFFF"/>
          </a:solidFill>
          <a:ln w="12700">
            <a:solidFill>
              <a:srgbClr val="E7DCCD"/>
            </a:solidFill>
            <a:prstDash val="solid"/>
          </a:ln>
          <a:effectLst>
            <a:outerShdw blurRad="88900" dist="38100" dir="5400000" algn="bl" rotWithShape="0">
              <a:srgbClr val="000000">
                <a:alpha val="10000"/>
              </a:srgbClr>
            </a:outerShdw>
          </a:effectLst>
        </p:spPr>
        <p:txBody>
          <a:bodyPr/>
          <a:lstStyle/>
          <a:p>
            <a:endParaRPr lang="en-IN"/>
          </a:p>
        </p:txBody>
      </p:sp>
      <p:sp>
        <p:nvSpPr>
          <p:cNvPr id="6" name="Shape 4"/>
          <p:cNvSpPr/>
          <p:nvPr/>
        </p:nvSpPr>
        <p:spPr>
          <a:xfrm>
            <a:off x="777240" y="2377440"/>
            <a:ext cx="548640" cy="548640"/>
          </a:xfrm>
          <a:prstGeom prst="ellipse">
            <a:avLst/>
          </a:prstGeom>
          <a:solidFill>
            <a:srgbClr val="C1352B"/>
          </a:solidFill>
          <a:ln/>
        </p:spPr>
        <p:txBody>
          <a:bodyPr/>
          <a:lstStyle/>
          <a:p>
            <a:endParaRPr lang="en-IN"/>
          </a:p>
        </p:txBody>
      </p:sp>
      <p:sp>
        <p:nvSpPr>
          <p:cNvPr id="7" name="Text 5"/>
          <p:cNvSpPr/>
          <p:nvPr/>
        </p:nvSpPr>
        <p:spPr>
          <a:xfrm>
            <a:off x="777240" y="2395728"/>
            <a:ext cx="548640" cy="512064"/>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1</a:t>
            </a:r>
            <a:endParaRPr lang="en-US" sz="2200" dirty="0"/>
          </a:p>
        </p:txBody>
      </p:sp>
      <p:pic>
        <p:nvPicPr>
          <p:cNvPr id="8" name="Image 0" descr="preencoded.png"/>
          <p:cNvPicPr>
            <a:picLocks noChangeAspect="1"/>
          </p:cNvPicPr>
          <p:nvPr/>
        </p:nvPicPr>
        <p:blipFill>
          <a:blip r:embed="rId3"/>
          <a:stretch>
            <a:fillRect/>
          </a:stretch>
        </p:blipFill>
        <p:spPr>
          <a:xfrm>
            <a:off x="3291840" y="2404872"/>
            <a:ext cx="457200" cy="457200"/>
          </a:xfrm>
          <a:prstGeom prst="rect">
            <a:avLst/>
          </a:prstGeom>
        </p:spPr>
      </p:pic>
      <p:sp>
        <p:nvSpPr>
          <p:cNvPr id="9" name="Text 6"/>
          <p:cNvSpPr/>
          <p:nvPr/>
        </p:nvSpPr>
        <p:spPr>
          <a:xfrm>
            <a:off x="804672" y="3044952"/>
            <a:ext cx="3063240" cy="320040"/>
          </a:xfrm>
          <a:prstGeom prst="rect">
            <a:avLst/>
          </a:prstGeom>
          <a:noFill/>
          <a:ln/>
        </p:spPr>
        <p:txBody>
          <a:bodyPr wrap="square" lIns="0" tIns="0" rIns="0" bIns="0" rtlCol="0" anchor="ctr"/>
          <a:lstStyle/>
          <a:p>
            <a:pPr marL="0" indent="0">
              <a:buNone/>
            </a:pPr>
            <a:r>
              <a:rPr lang="en-US" sz="1500" b="1" dirty="0">
                <a:solidFill>
                  <a:srgbClr val="2B2422"/>
                </a:solidFill>
                <a:latin typeface="Calibri" pitchFamily="34" charset="0"/>
                <a:ea typeface="Calibri" pitchFamily="34" charset="-122"/>
                <a:cs typeface="Calibri" pitchFamily="34" charset="-120"/>
              </a:rPr>
              <a:t>Customer intake</a:t>
            </a:r>
            <a:endParaRPr lang="en-US" sz="1500" dirty="0"/>
          </a:p>
        </p:txBody>
      </p:sp>
      <p:sp>
        <p:nvSpPr>
          <p:cNvPr id="10" name="Text 7"/>
          <p:cNvSpPr/>
          <p:nvPr/>
        </p:nvSpPr>
        <p:spPr>
          <a:xfrm>
            <a:off x="804672" y="3364992"/>
            <a:ext cx="3063240" cy="320040"/>
          </a:xfrm>
          <a:prstGeom prst="rect">
            <a:avLst/>
          </a:prstGeom>
          <a:noFill/>
          <a:ln/>
        </p:spPr>
        <p:txBody>
          <a:bodyPr wrap="square" lIns="0" tIns="0" rIns="0" bIns="0" rtlCol="0" anchor="ctr"/>
          <a:lstStyle/>
          <a:p>
            <a:pPr marL="0" indent="0">
              <a:buNone/>
            </a:pPr>
            <a:r>
              <a:rPr lang="en-US" sz="1100" dirty="0">
                <a:solidFill>
                  <a:srgbClr val="8A7E76"/>
                </a:solidFill>
                <a:latin typeface="Calibri" pitchFamily="34" charset="0"/>
                <a:ea typeface="Calibri" pitchFamily="34" charset="-122"/>
                <a:cs typeface="Calibri" pitchFamily="34" charset="-120"/>
              </a:rPr>
              <a:t>Name + phone, validated</a:t>
            </a:r>
            <a:endParaRPr lang="en-US" sz="1100" dirty="0"/>
          </a:p>
        </p:txBody>
      </p:sp>
      <p:sp>
        <p:nvSpPr>
          <p:cNvPr id="11" name="Shape 8"/>
          <p:cNvSpPr/>
          <p:nvPr/>
        </p:nvSpPr>
        <p:spPr>
          <a:xfrm>
            <a:off x="4379976" y="2148840"/>
            <a:ext cx="3520440" cy="1627632"/>
          </a:xfrm>
          <a:prstGeom prst="roundRect">
            <a:avLst>
              <a:gd name="adj" fmla="val 5618"/>
            </a:avLst>
          </a:prstGeom>
          <a:solidFill>
            <a:srgbClr val="FFFFFF"/>
          </a:solidFill>
          <a:ln w="12700">
            <a:solidFill>
              <a:srgbClr val="E7DCCD"/>
            </a:solidFill>
            <a:prstDash val="solid"/>
          </a:ln>
          <a:effectLst>
            <a:outerShdw blurRad="88900" dist="38100" dir="5400000" algn="bl" rotWithShape="0">
              <a:srgbClr val="000000">
                <a:alpha val="10000"/>
              </a:srgbClr>
            </a:outerShdw>
          </a:effectLst>
        </p:spPr>
        <p:txBody>
          <a:bodyPr/>
          <a:lstStyle/>
          <a:p>
            <a:endParaRPr lang="en-IN"/>
          </a:p>
        </p:txBody>
      </p:sp>
      <p:sp>
        <p:nvSpPr>
          <p:cNvPr id="12" name="Shape 9"/>
          <p:cNvSpPr/>
          <p:nvPr/>
        </p:nvSpPr>
        <p:spPr>
          <a:xfrm>
            <a:off x="4608576" y="2377440"/>
            <a:ext cx="548640" cy="548640"/>
          </a:xfrm>
          <a:prstGeom prst="ellipse">
            <a:avLst/>
          </a:prstGeom>
          <a:solidFill>
            <a:srgbClr val="C1352B"/>
          </a:solidFill>
          <a:ln/>
        </p:spPr>
        <p:txBody>
          <a:bodyPr/>
          <a:lstStyle/>
          <a:p>
            <a:endParaRPr lang="en-IN"/>
          </a:p>
        </p:txBody>
      </p:sp>
      <p:sp>
        <p:nvSpPr>
          <p:cNvPr id="13" name="Text 10"/>
          <p:cNvSpPr/>
          <p:nvPr/>
        </p:nvSpPr>
        <p:spPr>
          <a:xfrm>
            <a:off x="4608576" y="2395728"/>
            <a:ext cx="548640" cy="512064"/>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2</a:t>
            </a:r>
            <a:endParaRPr lang="en-US" sz="2200" dirty="0"/>
          </a:p>
        </p:txBody>
      </p:sp>
      <p:pic>
        <p:nvPicPr>
          <p:cNvPr id="14" name="Image 1" descr="preencoded.png"/>
          <p:cNvPicPr>
            <a:picLocks noChangeAspect="1"/>
          </p:cNvPicPr>
          <p:nvPr/>
        </p:nvPicPr>
        <p:blipFill>
          <a:blip r:embed="rId4"/>
          <a:stretch>
            <a:fillRect/>
          </a:stretch>
        </p:blipFill>
        <p:spPr>
          <a:xfrm>
            <a:off x="7123176" y="2404872"/>
            <a:ext cx="457200" cy="457200"/>
          </a:xfrm>
          <a:prstGeom prst="rect">
            <a:avLst/>
          </a:prstGeom>
        </p:spPr>
      </p:pic>
      <p:sp>
        <p:nvSpPr>
          <p:cNvPr id="15" name="Text 11"/>
          <p:cNvSpPr/>
          <p:nvPr/>
        </p:nvSpPr>
        <p:spPr>
          <a:xfrm>
            <a:off x="4636008" y="3044952"/>
            <a:ext cx="3063240" cy="320040"/>
          </a:xfrm>
          <a:prstGeom prst="rect">
            <a:avLst/>
          </a:prstGeom>
          <a:noFill/>
          <a:ln/>
        </p:spPr>
        <p:txBody>
          <a:bodyPr wrap="square" lIns="0" tIns="0" rIns="0" bIns="0" rtlCol="0" anchor="ctr"/>
          <a:lstStyle/>
          <a:p>
            <a:pPr marL="0" indent="0">
              <a:buNone/>
            </a:pPr>
            <a:r>
              <a:rPr lang="en-US" sz="1500" b="1" dirty="0">
                <a:solidFill>
                  <a:srgbClr val="2B2422"/>
                </a:solidFill>
                <a:latin typeface="Calibri" pitchFamily="34" charset="0"/>
                <a:ea typeface="Calibri" pitchFamily="34" charset="-122"/>
                <a:cs typeface="Calibri" pitchFamily="34" charset="-120"/>
              </a:rPr>
              <a:t>Menu selection</a:t>
            </a:r>
            <a:endParaRPr lang="en-US" sz="1500" dirty="0"/>
          </a:p>
        </p:txBody>
      </p:sp>
      <p:sp>
        <p:nvSpPr>
          <p:cNvPr id="16" name="Text 12"/>
          <p:cNvSpPr/>
          <p:nvPr/>
        </p:nvSpPr>
        <p:spPr>
          <a:xfrm>
            <a:off x="4636008" y="3364992"/>
            <a:ext cx="3063240" cy="320040"/>
          </a:xfrm>
          <a:prstGeom prst="rect">
            <a:avLst/>
          </a:prstGeom>
          <a:noFill/>
          <a:ln/>
        </p:spPr>
        <p:txBody>
          <a:bodyPr wrap="square" lIns="0" tIns="0" rIns="0" bIns="0" rtlCol="0" anchor="ctr"/>
          <a:lstStyle/>
          <a:p>
            <a:pPr marL="0" indent="0">
              <a:buNone/>
            </a:pPr>
            <a:r>
              <a:rPr lang="en-US" sz="1100" dirty="0">
                <a:solidFill>
                  <a:srgbClr val="8A7E76"/>
                </a:solidFill>
                <a:latin typeface="Calibri" pitchFamily="34" charset="0"/>
                <a:ea typeface="Calibri" pitchFamily="34" charset="-122"/>
                <a:cs typeface="Calibri" pitchFamily="34" charset="-120"/>
              </a:rPr>
              <a:t>Base · Pizza · Topping by number</a:t>
            </a:r>
            <a:endParaRPr lang="en-US" sz="1100" dirty="0"/>
          </a:p>
        </p:txBody>
      </p:sp>
      <p:sp>
        <p:nvSpPr>
          <p:cNvPr id="17" name="Shape 13"/>
          <p:cNvSpPr/>
          <p:nvPr/>
        </p:nvSpPr>
        <p:spPr>
          <a:xfrm>
            <a:off x="8211312" y="2148840"/>
            <a:ext cx="3520440" cy="1627632"/>
          </a:xfrm>
          <a:prstGeom prst="roundRect">
            <a:avLst>
              <a:gd name="adj" fmla="val 5618"/>
            </a:avLst>
          </a:prstGeom>
          <a:solidFill>
            <a:srgbClr val="FFFFFF"/>
          </a:solidFill>
          <a:ln w="12700">
            <a:solidFill>
              <a:srgbClr val="E7DCCD"/>
            </a:solidFill>
            <a:prstDash val="solid"/>
          </a:ln>
          <a:effectLst>
            <a:outerShdw blurRad="88900" dist="38100" dir="5400000" algn="bl" rotWithShape="0">
              <a:srgbClr val="000000">
                <a:alpha val="10000"/>
              </a:srgbClr>
            </a:outerShdw>
          </a:effectLst>
        </p:spPr>
        <p:txBody>
          <a:bodyPr/>
          <a:lstStyle/>
          <a:p>
            <a:endParaRPr lang="en-IN"/>
          </a:p>
        </p:txBody>
      </p:sp>
      <p:sp>
        <p:nvSpPr>
          <p:cNvPr id="18" name="Shape 14"/>
          <p:cNvSpPr/>
          <p:nvPr/>
        </p:nvSpPr>
        <p:spPr>
          <a:xfrm>
            <a:off x="8439912" y="2377440"/>
            <a:ext cx="548640" cy="548640"/>
          </a:xfrm>
          <a:prstGeom prst="ellipse">
            <a:avLst/>
          </a:prstGeom>
          <a:solidFill>
            <a:srgbClr val="C1352B"/>
          </a:solidFill>
          <a:ln/>
        </p:spPr>
        <p:txBody>
          <a:bodyPr/>
          <a:lstStyle/>
          <a:p>
            <a:endParaRPr lang="en-IN"/>
          </a:p>
        </p:txBody>
      </p:sp>
      <p:sp>
        <p:nvSpPr>
          <p:cNvPr id="19" name="Text 15"/>
          <p:cNvSpPr/>
          <p:nvPr/>
        </p:nvSpPr>
        <p:spPr>
          <a:xfrm>
            <a:off x="8439912" y="2395728"/>
            <a:ext cx="548640" cy="512064"/>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3</a:t>
            </a:r>
            <a:endParaRPr lang="en-US" sz="2200" dirty="0"/>
          </a:p>
        </p:txBody>
      </p:sp>
      <p:pic>
        <p:nvPicPr>
          <p:cNvPr id="20" name="Image 2" descr="preencoded.png"/>
          <p:cNvPicPr>
            <a:picLocks noChangeAspect="1"/>
          </p:cNvPicPr>
          <p:nvPr/>
        </p:nvPicPr>
        <p:blipFill>
          <a:blip r:embed="rId5"/>
          <a:stretch>
            <a:fillRect/>
          </a:stretch>
        </p:blipFill>
        <p:spPr>
          <a:xfrm>
            <a:off x="10954512" y="2404872"/>
            <a:ext cx="457200" cy="457200"/>
          </a:xfrm>
          <a:prstGeom prst="rect">
            <a:avLst/>
          </a:prstGeom>
        </p:spPr>
      </p:pic>
      <p:sp>
        <p:nvSpPr>
          <p:cNvPr id="21" name="Text 16"/>
          <p:cNvSpPr/>
          <p:nvPr/>
        </p:nvSpPr>
        <p:spPr>
          <a:xfrm>
            <a:off x="8467344" y="3044952"/>
            <a:ext cx="3063240" cy="320040"/>
          </a:xfrm>
          <a:prstGeom prst="rect">
            <a:avLst/>
          </a:prstGeom>
          <a:noFill/>
          <a:ln/>
        </p:spPr>
        <p:txBody>
          <a:bodyPr wrap="square" lIns="0" tIns="0" rIns="0" bIns="0" rtlCol="0" anchor="ctr"/>
          <a:lstStyle/>
          <a:p>
            <a:pPr marL="0" indent="0">
              <a:buNone/>
            </a:pPr>
            <a:r>
              <a:rPr lang="en-US" sz="1500" b="1" dirty="0">
                <a:solidFill>
                  <a:srgbClr val="2B2422"/>
                </a:solidFill>
                <a:latin typeface="Calibri" pitchFamily="34" charset="0"/>
                <a:ea typeface="Calibri" pitchFamily="34" charset="-122"/>
                <a:cs typeface="Calibri" pitchFamily="34" charset="-120"/>
              </a:rPr>
              <a:t>Quantity</a:t>
            </a:r>
            <a:endParaRPr lang="en-US" sz="1500" dirty="0"/>
          </a:p>
        </p:txBody>
      </p:sp>
      <p:sp>
        <p:nvSpPr>
          <p:cNvPr id="22" name="Text 17"/>
          <p:cNvSpPr/>
          <p:nvPr/>
        </p:nvSpPr>
        <p:spPr>
          <a:xfrm>
            <a:off x="8467344" y="3364992"/>
            <a:ext cx="3063240" cy="320040"/>
          </a:xfrm>
          <a:prstGeom prst="rect">
            <a:avLst/>
          </a:prstGeom>
          <a:noFill/>
          <a:ln/>
        </p:spPr>
        <p:txBody>
          <a:bodyPr wrap="square" lIns="0" tIns="0" rIns="0" bIns="0" rtlCol="0" anchor="ctr"/>
          <a:lstStyle/>
          <a:p>
            <a:pPr marL="0" indent="0">
              <a:buNone/>
            </a:pPr>
            <a:r>
              <a:rPr lang="en-US" sz="1100" dirty="0">
                <a:solidFill>
                  <a:srgbClr val="8A7E76"/>
                </a:solidFill>
                <a:latin typeface="Calibri" pitchFamily="34" charset="0"/>
                <a:ea typeface="Calibri" pitchFamily="34" charset="-122"/>
                <a:cs typeface="Calibri" pitchFamily="34" charset="-120"/>
              </a:rPr>
              <a:t>1–10; 10% off at qty ≥ 5</a:t>
            </a:r>
            <a:endParaRPr lang="en-US" sz="1100" dirty="0"/>
          </a:p>
        </p:txBody>
      </p:sp>
      <p:sp>
        <p:nvSpPr>
          <p:cNvPr id="23" name="Shape 18"/>
          <p:cNvSpPr/>
          <p:nvPr/>
        </p:nvSpPr>
        <p:spPr>
          <a:xfrm>
            <a:off x="548640" y="4096512"/>
            <a:ext cx="3520440" cy="1627632"/>
          </a:xfrm>
          <a:prstGeom prst="roundRect">
            <a:avLst>
              <a:gd name="adj" fmla="val 5618"/>
            </a:avLst>
          </a:prstGeom>
          <a:solidFill>
            <a:srgbClr val="FFFFFF"/>
          </a:solidFill>
          <a:ln w="12700">
            <a:solidFill>
              <a:srgbClr val="E7DCCD"/>
            </a:solidFill>
            <a:prstDash val="solid"/>
          </a:ln>
          <a:effectLst>
            <a:outerShdw blurRad="88900" dist="38100" dir="5400000" algn="bl" rotWithShape="0">
              <a:srgbClr val="000000">
                <a:alpha val="10000"/>
              </a:srgbClr>
            </a:outerShdw>
          </a:effectLst>
        </p:spPr>
        <p:txBody>
          <a:bodyPr/>
          <a:lstStyle/>
          <a:p>
            <a:endParaRPr lang="en-IN"/>
          </a:p>
        </p:txBody>
      </p:sp>
      <p:sp>
        <p:nvSpPr>
          <p:cNvPr id="24" name="Shape 19"/>
          <p:cNvSpPr/>
          <p:nvPr/>
        </p:nvSpPr>
        <p:spPr>
          <a:xfrm>
            <a:off x="777240" y="4325112"/>
            <a:ext cx="548640" cy="548640"/>
          </a:xfrm>
          <a:prstGeom prst="ellipse">
            <a:avLst/>
          </a:prstGeom>
          <a:solidFill>
            <a:srgbClr val="C1352B"/>
          </a:solidFill>
          <a:ln/>
        </p:spPr>
        <p:txBody>
          <a:bodyPr/>
          <a:lstStyle/>
          <a:p>
            <a:endParaRPr lang="en-IN"/>
          </a:p>
        </p:txBody>
      </p:sp>
      <p:sp>
        <p:nvSpPr>
          <p:cNvPr id="25" name="Text 20"/>
          <p:cNvSpPr/>
          <p:nvPr/>
        </p:nvSpPr>
        <p:spPr>
          <a:xfrm>
            <a:off x="777240" y="4343400"/>
            <a:ext cx="548640" cy="512064"/>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4</a:t>
            </a:r>
            <a:endParaRPr lang="en-US" sz="2200" dirty="0"/>
          </a:p>
        </p:txBody>
      </p:sp>
      <p:pic>
        <p:nvPicPr>
          <p:cNvPr id="26" name="Image 3" descr="preencoded.png"/>
          <p:cNvPicPr>
            <a:picLocks noChangeAspect="1"/>
          </p:cNvPicPr>
          <p:nvPr/>
        </p:nvPicPr>
        <p:blipFill>
          <a:blip r:embed="rId6"/>
          <a:stretch>
            <a:fillRect/>
          </a:stretch>
        </p:blipFill>
        <p:spPr>
          <a:xfrm>
            <a:off x="3291840" y="4352544"/>
            <a:ext cx="457200" cy="457200"/>
          </a:xfrm>
          <a:prstGeom prst="rect">
            <a:avLst/>
          </a:prstGeom>
        </p:spPr>
      </p:pic>
      <p:sp>
        <p:nvSpPr>
          <p:cNvPr id="27" name="Text 21"/>
          <p:cNvSpPr/>
          <p:nvPr/>
        </p:nvSpPr>
        <p:spPr>
          <a:xfrm>
            <a:off x="804672" y="4992624"/>
            <a:ext cx="3063240" cy="320040"/>
          </a:xfrm>
          <a:prstGeom prst="rect">
            <a:avLst/>
          </a:prstGeom>
          <a:noFill/>
          <a:ln/>
        </p:spPr>
        <p:txBody>
          <a:bodyPr wrap="square" lIns="0" tIns="0" rIns="0" bIns="0" rtlCol="0" anchor="ctr"/>
          <a:lstStyle/>
          <a:p>
            <a:pPr marL="0" indent="0">
              <a:buNone/>
            </a:pPr>
            <a:r>
              <a:rPr lang="en-US" sz="1500" b="1" dirty="0">
                <a:solidFill>
                  <a:srgbClr val="2B2422"/>
                </a:solidFill>
                <a:latin typeface="Calibri" pitchFamily="34" charset="0"/>
                <a:ea typeface="Calibri" pitchFamily="34" charset="-122"/>
                <a:cs typeface="Calibri" pitchFamily="34" charset="-120"/>
              </a:rPr>
              <a:t>Itemised bill</a:t>
            </a:r>
            <a:endParaRPr lang="en-US" sz="1500" dirty="0"/>
          </a:p>
        </p:txBody>
      </p:sp>
      <p:sp>
        <p:nvSpPr>
          <p:cNvPr id="28" name="Text 22"/>
          <p:cNvSpPr/>
          <p:nvPr/>
        </p:nvSpPr>
        <p:spPr>
          <a:xfrm>
            <a:off x="804672" y="5312664"/>
            <a:ext cx="3063240" cy="320040"/>
          </a:xfrm>
          <a:prstGeom prst="rect">
            <a:avLst/>
          </a:prstGeom>
          <a:noFill/>
          <a:ln/>
        </p:spPr>
        <p:txBody>
          <a:bodyPr wrap="square" lIns="0" tIns="0" rIns="0" bIns="0" rtlCol="0" anchor="ctr"/>
          <a:lstStyle/>
          <a:p>
            <a:pPr marL="0" indent="0">
              <a:buNone/>
            </a:pPr>
            <a:r>
              <a:rPr lang="en-US" sz="1100" dirty="0">
                <a:solidFill>
                  <a:srgbClr val="8A7E76"/>
                </a:solidFill>
                <a:latin typeface="Calibri" pitchFamily="34" charset="0"/>
                <a:ea typeface="Calibri" pitchFamily="34" charset="-122"/>
                <a:cs typeface="Calibri" pitchFamily="34" charset="-120"/>
              </a:rPr>
              <a:t>Engine computes discount + GST</a:t>
            </a:r>
            <a:endParaRPr lang="en-US" sz="1100" dirty="0"/>
          </a:p>
        </p:txBody>
      </p:sp>
      <p:sp>
        <p:nvSpPr>
          <p:cNvPr id="29" name="Shape 23"/>
          <p:cNvSpPr/>
          <p:nvPr/>
        </p:nvSpPr>
        <p:spPr>
          <a:xfrm>
            <a:off x="4379976" y="4096512"/>
            <a:ext cx="3520440" cy="1627632"/>
          </a:xfrm>
          <a:prstGeom prst="roundRect">
            <a:avLst>
              <a:gd name="adj" fmla="val 5618"/>
            </a:avLst>
          </a:prstGeom>
          <a:solidFill>
            <a:srgbClr val="FFFFFF"/>
          </a:solidFill>
          <a:ln w="12700">
            <a:solidFill>
              <a:srgbClr val="E7DCCD"/>
            </a:solidFill>
            <a:prstDash val="solid"/>
          </a:ln>
          <a:effectLst>
            <a:outerShdw blurRad="88900" dist="38100" dir="5400000" algn="bl" rotWithShape="0">
              <a:srgbClr val="000000">
                <a:alpha val="10000"/>
              </a:srgbClr>
            </a:outerShdw>
          </a:effectLst>
        </p:spPr>
        <p:txBody>
          <a:bodyPr/>
          <a:lstStyle/>
          <a:p>
            <a:endParaRPr lang="en-IN"/>
          </a:p>
        </p:txBody>
      </p:sp>
      <p:sp>
        <p:nvSpPr>
          <p:cNvPr id="30" name="Shape 24"/>
          <p:cNvSpPr/>
          <p:nvPr/>
        </p:nvSpPr>
        <p:spPr>
          <a:xfrm>
            <a:off x="4608576" y="4325112"/>
            <a:ext cx="548640" cy="548640"/>
          </a:xfrm>
          <a:prstGeom prst="ellipse">
            <a:avLst/>
          </a:prstGeom>
          <a:solidFill>
            <a:srgbClr val="C1352B"/>
          </a:solidFill>
          <a:ln/>
        </p:spPr>
        <p:txBody>
          <a:bodyPr/>
          <a:lstStyle/>
          <a:p>
            <a:endParaRPr lang="en-IN"/>
          </a:p>
        </p:txBody>
      </p:sp>
      <p:sp>
        <p:nvSpPr>
          <p:cNvPr id="31" name="Text 25"/>
          <p:cNvSpPr/>
          <p:nvPr/>
        </p:nvSpPr>
        <p:spPr>
          <a:xfrm>
            <a:off x="4608576" y="4343400"/>
            <a:ext cx="548640" cy="512064"/>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5</a:t>
            </a:r>
            <a:endParaRPr lang="en-US" sz="2200" dirty="0"/>
          </a:p>
        </p:txBody>
      </p:sp>
      <p:pic>
        <p:nvPicPr>
          <p:cNvPr id="32" name="Image 4" descr="preencoded.png"/>
          <p:cNvPicPr>
            <a:picLocks noChangeAspect="1"/>
          </p:cNvPicPr>
          <p:nvPr/>
        </p:nvPicPr>
        <p:blipFill>
          <a:blip r:embed="rId7"/>
          <a:stretch>
            <a:fillRect/>
          </a:stretch>
        </p:blipFill>
        <p:spPr>
          <a:xfrm>
            <a:off x="7123176" y="4352544"/>
            <a:ext cx="457200" cy="457200"/>
          </a:xfrm>
          <a:prstGeom prst="rect">
            <a:avLst/>
          </a:prstGeom>
        </p:spPr>
      </p:pic>
      <p:sp>
        <p:nvSpPr>
          <p:cNvPr id="33" name="Text 26"/>
          <p:cNvSpPr/>
          <p:nvPr/>
        </p:nvSpPr>
        <p:spPr>
          <a:xfrm>
            <a:off x="4636008" y="4992624"/>
            <a:ext cx="3063240" cy="320040"/>
          </a:xfrm>
          <a:prstGeom prst="rect">
            <a:avLst/>
          </a:prstGeom>
          <a:noFill/>
          <a:ln/>
        </p:spPr>
        <p:txBody>
          <a:bodyPr wrap="square" lIns="0" tIns="0" rIns="0" bIns="0" rtlCol="0" anchor="ctr"/>
          <a:lstStyle/>
          <a:p>
            <a:pPr marL="0" indent="0">
              <a:buNone/>
            </a:pPr>
            <a:r>
              <a:rPr lang="en-US" sz="1500" b="1" dirty="0">
                <a:solidFill>
                  <a:srgbClr val="2B2422"/>
                </a:solidFill>
                <a:latin typeface="Calibri" pitchFamily="34" charset="0"/>
                <a:ea typeface="Calibri" pitchFamily="34" charset="-122"/>
                <a:cs typeface="Calibri" pitchFamily="34" charset="-120"/>
              </a:rPr>
              <a:t>Payment</a:t>
            </a:r>
            <a:endParaRPr lang="en-US" sz="1500" dirty="0"/>
          </a:p>
        </p:txBody>
      </p:sp>
      <p:sp>
        <p:nvSpPr>
          <p:cNvPr id="34" name="Text 27"/>
          <p:cNvSpPr/>
          <p:nvPr/>
        </p:nvSpPr>
        <p:spPr>
          <a:xfrm>
            <a:off x="4636008" y="5312664"/>
            <a:ext cx="3063240" cy="320040"/>
          </a:xfrm>
          <a:prstGeom prst="rect">
            <a:avLst/>
          </a:prstGeom>
          <a:noFill/>
          <a:ln/>
        </p:spPr>
        <p:txBody>
          <a:bodyPr wrap="square" lIns="0" tIns="0" rIns="0" bIns="0" rtlCol="0" anchor="ctr"/>
          <a:lstStyle/>
          <a:p>
            <a:pPr marL="0" indent="0">
              <a:buNone/>
            </a:pPr>
            <a:r>
              <a:rPr lang="en-US" sz="1100" dirty="0">
                <a:solidFill>
                  <a:srgbClr val="8A7E76"/>
                </a:solidFill>
                <a:latin typeface="Calibri" pitchFamily="34" charset="0"/>
                <a:ea typeface="Calibri" pitchFamily="34" charset="-122"/>
                <a:cs typeface="Calibri" pitchFamily="34" charset="-120"/>
              </a:rPr>
              <a:t>Cash / Card / UPI + confirm</a:t>
            </a:r>
            <a:endParaRPr lang="en-US" sz="1100" dirty="0"/>
          </a:p>
        </p:txBody>
      </p:sp>
      <p:sp>
        <p:nvSpPr>
          <p:cNvPr id="35" name="Shape 28"/>
          <p:cNvSpPr/>
          <p:nvPr/>
        </p:nvSpPr>
        <p:spPr>
          <a:xfrm>
            <a:off x="8211312" y="4096512"/>
            <a:ext cx="3520440" cy="1627632"/>
          </a:xfrm>
          <a:prstGeom prst="roundRect">
            <a:avLst>
              <a:gd name="adj" fmla="val 5618"/>
            </a:avLst>
          </a:prstGeom>
          <a:solidFill>
            <a:srgbClr val="FFFFFF"/>
          </a:solidFill>
          <a:ln w="12700">
            <a:solidFill>
              <a:srgbClr val="E7DCCD"/>
            </a:solidFill>
            <a:prstDash val="solid"/>
          </a:ln>
          <a:effectLst>
            <a:outerShdw blurRad="88900" dist="38100" dir="5400000" algn="bl" rotWithShape="0">
              <a:srgbClr val="000000">
                <a:alpha val="10000"/>
              </a:srgbClr>
            </a:outerShdw>
          </a:effectLst>
        </p:spPr>
        <p:txBody>
          <a:bodyPr/>
          <a:lstStyle/>
          <a:p>
            <a:endParaRPr lang="en-IN"/>
          </a:p>
        </p:txBody>
      </p:sp>
      <p:sp>
        <p:nvSpPr>
          <p:cNvPr id="36" name="Shape 29"/>
          <p:cNvSpPr/>
          <p:nvPr/>
        </p:nvSpPr>
        <p:spPr>
          <a:xfrm>
            <a:off x="8439912" y="4325112"/>
            <a:ext cx="548640" cy="548640"/>
          </a:xfrm>
          <a:prstGeom prst="ellipse">
            <a:avLst/>
          </a:prstGeom>
          <a:solidFill>
            <a:srgbClr val="C1352B"/>
          </a:solidFill>
          <a:ln/>
        </p:spPr>
        <p:txBody>
          <a:bodyPr/>
          <a:lstStyle/>
          <a:p>
            <a:endParaRPr lang="en-IN"/>
          </a:p>
        </p:txBody>
      </p:sp>
      <p:sp>
        <p:nvSpPr>
          <p:cNvPr id="37" name="Text 30"/>
          <p:cNvSpPr/>
          <p:nvPr/>
        </p:nvSpPr>
        <p:spPr>
          <a:xfrm>
            <a:off x="8439912" y="4343400"/>
            <a:ext cx="548640" cy="512064"/>
          </a:xfrm>
          <a:prstGeom prst="rect">
            <a:avLst/>
          </a:prstGeom>
          <a:noFill/>
          <a:ln/>
        </p:spPr>
        <p:txBody>
          <a:bodyPr wrap="square" lIns="0" tIns="0" rIns="0" bIns="0" rtlCol="0" anchor="ctr"/>
          <a:lstStyle/>
          <a:p>
            <a:pPr marL="0" indent="0" algn="ctr">
              <a:buNone/>
            </a:pPr>
            <a:r>
              <a:rPr lang="en-US" sz="2200" b="1" dirty="0">
                <a:solidFill>
                  <a:srgbClr val="FFFFFF"/>
                </a:solidFill>
                <a:latin typeface="Cambria" pitchFamily="34" charset="0"/>
                <a:ea typeface="Cambria" pitchFamily="34" charset="-122"/>
                <a:cs typeface="Cambria" pitchFamily="34" charset="-120"/>
              </a:rPr>
              <a:t>6</a:t>
            </a:r>
            <a:endParaRPr lang="en-US" sz="2200" dirty="0"/>
          </a:p>
        </p:txBody>
      </p:sp>
      <p:pic>
        <p:nvPicPr>
          <p:cNvPr id="38" name="Image 5" descr="preencoded.png"/>
          <p:cNvPicPr>
            <a:picLocks noChangeAspect="1"/>
          </p:cNvPicPr>
          <p:nvPr/>
        </p:nvPicPr>
        <p:blipFill>
          <a:blip r:embed="rId8"/>
          <a:stretch>
            <a:fillRect/>
          </a:stretch>
        </p:blipFill>
        <p:spPr>
          <a:xfrm>
            <a:off x="10954512" y="4352544"/>
            <a:ext cx="457200" cy="457200"/>
          </a:xfrm>
          <a:prstGeom prst="rect">
            <a:avLst/>
          </a:prstGeom>
        </p:spPr>
      </p:pic>
      <p:sp>
        <p:nvSpPr>
          <p:cNvPr id="39" name="Text 31"/>
          <p:cNvSpPr/>
          <p:nvPr/>
        </p:nvSpPr>
        <p:spPr>
          <a:xfrm>
            <a:off x="8467344" y="4992624"/>
            <a:ext cx="3063240" cy="320040"/>
          </a:xfrm>
          <a:prstGeom prst="rect">
            <a:avLst/>
          </a:prstGeom>
          <a:noFill/>
          <a:ln/>
        </p:spPr>
        <p:txBody>
          <a:bodyPr wrap="square" lIns="0" tIns="0" rIns="0" bIns="0" rtlCol="0" anchor="ctr"/>
          <a:lstStyle/>
          <a:p>
            <a:pPr marL="0" indent="0">
              <a:buNone/>
            </a:pPr>
            <a:r>
              <a:rPr lang="en-US" sz="1500" b="1" dirty="0">
                <a:solidFill>
                  <a:srgbClr val="2B2422"/>
                </a:solidFill>
                <a:latin typeface="Calibri" pitchFamily="34" charset="0"/>
                <a:ea typeface="Calibri" pitchFamily="34" charset="-122"/>
                <a:cs typeface="Calibri" pitchFamily="34" charset="-120"/>
              </a:rPr>
              <a:t>Saved &amp; confirmed</a:t>
            </a:r>
            <a:endParaRPr lang="en-US" sz="1500" dirty="0"/>
          </a:p>
        </p:txBody>
      </p:sp>
      <p:sp>
        <p:nvSpPr>
          <p:cNvPr id="40" name="Text 32"/>
          <p:cNvSpPr/>
          <p:nvPr/>
        </p:nvSpPr>
        <p:spPr>
          <a:xfrm>
            <a:off x="8467344" y="5312664"/>
            <a:ext cx="3063240" cy="320040"/>
          </a:xfrm>
          <a:prstGeom prst="rect">
            <a:avLst/>
          </a:prstGeom>
          <a:noFill/>
          <a:ln/>
        </p:spPr>
        <p:txBody>
          <a:bodyPr wrap="square" lIns="0" tIns="0" rIns="0" bIns="0" rtlCol="0" anchor="ctr"/>
          <a:lstStyle/>
          <a:p>
            <a:pPr marL="0" indent="0">
              <a:buNone/>
            </a:pPr>
            <a:r>
              <a:rPr lang="en-US" sz="1100" dirty="0">
                <a:solidFill>
                  <a:srgbClr val="8A7E76"/>
                </a:solidFill>
                <a:latin typeface="Calibri" pitchFamily="34" charset="0"/>
                <a:ea typeface="Calibri" pitchFamily="34" charset="-122"/>
                <a:cs typeface="Calibri" pitchFamily="34" charset="-120"/>
              </a:rPr>
              <a:t>Appended to orders_log.txt</a:t>
            </a:r>
            <a:endParaRPr lang="en-US" sz="1100" dirty="0"/>
          </a:p>
        </p:txBody>
      </p:sp>
      <p:sp>
        <p:nvSpPr>
          <p:cNvPr id="41" name="Text 33"/>
          <p:cNvSpPr/>
          <p:nvPr/>
        </p:nvSpPr>
        <p:spPr>
          <a:xfrm>
            <a:off x="502920" y="6473952"/>
            <a:ext cx="5486400" cy="274320"/>
          </a:xfrm>
          <a:prstGeom prst="rect">
            <a:avLst/>
          </a:prstGeom>
          <a:noFill/>
          <a:ln/>
        </p:spPr>
        <p:txBody>
          <a:bodyPr wrap="square" lIns="0" tIns="0" rIns="0" bIns="0" rtlCol="0" anchor="ctr"/>
          <a:lstStyle/>
          <a:p>
            <a:pPr marL="0" indent="0" algn="l">
              <a:buNone/>
            </a:pPr>
            <a:r>
              <a:rPr lang="en-US" sz="900" dirty="0">
                <a:solidFill>
                  <a:srgbClr val="8A7E76"/>
                </a:solidFill>
                <a:latin typeface="Calibri" pitchFamily="34" charset="0"/>
                <a:ea typeface="Calibri" pitchFamily="34" charset="-122"/>
                <a:cs typeface="Calibri" pitchFamily="34" charset="-120"/>
              </a:rPr>
              <a:t>SliceMatic · PizzaFlow MVP Demo</a:t>
            </a:r>
            <a:endParaRPr lang="en-US" sz="900" dirty="0"/>
          </a:p>
        </p:txBody>
      </p:sp>
      <p:sp>
        <p:nvSpPr>
          <p:cNvPr id="42" name="Text 34"/>
          <p:cNvSpPr/>
          <p:nvPr/>
        </p:nvSpPr>
        <p:spPr>
          <a:xfrm>
            <a:off x="11274552" y="6473952"/>
            <a:ext cx="411480" cy="274320"/>
          </a:xfrm>
          <a:prstGeom prst="rect">
            <a:avLst/>
          </a:prstGeom>
          <a:noFill/>
          <a:ln/>
        </p:spPr>
        <p:txBody>
          <a:bodyPr wrap="square" lIns="0" tIns="0" rIns="0" bIns="0" rtlCol="0" anchor="ctr"/>
          <a:lstStyle/>
          <a:p>
            <a:pPr marL="0" indent="0" algn="r">
              <a:buNone/>
            </a:pPr>
            <a:r>
              <a:rPr lang="en-US" sz="900" dirty="0">
                <a:solidFill>
                  <a:srgbClr val="8A7E76"/>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BF6EF"/>
        </a:solidFill>
        <a:effectLst/>
      </p:bgPr>
    </p:bg>
    <p:spTree>
      <p:nvGrpSpPr>
        <p:cNvPr id="1" name=""/>
        <p:cNvGrpSpPr/>
        <p:nvPr/>
      </p:nvGrpSpPr>
      <p:grpSpPr>
        <a:xfrm>
          <a:off x="0" y="0"/>
          <a:ext cx="0" cy="0"/>
          <a:chOff x="0" y="0"/>
          <a:chExt cx="0" cy="0"/>
        </a:xfrm>
      </p:grpSpPr>
      <p:sp>
        <p:nvSpPr>
          <p:cNvPr id="2" name="Text 0"/>
          <p:cNvSpPr/>
          <p:nvPr/>
        </p:nvSpPr>
        <p:spPr>
          <a:xfrm>
            <a:off x="502920" y="457200"/>
            <a:ext cx="8229600" cy="274320"/>
          </a:xfrm>
          <a:prstGeom prst="rect">
            <a:avLst/>
          </a:prstGeom>
          <a:noFill/>
          <a:ln/>
        </p:spPr>
        <p:txBody>
          <a:bodyPr wrap="square" lIns="0" tIns="0" rIns="0" bIns="0" rtlCol="0" anchor="ctr"/>
          <a:lstStyle/>
          <a:p>
            <a:pPr marL="0" indent="0">
              <a:buNone/>
            </a:pPr>
            <a:r>
              <a:rPr lang="en-US" sz="1200" b="1" kern="0" spc="300" dirty="0">
                <a:solidFill>
                  <a:srgbClr val="C1352B"/>
                </a:solidFill>
                <a:latin typeface="Calibri" pitchFamily="34" charset="0"/>
                <a:ea typeface="Calibri" pitchFamily="34" charset="-122"/>
                <a:cs typeface="Calibri" pitchFamily="34" charset="-120"/>
              </a:rPr>
              <a:t>STEP 1 · CUSTOMER INTAKE</a:t>
            </a:r>
            <a:endParaRPr lang="en-US" sz="1200" dirty="0"/>
          </a:p>
        </p:txBody>
      </p:sp>
      <p:sp>
        <p:nvSpPr>
          <p:cNvPr id="3" name="Text 1"/>
          <p:cNvSpPr/>
          <p:nvPr/>
        </p:nvSpPr>
        <p:spPr>
          <a:xfrm>
            <a:off x="475488" y="749808"/>
            <a:ext cx="10515600" cy="685800"/>
          </a:xfrm>
          <a:prstGeom prst="rect">
            <a:avLst/>
          </a:prstGeom>
          <a:noFill/>
          <a:ln/>
        </p:spPr>
        <p:txBody>
          <a:bodyPr wrap="square" lIns="0" tIns="0" rIns="0" bIns="0" rtlCol="0" anchor="ctr"/>
          <a:lstStyle/>
          <a:p>
            <a:pPr marL="0" indent="0">
              <a:buNone/>
            </a:pPr>
            <a:r>
              <a:rPr lang="en-US" sz="3300" b="1" dirty="0">
                <a:solidFill>
                  <a:srgbClr val="2B2422"/>
                </a:solidFill>
                <a:latin typeface="Cambria" pitchFamily="34" charset="0"/>
                <a:ea typeface="Cambria" pitchFamily="34" charset="-122"/>
                <a:cs typeface="Cambria" pitchFamily="34" charset="-120"/>
              </a:rPr>
              <a:t>Name &amp; phone — validated on entry</a:t>
            </a:r>
            <a:endParaRPr lang="en-US" sz="3300" dirty="0"/>
          </a:p>
        </p:txBody>
      </p:sp>
      <p:sp>
        <p:nvSpPr>
          <p:cNvPr id="4" name="Shape 2"/>
          <p:cNvSpPr/>
          <p:nvPr/>
        </p:nvSpPr>
        <p:spPr>
          <a:xfrm>
            <a:off x="548640" y="1874520"/>
            <a:ext cx="365760" cy="365760"/>
          </a:xfrm>
          <a:prstGeom prst="ellipse">
            <a:avLst/>
          </a:prstGeom>
          <a:solidFill>
            <a:srgbClr val="F3EBE0"/>
          </a:solidFill>
          <a:ln/>
        </p:spPr>
        <p:txBody>
          <a:bodyPr/>
          <a:lstStyle/>
          <a:p>
            <a:endParaRPr lang="en-IN"/>
          </a:p>
        </p:txBody>
      </p:sp>
      <p:pic>
        <p:nvPicPr>
          <p:cNvPr id="5" name="Image 0" descr="preencoded.png"/>
          <p:cNvPicPr>
            <a:picLocks noChangeAspect="1"/>
          </p:cNvPicPr>
          <p:nvPr/>
        </p:nvPicPr>
        <p:blipFill>
          <a:blip r:embed="rId3"/>
          <a:stretch>
            <a:fillRect/>
          </a:stretch>
        </p:blipFill>
        <p:spPr>
          <a:xfrm>
            <a:off x="630936" y="1956816"/>
            <a:ext cx="201168" cy="201168"/>
          </a:xfrm>
          <a:prstGeom prst="rect">
            <a:avLst/>
          </a:prstGeom>
        </p:spPr>
      </p:pic>
      <p:sp>
        <p:nvSpPr>
          <p:cNvPr id="6" name="Text 3"/>
          <p:cNvSpPr/>
          <p:nvPr/>
        </p:nvSpPr>
        <p:spPr>
          <a:xfrm>
            <a:off x="1060704" y="1819656"/>
            <a:ext cx="4114800" cy="640080"/>
          </a:xfrm>
          <a:prstGeom prst="rect">
            <a:avLst/>
          </a:prstGeom>
          <a:noFill/>
          <a:ln/>
        </p:spPr>
        <p:txBody>
          <a:bodyPr wrap="square" lIns="0" tIns="0" rIns="0" bIns="0" rtlCol="0" anchor="t"/>
          <a:lstStyle/>
          <a:p>
            <a:pPr marL="0" indent="0">
              <a:lnSpc>
                <a:spcPct val="102000"/>
              </a:lnSpc>
              <a:buNone/>
            </a:pPr>
            <a:r>
              <a:rPr lang="en-US" sz="1250" b="1" dirty="0">
                <a:solidFill>
                  <a:srgbClr val="2B2422"/>
                </a:solidFill>
                <a:latin typeface="Calibri" pitchFamily="34" charset="0"/>
                <a:ea typeface="Calibri" pitchFamily="34" charset="-122"/>
                <a:cs typeface="Calibri" pitchFamily="34" charset="-120"/>
              </a:rPr>
              <a:t>Name  </a:t>
            </a:r>
            <a:r>
              <a:rPr lang="en-US" sz="1250" dirty="0">
                <a:solidFill>
                  <a:srgbClr val="8A7E76"/>
                </a:solidFill>
                <a:latin typeface="Calibri" pitchFamily="34" charset="0"/>
                <a:ea typeface="Calibri" pitchFamily="34" charset="-122"/>
                <a:cs typeface="Calibri" pitchFamily="34" charset="-120"/>
              </a:rPr>
              <a:t>alphabets &amp; spaces only, 2–40 characters.</a:t>
            </a:r>
            <a:endParaRPr lang="en-US" sz="1250" dirty="0"/>
          </a:p>
        </p:txBody>
      </p:sp>
      <p:sp>
        <p:nvSpPr>
          <p:cNvPr id="7" name="Shape 4"/>
          <p:cNvSpPr/>
          <p:nvPr/>
        </p:nvSpPr>
        <p:spPr>
          <a:xfrm>
            <a:off x="548640" y="2715768"/>
            <a:ext cx="365760" cy="365760"/>
          </a:xfrm>
          <a:prstGeom prst="ellipse">
            <a:avLst/>
          </a:prstGeom>
          <a:solidFill>
            <a:srgbClr val="F3EBE0"/>
          </a:solidFill>
          <a:ln/>
        </p:spPr>
        <p:txBody>
          <a:bodyPr/>
          <a:lstStyle/>
          <a:p>
            <a:endParaRPr lang="en-IN"/>
          </a:p>
        </p:txBody>
      </p:sp>
      <p:pic>
        <p:nvPicPr>
          <p:cNvPr id="8" name="Image 1" descr="preencoded.png"/>
          <p:cNvPicPr>
            <a:picLocks noChangeAspect="1"/>
          </p:cNvPicPr>
          <p:nvPr/>
        </p:nvPicPr>
        <p:blipFill>
          <a:blip r:embed="rId3"/>
          <a:stretch>
            <a:fillRect/>
          </a:stretch>
        </p:blipFill>
        <p:spPr>
          <a:xfrm>
            <a:off x="630936" y="2798064"/>
            <a:ext cx="201168" cy="201168"/>
          </a:xfrm>
          <a:prstGeom prst="rect">
            <a:avLst/>
          </a:prstGeom>
        </p:spPr>
      </p:pic>
      <p:sp>
        <p:nvSpPr>
          <p:cNvPr id="9" name="Text 5"/>
          <p:cNvSpPr/>
          <p:nvPr/>
        </p:nvSpPr>
        <p:spPr>
          <a:xfrm>
            <a:off x="1060704" y="2660904"/>
            <a:ext cx="4114800" cy="640080"/>
          </a:xfrm>
          <a:prstGeom prst="rect">
            <a:avLst/>
          </a:prstGeom>
          <a:noFill/>
          <a:ln/>
        </p:spPr>
        <p:txBody>
          <a:bodyPr wrap="square" lIns="0" tIns="0" rIns="0" bIns="0" rtlCol="0" anchor="t"/>
          <a:lstStyle/>
          <a:p>
            <a:pPr marL="0" indent="0">
              <a:lnSpc>
                <a:spcPct val="102000"/>
              </a:lnSpc>
              <a:buNone/>
            </a:pPr>
            <a:r>
              <a:rPr lang="en-US" sz="1250" b="1" dirty="0">
                <a:solidFill>
                  <a:srgbClr val="2B2422"/>
                </a:solidFill>
                <a:latin typeface="Calibri" pitchFamily="34" charset="0"/>
                <a:ea typeface="Calibri" pitchFamily="34" charset="-122"/>
                <a:cs typeface="Calibri" pitchFamily="34" charset="-120"/>
              </a:rPr>
              <a:t>Phone  </a:t>
            </a:r>
            <a:r>
              <a:rPr lang="en-US" sz="1250" dirty="0">
                <a:solidFill>
                  <a:srgbClr val="8A7E76"/>
                </a:solidFill>
                <a:latin typeface="Calibri" pitchFamily="34" charset="0"/>
                <a:ea typeface="Calibri" pitchFamily="34" charset="-122"/>
                <a:cs typeface="Calibri" pitchFamily="34" charset="-120"/>
              </a:rPr>
              <a:t>exactly 10 digits, must start with 6, 7, 8 or 9.</a:t>
            </a:r>
            <a:endParaRPr lang="en-US" sz="1250" dirty="0"/>
          </a:p>
        </p:txBody>
      </p:sp>
      <p:sp>
        <p:nvSpPr>
          <p:cNvPr id="10" name="Shape 6"/>
          <p:cNvSpPr/>
          <p:nvPr/>
        </p:nvSpPr>
        <p:spPr>
          <a:xfrm>
            <a:off x="548640" y="3557016"/>
            <a:ext cx="365760" cy="365760"/>
          </a:xfrm>
          <a:prstGeom prst="ellipse">
            <a:avLst/>
          </a:prstGeom>
          <a:solidFill>
            <a:srgbClr val="F3EBE0"/>
          </a:solidFill>
          <a:ln/>
        </p:spPr>
        <p:txBody>
          <a:bodyPr/>
          <a:lstStyle/>
          <a:p>
            <a:endParaRPr lang="en-IN"/>
          </a:p>
        </p:txBody>
      </p:sp>
      <p:pic>
        <p:nvPicPr>
          <p:cNvPr id="11" name="Image 2" descr="preencoded.png"/>
          <p:cNvPicPr>
            <a:picLocks noChangeAspect="1"/>
          </p:cNvPicPr>
          <p:nvPr/>
        </p:nvPicPr>
        <p:blipFill>
          <a:blip r:embed="rId3"/>
          <a:stretch>
            <a:fillRect/>
          </a:stretch>
        </p:blipFill>
        <p:spPr>
          <a:xfrm>
            <a:off x="630936" y="3639312"/>
            <a:ext cx="201168" cy="201168"/>
          </a:xfrm>
          <a:prstGeom prst="rect">
            <a:avLst/>
          </a:prstGeom>
        </p:spPr>
      </p:pic>
      <p:sp>
        <p:nvSpPr>
          <p:cNvPr id="12" name="Text 7"/>
          <p:cNvSpPr/>
          <p:nvPr/>
        </p:nvSpPr>
        <p:spPr>
          <a:xfrm>
            <a:off x="1060704" y="3502152"/>
            <a:ext cx="4114800" cy="640080"/>
          </a:xfrm>
          <a:prstGeom prst="rect">
            <a:avLst/>
          </a:prstGeom>
          <a:noFill/>
          <a:ln/>
        </p:spPr>
        <p:txBody>
          <a:bodyPr wrap="square" lIns="0" tIns="0" rIns="0" bIns="0" rtlCol="0" anchor="t"/>
          <a:lstStyle/>
          <a:p>
            <a:pPr marL="0" indent="0">
              <a:lnSpc>
                <a:spcPct val="102000"/>
              </a:lnSpc>
              <a:buNone/>
            </a:pPr>
            <a:r>
              <a:rPr lang="en-US" sz="1250" b="1" dirty="0">
                <a:solidFill>
                  <a:srgbClr val="2B2422"/>
                </a:solidFill>
                <a:latin typeface="Calibri" pitchFamily="34" charset="0"/>
                <a:ea typeface="Calibri" pitchFamily="34" charset="-122"/>
                <a:cs typeface="Calibri" pitchFamily="34" charset="-120"/>
              </a:rPr>
              <a:t>Session  </a:t>
            </a:r>
            <a:r>
              <a:rPr lang="en-US" sz="1250" dirty="0">
                <a:solidFill>
                  <a:srgbClr val="8A7E76"/>
                </a:solidFill>
                <a:latin typeface="Calibri" pitchFamily="34" charset="0"/>
                <a:ea typeface="Calibri" pitchFamily="34" charset="-122"/>
                <a:cs typeface="Calibri" pitchFamily="34" charset="-120"/>
              </a:rPr>
              <a:t>timestamp logged the moment the order starts.</a:t>
            </a:r>
            <a:endParaRPr lang="en-US" sz="1250" dirty="0"/>
          </a:p>
        </p:txBody>
      </p:sp>
      <p:sp>
        <p:nvSpPr>
          <p:cNvPr id="13" name="Shape 8"/>
          <p:cNvSpPr/>
          <p:nvPr/>
        </p:nvSpPr>
        <p:spPr>
          <a:xfrm>
            <a:off x="548640" y="4398264"/>
            <a:ext cx="365760" cy="365760"/>
          </a:xfrm>
          <a:prstGeom prst="ellipse">
            <a:avLst/>
          </a:prstGeom>
          <a:solidFill>
            <a:srgbClr val="F3EBE0"/>
          </a:solidFill>
          <a:ln/>
        </p:spPr>
        <p:txBody>
          <a:bodyPr/>
          <a:lstStyle/>
          <a:p>
            <a:endParaRPr lang="en-IN"/>
          </a:p>
        </p:txBody>
      </p:sp>
      <p:pic>
        <p:nvPicPr>
          <p:cNvPr id="14" name="Image 3" descr="preencoded.png"/>
          <p:cNvPicPr>
            <a:picLocks noChangeAspect="1"/>
          </p:cNvPicPr>
          <p:nvPr/>
        </p:nvPicPr>
        <p:blipFill>
          <a:blip r:embed="rId4"/>
          <a:stretch>
            <a:fillRect/>
          </a:stretch>
        </p:blipFill>
        <p:spPr>
          <a:xfrm>
            <a:off x="630936" y="4480560"/>
            <a:ext cx="201168" cy="201168"/>
          </a:xfrm>
          <a:prstGeom prst="rect">
            <a:avLst/>
          </a:prstGeom>
        </p:spPr>
      </p:pic>
      <p:sp>
        <p:nvSpPr>
          <p:cNvPr id="15" name="Text 9"/>
          <p:cNvSpPr/>
          <p:nvPr/>
        </p:nvSpPr>
        <p:spPr>
          <a:xfrm>
            <a:off x="1060704" y="4343400"/>
            <a:ext cx="4114800" cy="640080"/>
          </a:xfrm>
          <a:prstGeom prst="rect">
            <a:avLst/>
          </a:prstGeom>
          <a:noFill/>
          <a:ln/>
        </p:spPr>
        <p:txBody>
          <a:bodyPr wrap="square" lIns="0" tIns="0" rIns="0" bIns="0" rtlCol="0" anchor="t"/>
          <a:lstStyle/>
          <a:p>
            <a:pPr marL="0" indent="0">
              <a:lnSpc>
                <a:spcPct val="102000"/>
              </a:lnSpc>
              <a:buNone/>
            </a:pPr>
            <a:r>
              <a:rPr lang="en-US" sz="1250" b="1" dirty="0">
                <a:solidFill>
                  <a:srgbClr val="2B2422"/>
                </a:solidFill>
                <a:latin typeface="Calibri" pitchFamily="34" charset="0"/>
                <a:ea typeface="Calibri" pitchFamily="34" charset="-122"/>
                <a:cs typeface="Calibri" pitchFamily="34" charset="-120"/>
              </a:rPr>
              <a:t>Rejected input  </a:t>
            </a:r>
            <a:r>
              <a:rPr lang="en-US" sz="1250" dirty="0">
                <a:solidFill>
                  <a:srgbClr val="8A7E76"/>
                </a:solidFill>
                <a:latin typeface="Calibri" pitchFamily="34" charset="0"/>
                <a:ea typeface="Calibri" pitchFamily="34" charset="-122"/>
                <a:cs typeface="Calibri" pitchFamily="34" charset="-120"/>
              </a:rPr>
              <a:t>gets a specific message, then re-prompts.</a:t>
            </a:r>
            <a:endParaRPr lang="en-US" sz="1250" dirty="0"/>
          </a:p>
        </p:txBody>
      </p:sp>
      <p:sp>
        <p:nvSpPr>
          <p:cNvPr id="16" name="Text 10"/>
          <p:cNvSpPr/>
          <p:nvPr/>
        </p:nvSpPr>
        <p:spPr>
          <a:xfrm>
            <a:off x="502920" y="5074920"/>
            <a:ext cx="1828800" cy="1280160"/>
          </a:xfrm>
          <a:prstGeom prst="rect">
            <a:avLst/>
          </a:prstGeom>
          <a:noFill/>
          <a:ln/>
        </p:spPr>
        <p:txBody>
          <a:bodyPr wrap="square" lIns="0" tIns="0" rIns="0" bIns="0" rtlCol="0" anchor="ctr"/>
          <a:lstStyle/>
          <a:p>
            <a:pPr marL="0" indent="0">
              <a:buNone/>
            </a:pPr>
            <a:r>
              <a:rPr lang="en-US" sz="9000" b="1" dirty="0">
                <a:solidFill>
                  <a:srgbClr val="C1352B">
                    <a:alpha val="18000"/>
                  </a:srgbClr>
                </a:solidFill>
                <a:latin typeface="Cambria" pitchFamily="34" charset="0"/>
                <a:ea typeface="Cambria" pitchFamily="34" charset="-122"/>
                <a:cs typeface="Cambria" pitchFamily="34" charset="-120"/>
              </a:rPr>
              <a:t>1</a:t>
            </a:r>
            <a:endParaRPr lang="en-US" sz="9000" dirty="0"/>
          </a:p>
        </p:txBody>
      </p:sp>
      <p:sp>
        <p:nvSpPr>
          <p:cNvPr id="17" name="Shape 11"/>
          <p:cNvSpPr/>
          <p:nvPr/>
        </p:nvSpPr>
        <p:spPr>
          <a:xfrm>
            <a:off x="5577840" y="1783080"/>
            <a:ext cx="6080760" cy="4434840"/>
          </a:xfrm>
          <a:prstGeom prst="roundRect">
            <a:avLst>
              <a:gd name="adj" fmla="val 1856"/>
            </a:avLst>
          </a:prstGeom>
          <a:solidFill>
            <a:srgbClr val="FFFFFF"/>
          </a:solidFill>
          <a:ln w="12700">
            <a:solidFill>
              <a:srgbClr val="E7DCCD"/>
            </a:solidFill>
            <a:prstDash val="solid"/>
          </a:ln>
          <a:effectLst>
            <a:outerShdw blurRad="88900" dist="38100" dir="5400000" algn="bl" rotWithShape="0">
              <a:srgbClr val="000000">
                <a:alpha val="16000"/>
              </a:srgbClr>
            </a:outerShdw>
          </a:effectLst>
        </p:spPr>
        <p:txBody>
          <a:bodyPr/>
          <a:lstStyle/>
          <a:p>
            <a:endParaRPr lang="en-IN" dirty="0"/>
          </a:p>
        </p:txBody>
      </p:sp>
      <p:sp>
        <p:nvSpPr>
          <p:cNvPr id="18" name="Shape 12"/>
          <p:cNvSpPr/>
          <p:nvPr/>
        </p:nvSpPr>
        <p:spPr>
          <a:xfrm>
            <a:off x="5577840" y="1783080"/>
            <a:ext cx="6080760" cy="384048"/>
          </a:xfrm>
          <a:prstGeom prst="roundRect">
            <a:avLst>
              <a:gd name="adj" fmla="val 21429"/>
            </a:avLst>
          </a:prstGeom>
          <a:solidFill>
            <a:srgbClr val="F3EBE0"/>
          </a:solidFill>
          <a:ln/>
        </p:spPr>
        <p:txBody>
          <a:bodyPr/>
          <a:lstStyle/>
          <a:p>
            <a:endParaRPr lang="en-IN"/>
          </a:p>
        </p:txBody>
      </p:sp>
      <p:sp>
        <p:nvSpPr>
          <p:cNvPr id="19" name="Shape 13"/>
          <p:cNvSpPr/>
          <p:nvPr/>
        </p:nvSpPr>
        <p:spPr>
          <a:xfrm>
            <a:off x="5577840" y="2057400"/>
            <a:ext cx="6080760" cy="109728"/>
          </a:xfrm>
          <a:prstGeom prst="rect">
            <a:avLst/>
          </a:prstGeom>
          <a:solidFill>
            <a:srgbClr val="F3EBE0"/>
          </a:solidFill>
          <a:ln/>
        </p:spPr>
        <p:txBody>
          <a:bodyPr/>
          <a:lstStyle/>
          <a:p>
            <a:endParaRPr lang="en-IN"/>
          </a:p>
        </p:txBody>
      </p:sp>
      <p:sp>
        <p:nvSpPr>
          <p:cNvPr id="20" name="Shape 14"/>
          <p:cNvSpPr/>
          <p:nvPr/>
        </p:nvSpPr>
        <p:spPr>
          <a:xfrm>
            <a:off x="5724144" y="1933956"/>
            <a:ext cx="82296" cy="82296"/>
          </a:xfrm>
          <a:prstGeom prst="ellipse">
            <a:avLst/>
          </a:prstGeom>
          <a:solidFill>
            <a:srgbClr val="E06C5E"/>
          </a:solidFill>
          <a:ln/>
        </p:spPr>
        <p:txBody>
          <a:bodyPr/>
          <a:lstStyle/>
          <a:p>
            <a:endParaRPr lang="en-IN"/>
          </a:p>
        </p:txBody>
      </p:sp>
      <p:sp>
        <p:nvSpPr>
          <p:cNvPr id="21" name="Shape 15"/>
          <p:cNvSpPr/>
          <p:nvPr/>
        </p:nvSpPr>
        <p:spPr>
          <a:xfrm>
            <a:off x="5888736" y="1933956"/>
            <a:ext cx="82296" cy="82296"/>
          </a:xfrm>
          <a:prstGeom prst="ellipse">
            <a:avLst/>
          </a:prstGeom>
          <a:solidFill>
            <a:srgbClr val="E8C15A"/>
          </a:solidFill>
          <a:ln/>
        </p:spPr>
        <p:txBody>
          <a:bodyPr/>
          <a:lstStyle/>
          <a:p>
            <a:endParaRPr lang="en-IN"/>
          </a:p>
        </p:txBody>
      </p:sp>
      <p:sp>
        <p:nvSpPr>
          <p:cNvPr id="22" name="Shape 16"/>
          <p:cNvSpPr/>
          <p:nvPr/>
        </p:nvSpPr>
        <p:spPr>
          <a:xfrm>
            <a:off x="6053328" y="1933956"/>
            <a:ext cx="82296" cy="82296"/>
          </a:xfrm>
          <a:prstGeom prst="ellipse">
            <a:avLst/>
          </a:prstGeom>
          <a:solidFill>
            <a:srgbClr val="7FB98B"/>
          </a:solidFill>
          <a:ln/>
        </p:spPr>
        <p:txBody>
          <a:bodyPr/>
          <a:lstStyle/>
          <a:p>
            <a:endParaRPr lang="en-IN"/>
          </a:p>
        </p:txBody>
      </p:sp>
      <p:sp>
        <p:nvSpPr>
          <p:cNvPr id="23" name="Shape 17"/>
          <p:cNvSpPr/>
          <p:nvPr/>
        </p:nvSpPr>
        <p:spPr>
          <a:xfrm>
            <a:off x="6291072" y="1856232"/>
            <a:ext cx="5166360" cy="237744"/>
          </a:xfrm>
          <a:prstGeom prst="roundRect">
            <a:avLst>
              <a:gd name="adj" fmla="val 23077"/>
            </a:avLst>
          </a:prstGeom>
          <a:solidFill>
            <a:srgbClr val="FFFFFF"/>
          </a:solidFill>
          <a:ln w="9525">
            <a:solidFill>
              <a:srgbClr val="E7DCCD"/>
            </a:solidFill>
            <a:prstDash val="solid"/>
          </a:ln>
        </p:spPr>
        <p:txBody>
          <a:bodyPr/>
          <a:lstStyle/>
          <a:p>
            <a:endParaRPr lang="en-IN" dirty="0"/>
          </a:p>
        </p:txBody>
      </p:sp>
      <p:pic>
        <p:nvPicPr>
          <p:cNvPr id="24" name="Image 4" descr="preencoded.png"/>
          <p:cNvPicPr>
            <a:picLocks noChangeAspect="1"/>
          </p:cNvPicPr>
          <p:nvPr/>
        </p:nvPicPr>
        <p:blipFill>
          <a:blip r:embed="rId5"/>
          <a:stretch>
            <a:fillRect/>
          </a:stretch>
        </p:blipFill>
        <p:spPr>
          <a:xfrm>
            <a:off x="6382512" y="1920240"/>
            <a:ext cx="109728" cy="109728"/>
          </a:xfrm>
          <a:prstGeom prst="rect">
            <a:avLst/>
          </a:prstGeom>
        </p:spPr>
      </p:pic>
      <p:sp>
        <p:nvSpPr>
          <p:cNvPr id="25" name="Text 18"/>
          <p:cNvSpPr/>
          <p:nvPr/>
        </p:nvSpPr>
        <p:spPr>
          <a:xfrm>
            <a:off x="6547104" y="1856232"/>
            <a:ext cx="4846320" cy="237744"/>
          </a:xfrm>
          <a:prstGeom prst="rect">
            <a:avLst/>
          </a:prstGeom>
          <a:noFill/>
          <a:ln/>
        </p:spPr>
        <p:txBody>
          <a:bodyPr wrap="square" lIns="0" tIns="0" rIns="0" bIns="0" rtlCol="0" anchor="ctr"/>
          <a:lstStyle/>
          <a:p>
            <a:pPr marL="0" indent="0" algn="l">
              <a:buNone/>
            </a:pPr>
            <a:r>
              <a:rPr lang="en-US" sz="950" dirty="0">
                <a:solidFill>
                  <a:srgbClr val="8A7E76"/>
                </a:solidFill>
                <a:latin typeface="Calibri" pitchFamily="34" charset="0"/>
                <a:ea typeface="Calibri" pitchFamily="34" charset="-122"/>
                <a:cs typeface="Calibri" pitchFamily="34" charset="-120"/>
              </a:rPr>
              <a:t>moulsai2296-pizzaflow-v2.hf.space</a:t>
            </a:r>
            <a:endParaRPr lang="en-US" sz="950" dirty="0"/>
          </a:p>
        </p:txBody>
      </p:sp>
      <p:pic>
        <p:nvPicPr>
          <p:cNvPr id="27" name="Image 5" descr="preencoded.png"/>
          <p:cNvPicPr>
            <a:picLocks noChangeAspect="1"/>
          </p:cNvPicPr>
          <p:nvPr/>
        </p:nvPicPr>
        <p:blipFill>
          <a:blip r:embed="rId6">
            <a:alphaModFix amt="70000"/>
          </a:blip>
          <a:stretch>
            <a:fillRect/>
          </a:stretch>
        </p:blipFill>
        <p:spPr>
          <a:xfrm>
            <a:off x="8362188" y="3625596"/>
            <a:ext cx="512064" cy="512064"/>
          </a:xfrm>
          <a:prstGeom prst="rect">
            <a:avLst/>
          </a:prstGeom>
        </p:spPr>
      </p:pic>
      <p:sp>
        <p:nvSpPr>
          <p:cNvPr id="28" name="Text 20"/>
          <p:cNvSpPr/>
          <p:nvPr/>
        </p:nvSpPr>
        <p:spPr>
          <a:xfrm>
            <a:off x="5852160" y="4229100"/>
            <a:ext cx="5532120" cy="274320"/>
          </a:xfrm>
          <a:prstGeom prst="rect">
            <a:avLst/>
          </a:prstGeom>
          <a:noFill/>
          <a:ln/>
        </p:spPr>
        <p:txBody>
          <a:bodyPr wrap="square" lIns="0" tIns="0" rIns="0" bIns="0" rtlCol="0" anchor="ctr"/>
          <a:lstStyle/>
          <a:p>
            <a:pPr marL="0" indent="0" algn="ctr">
              <a:buNone/>
            </a:pPr>
            <a:r>
              <a:rPr lang="en-US" sz="1100" b="1" dirty="0">
                <a:solidFill>
                  <a:srgbClr val="C1352B"/>
                </a:solidFill>
                <a:latin typeface="Calibri" pitchFamily="34" charset="0"/>
                <a:ea typeface="Calibri" pitchFamily="34" charset="-122"/>
                <a:cs typeface="Calibri" pitchFamily="34" charset="-120"/>
              </a:rPr>
              <a:t>Screenshot</a:t>
            </a:r>
            <a:endParaRPr lang="en-US" sz="1100" dirty="0"/>
          </a:p>
        </p:txBody>
      </p:sp>
      <p:sp>
        <p:nvSpPr>
          <p:cNvPr id="29" name="Text 21"/>
          <p:cNvSpPr/>
          <p:nvPr/>
        </p:nvSpPr>
        <p:spPr>
          <a:xfrm>
            <a:off x="5852160" y="4485132"/>
            <a:ext cx="5532120" cy="457200"/>
          </a:xfrm>
          <a:prstGeom prst="rect">
            <a:avLst/>
          </a:prstGeom>
          <a:noFill/>
          <a:ln/>
        </p:spPr>
        <p:txBody>
          <a:bodyPr wrap="square" lIns="0" tIns="0" rIns="0" bIns="0" rtlCol="0" anchor="ctr"/>
          <a:lstStyle/>
          <a:p>
            <a:pPr marL="0" indent="0" algn="ctr">
              <a:buNone/>
            </a:pPr>
            <a:r>
              <a:rPr lang="en-US" sz="1000" i="1" dirty="0">
                <a:solidFill>
                  <a:srgbClr val="8A7E76"/>
                </a:solidFill>
                <a:latin typeface="Calibri" pitchFamily="34" charset="0"/>
                <a:ea typeface="Calibri" pitchFamily="34" charset="-122"/>
                <a:cs typeface="Calibri" pitchFamily="34" charset="-120"/>
              </a:rPr>
              <a:t>Name + phone entry screen (try a valid name &amp; 10-digit number)</a:t>
            </a:r>
            <a:endParaRPr lang="en-US" sz="1000" dirty="0"/>
          </a:p>
        </p:txBody>
      </p:sp>
      <p:sp>
        <p:nvSpPr>
          <p:cNvPr id="30" name="Text 22"/>
          <p:cNvSpPr/>
          <p:nvPr/>
        </p:nvSpPr>
        <p:spPr>
          <a:xfrm>
            <a:off x="502920" y="6473952"/>
            <a:ext cx="5486400" cy="274320"/>
          </a:xfrm>
          <a:prstGeom prst="rect">
            <a:avLst/>
          </a:prstGeom>
          <a:noFill/>
          <a:ln/>
        </p:spPr>
        <p:txBody>
          <a:bodyPr wrap="square" lIns="0" tIns="0" rIns="0" bIns="0" rtlCol="0" anchor="ctr"/>
          <a:lstStyle/>
          <a:p>
            <a:pPr marL="0" indent="0" algn="l">
              <a:buNone/>
            </a:pPr>
            <a:r>
              <a:rPr lang="en-US" sz="900" dirty="0">
                <a:solidFill>
                  <a:srgbClr val="8A7E76"/>
                </a:solidFill>
                <a:latin typeface="Calibri" pitchFamily="34" charset="0"/>
                <a:ea typeface="Calibri" pitchFamily="34" charset="-122"/>
                <a:cs typeface="Calibri" pitchFamily="34" charset="-120"/>
              </a:rPr>
              <a:t>SliceMatic · PizzaFlow MVP Demo</a:t>
            </a:r>
            <a:endParaRPr lang="en-US" sz="900" dirty="0"/>
          </a:p>
        </p:txBody>
      </p:sp>
      <p:sp>
        <p:nvSpPr>
          <p:cNvPr id="31" name="Text 23"/>
          <p:cNvSpPr/>
          <p:nvPr/>
        </p:nvSpPr>
        <p:spPr>
          <a:xfrm>
            <a:off x="11274552" y="6473952"/>
            <a:ext cx="411480" cy="274320"/>
          </a:xfrm>
          <a:prstGeom prst="rect">
            <a:avLst/>
          </a:prstGeom>
          <a:noFill/>
          <a:ln/>
        </p:spPr>
        <p:txBody>
          <a:bodyPr wrap="square" lIns="0" tIns="0" rIns="0" bIns="0" rtlCol="0" anchor="ctr"/>
          <a:lstStyle/>
          <a:p>
            <a:pPr marL="0" indent="0" algn="r">
              <a:buNone/>
            </a:pPr>
            <a:r>
              <a:rPr lang="en-US" sz="900" dirty="0">
                <a:solidFill>
                  <a:srgbClr val="8A7E76"/>
                </a:solidFill>
                <a:latin typeface="Calibri" pitchFamily="34" charset="0"/>
                <a:ea typeface="Calibri" pitchFamily="34" charset="-122"/>
                <a:cs typeface="Calibri" pitchFamily="34" charset="-120"/>
              </a:rPr>
              <a:t>4</a:t>
            </a:r>
            <a:endParaRPr lang="en-US" sz="900" dirty="0"/>
          </a:p>
        </p:txBody>
      </p:sp>
      <p:pic>
        <p:nvPicPr>
          <p:cNvPr id="33" name="Picture 32">
            <a:extLst>
              <a:ext uri="{FF2B5EF4-FFF2-40B4-BE49-F238E27FC236}">
                <a16:creationId xmlns:a16="http://schemas.microsoft.com/office/drawing/2014/main" id="{B60215D2-3EDD-854F-4E92-9B5B28D28539}"/>
              </a:ext>
            </a:extLst>
          </p:cNvPr>
          <p:cNvPicPr>
            <a:picLocks noChangeAspect="1"/>
          </p:cNvPicPr>
          <p:nvPr/>
        </p:nvPicPr>
        <p:blipFill>
          <a:blip r:embed="rId7"/>
          <a:stretch>
            <a:fillRect/>
          </a:stretch>
        </p:blipFill>
        <p:spPr>
          <a:xfrm>
            <a:off x="5605273" y="2180844"/>
            <a:ext cx="6053327" cy="40005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BF6EF"/>
        </a:solidFill>
        <a:effectLst/>
      </p:bgPr>
    </p:bg>
    <p:spTree>
      <p:nvGrpSpPr>
        <p:cNvPr id="1" name=""/>
        <p:cNvGrpSpPr/>
        <p:nvPr/>
      </p:nvGrpSpPr>
      <p:grpSpPr>
        <a:xfrm>
          <a:off x="0" y="0"/>
          <a:ext cx="0" cy="0"/>
          <a:chOff x="0" y="0"/>
          <a:chExt cx="0" cy="0"/>
        </a:xfrm>
      </p:grpSpPr>
      <p:sp>
        <p:nvSpPr>
          <p:cNvPr id="2" name="Text 0"/>
          <p:cNvSpPr/>
          <p:nvPr/>
        </p:nvSpPr>
        <p:spPr>
          <a:xfrm>
            <a:off x="502920" y="457200"/>
            <a:ext cx="8229600" cy="274320"/>
          </a:xfrm>
          <a:prstGeom prst="rect">
            <a:avLst/>
          </a:prstGeom>
          <a:noFill/>
          <a:ln/>
        </p:spPr>
        <p:txBody>
          <a:bodyPr wrap="square" lIns="0" tIns="0" rIns="0" bIns="0" rtlCol="0" anchor="ctr"/>
          <a:lstStyle/>
          <a:p>
            <a:pPr marL="0" indent="0">
              <a:buNone/>
            </a:pPr>
            <a:r>
              <a:rPr lang="en-US" sz="1200" b="1" kern="0" spc="300" dirty="0">
                <a:solidFill>
                  <a:srgbClr val="C1352B"/>
                </a:solidFill>
                <a:latin typeface="Calibri" pitchFamily="34" charset="0"/>
                <a:ea typeface="Calibri" pitchFamily="34" charset="-122"/>
                <a:cs typeface="Calibri" pitchFamily="34" charset="-120"/>
              </a:rPr>
              <a:t>STEP 2 · MENU SELECTION</a:t>
            </a:r>
            <a:endParaRPr lang="en-US" sz="1200" dirty="0"/>
          </a:p>
        </p:txBody>
      </p:sp>
      <p:sp>
        <p:nvSpPr>
          <p:cNvPr id="3" name="Text 1"/>
          <p:cNvSpPr/>
          <p:nvPr/>
        </p:nvSpPr>
        <p:spPr>
          <a:xfrm>
            <a:off x="475488" y="749808"/>
            <a:ext cx="10515600" cy="685800"/>
          </a:xfrm>
          <a:prstGeom prst="rect">
            <a:avLst/>
          </a:prstGeom>
          <a:noFill/>
          <a:ln/>
        </p:spPr>
        <p:txBody>
          <a:bodyPr wrap="square" lIns="0" tIns="0" rIns="0" bIns="0" rtlCol="0" anchor="ctr"/>
          <a:lstStyle/>
          <a:p>
            <a:pPr marL="0" indent="0">
              <a:buNone/>
            </a:pPr>
            <a:r>
              <a:rPr lang="en-US" sz="3300" b="1" dirty="0">
                <a:solidFill>
                  <a:srgbClr val="2B2422"/>
                </a:solidFill>
                <a:latin typeface="Cambria" pitchFamily="34" charset="0"/>
                <a:ea typeface="Cambria" pitchFamily="34" charset="-122"/>
                <a:cs typeface="Cambria" pitchFamily="34" charset="-120"/>
              </a:rPr>
              <a:t>Pick base, pizza &amp; topping — by number</a:t>
            </a:r>
            <a:endParaRPr lang="en-US" sz="3300" dirty="0"/>
          </a:p>
        </p:txBody>
      </p:sp>
      <p:sp>
        <p:nvSpPr>
          <p:cNvPr id="4" name="Shape 2"/>
          <p:cNvSpPr/>
          <p:nvPr/>
        </p:nvSpPr>
        <p:spPr>
          <a:xfrm>
            <a:off x="548640" y="1874520"/>
            <a:ext cx="365760" cy="365760"/>
          </a:xfrm>
          <a:prstGeom prst="ellipse">
            <a:avLst/>
          </a:prstGeom>
          <a:solidFill>
            <a:srgbClr val="F3EBE0"/>
          </a:solidFill>
          <a:ln/>
        </p:spPr>
        <p:txBody>
          <a:bodyPr/>
          <a:lstStyle/>
          <a:p>
            <a:endParaRPr lang="en-IN"/>
          </a:p>
        </p:txBody>
      </p:sp>
      <p:pic>
        <p:nvPicPr>
          <p:cNvPr id="5" name="Image 0" descr="preencoded.png"/>
          <p:cNvPicPr>
            <a:picLocks noChangeAspect="1"/>
          </p:cNvPicPr>
          <p:nvPr/>
        </p:nvPicPr>
        <p:blipFill>
          <a:blip r:embed="rId3"/>
          <a:stretch>
            <a:fillRect/>
          </a:stretch>
        </p:blipFill>
        <p:spPr>
          <a:xfrm>
            <a:off x="630936" y="1956816"/>
            <a:ext cx="201168" cy="201168"/>
          </a:xfrm>
          <a:prstGeom prst="rect">
            <a:avLst/>
          </a:prstGeom>
        </p:spPr>
      </p:pic>
      <p:sp>
        <p:nvSpPr>
          <p:cNvPr id="6" name="Text 3"/>
          <p:cNvSpPr/>
          <p:nvPr/>
        </p:nvSpPr>
        <p:spPr>
          <a:xfrm>
            <a:off x="1060704" y="1819656"/>
            <a:ext cx="4114800" cy="640080"/>
          </a:xfrm>
          <a:prstGeom prst="rect">
            <a:avLst/>
          </a:prstGeom>
          <a:noFill/>
          <a:ln/>
        </p:spPr>
        <p:txBody>
          <a:bodyPr wrap="square" lIns="0" tIns="0" rIns="0" bIns="0" rtlCol="0" anchor="t"/>
          <a:lstStyle/>
          <a:p>
            <a:pPr marL="0" indent="0">
              <a:lnSpc>
                <a:spcPct val="102000"/>
              </a:lnSpc>
              <a:buNone/>
            </a:pPr>
            <a:r>
              <a:rPr lang="en-US" sz="1250" b="1" dirty="0">
                <a:solidFill>
                  <a:srgbClr val="2B2422"/>
                </a:solidFill>
                <a:latin typeface="Calibri" pitchFamily="34" charset="0"/>
                <a:ea typeface="Calibri" pitchFamily="34" charset="-122"/>
                <a:cs typeface="Calibri" pitchFamily="34" charset="-120"/>
              </a:rPr>
              <a:t>Loaded live  </a:t>
            </a:r>
            <a:r>
              <a:rPr lang="en-US" sz="1250" dirty="0">
                <a:solidFill>
                  <a:srgbClr val="8A7E76"/>
                </a:solidFill>
                <a:latin typeface="Calibri" pitchFamily="34" charset="0"/>
                <a:ea typeface="Calibri" pitchFamily="34" charset="-122"/>
                <a:cs typeface="Calibri" pitchFamily="34" charset="-120"/>
              </a:rPr>
              <a:t>from 3 .txt files — names &amp; prices in INR.</a:t>
            </a:r>
            <a:endParaRPr lang="en-US" sz="1250" dirty="0"/>
          </a:p>
        </p:txBody>
      </p:sp>
      <p:sp>
        <p:nvSpPr>
          <p:cNvPr id="7" name="Shape 4"/>
          <p:cNvSpPr/>
          <p:nvPr/>
        </p:nvSpPr>
        <p:spPr>
          <a:xfrm>
            <a:off x="548640" y="2715768"/>
            <a:ext cx="365760" cy="365760"/>
          </a:xfrm>
          <a:prstGeom prst="ellipse">
            <a:avLst/>
          </a:prstGeom>
          <a:solidFill>
            <a:srgbClr val="F3EBE0"/>
          </a:solidFill>
          <a:ln/>
        </p:spPr>
        <p:txBody>
          <a:bodyPr/>
          <a:lstStyle/>
          <a:p>
            <a:endParaRPr lang="en-IN"/>
          </a:p>
        </p:txBody>
      </p:sp>
      <p:pic>
        <p:nvPicPr>
          <p:cNvPr id="8" name="Image 1" descr="preencoded.png"/>
          <p:cNvPicPr>
            <a:picLocks noChangeAspect="1"/>
          </p:cNvPicPr>
          <p:nvPr/>
        </p:nvPicPr>
        <p:blipFill>
          <a:blip r:embed="rId3"/>
          <a:stretch>
            <a:fillRect/>
          </a:stretch>
        </p:blipFill>
        <p:spPr>
          <a:xfrm>
            <a:off x="630936" y="2798064"/>
            <a:ext cx="201168" cy="201168"/>
          </a:xfrm>
          <a:prstGeom prst="rect">
            <a:avLst/>
          </a:prstGeom>
        </p:spPr>
      </p:pic>
      <p:sp>
        <p:nvSpPr>
          <p:cNvPr id="9" name="Text 5"/>
          <p:cNvSpPr/>
          <p:nvPr/>
        </p:nvSpPr>
        <p:spPr>
          <a:xfrm>
            <a:off x="1060704" y="2660904"/>
            <a:ext cx="4114800" cy="640080"/>
          </a:xfrm>
          <a:prstGeom prst="rect">
            <a:avLst/>
          </a:prstGeom>
          <a:noFill/>
          <a:ln/>
        </p:spPr>
        <p:txBody>
          <a:bodyPr wrap="square" lIns="0" tIns="0" rIns="0" bIns="0" rtlCol="0" anchor="t"/>
          <a:lstStyle/>
          <a:p>
            <a:pPr marL="0" indent="0">
              <a:lnSpc>
                <a:spcPct val="102000"/>
              </a:lnSpc>
              <a:buNone/>
            </a:pPr>
            <a:r>
              <a:rPr lang="en-US" sz="1250" b="1" dirty="0">
                <a:solidFill>
                  <a:srgbClr val="2B2422"/>
                </a:solidFill>
                <a:latin typeface="Calibri" pitchFamily="34" charset="0"/>
                <a:ea typeface="Calibri" pitchFamily="34" charset="-122"/>
                <a:cs typeface="Calibri" pitchFamily="34" charset="-120"/>
              </a:rPr>
              <a:t>One of each  </a:t>
            </a:r>
            <a:r>
              <a:rPr lang="en-US" sz="1250" dirty="0">
                <a:solidFill>
                  <a:srgbClr val="8A7E76"/>
                </a:solidFill>
                <a:latin typeface="Calibri" pitchFamily="34" charset="0"/>
                <a:ea typeface="Calibri" pitchFamily="34" charset="-122"/>
                <a:cs typeface="Calibri" pitchFamily="34" charset="-120"/>
              </a:rPr>
              <a:t>a Base, a Pizza and a Topping per order.</a:t>
            </a:r>
            <a:endParaRPr lang="en-US" sz="1250" dirty="0"/>
          </a:p>
        </p:txBody>
      </p:sp>
      <p:sp>
        <p:nvSpPr>
          <p:cNvPr id="10" name="Shape 6"/>
          <p:cNvSpPr/>
          <p:nvPr/>
        </p:nvSpPr>
        <p:spPr>
          <a:xfrm>
            <a:off x="548640" y="3557016"/>
            <a:ext cx="365760" cy="365760"/>
          </a:xfrm>
          <a:prstGeom prst="ellipse">
            <a:avLst/>
          </a:prstGeom>
          <a:solidFill>
            <a:srgbClr val="F3EBE0"/>
          </a:solidFill>
          <a:ln/>
        </p:spPr>
        <p:txBody>
          <a:bodyPr/>
          <a:lstStyle/>
          <a:p>
            <a:endParaRPr lang="en-IN"/>
          </a:p>
        </p:txBody>
      </p:sp>
      <p:pic>
        <p:nvPicPr>
          <p:cNvPr id="11" name="Image 2" descr="preencoded.png"/>
          <p:cNvPicPr>
            <a:picLocks noChangeAspect="1"/>
          </p:cNvPicPr>
          <p:nvPr/>
        </p:nvPicPr>
        <p:blipFill>
          <a:blip r:embed="rId3"/>
          <a:stretch>
            <a:fillRect/>
          </a:stretch>
        </p:blipFill>
        <p:spPr>
          <a:xfrm>
            <a:off x="630936" y="3639312"/>
            <a:ext cx="201168" cy="201168"/>
          </a:xfrm>
          <a:prstGeom prst="rect">
            <a:avLst/>
          </a:prstGeom>
        </p:spPr>
      </p:pic>
      <p:sp>
        <p:nvSpPr>
          <p:cNvPr id="12" name="Text 7"/>
          <p:cNvSpPr/>
          <p:nvPr/>
        </p:nvSpPr>
        <p:spPr>
          <a:xfrm>
            <a:off x="1060704" y="3502152"/>
            <a:ext cx="4114800" cy="640080"/>
          </a:xfrm>
          <a:prstGeom prst="rect">
            <a:avLst/>
          </a:prstGeom>
          <a:noFill/>
          <a:ln/>
        </p:spPr>
        <p:txBody>
          <a:bodyPr wrap="square" lIns="0" tIns="0" rIns="0" bIns="0" rtlCol="0" anchor="t"/>
          <a:lstStyle/>
          <a:p>
            <a:pPr marL="0" indent="0">
              <a:lnSpc>
                <a:spcPct val="102000"/>
              </a:lnSpc>
              <a:buNone/>
            </a:pPr>
            <a:r>
              <a:rPr lang="en-US" sz="1250" b="1" dirty="0">
                <a:solidFill>
                  <a:srgbClr val="2B2422"/>
                </a:solidFill>
                <a:latin typeface="Calibri" pitchFamily="34" charset="0"/>
                <a:ea typeface="Calibri" pitchFamily="34" charset="-122"/>
                <a:cs typeface="Calibri" pitchFamily="34" charset="-120"/>
              </a:rPr>
              <a:t>Select by number  </a:t>
            </a:r>
            <a:r>
              <a:rPr lang="en-US" sz="1250" dirty="0">
                <a:solidFill>
                  <a:srgbClr val="8A7E76"/>
                </a:solidFill>
                <a:latin typeface="Calibri" pitchFamily="34" charset="0"/>
                <a:ea typeface="Calibri" pitchFamily="34" charset="-122"/>
                <a:cs typeface="Calibri" pitchFamily="34" charset="-120"/>
              </a:rPr>
              <a:t>only valid in-range numbers accepted.</a:t>
            </a:r>
            <a:endParaRPr lang="en-US" sz="1250" dirty="0"/>
          </a:p>
        </p:txBody>
      </p:sp>
      <p:sp>
        <p:nvSpPr>
          <p:cNvPr id="13" name="Shape 8"/>
          <p:cNvSpPr/>
          <p:nvPr/>
        </p:nvSpPr>
        <p:spPr>
          <a:xfrm>
            <a:off x="548640" y="4398264"/>
            <a:ext cx="365760" cy="365760"/>
          </a:xfrm>
          <a:prstGeom prst="ellipse">
            <a:avLst/>
          </a:prstGeom>
          <a:solidFill>
            <a:srgbClr val="F3EBE0"/>
          </a:solidFill>
          <a:ln/>
        </p:spPr>
        <p:txBody>
          <a:bodyPr/>
          <a:lstStyle/>
          <a:p>
            <a:endParaRPr lang="en-IN"/>
          </a:p>
        </p:txBody>
      </p:sp>
      <p:pic>
        <p:nvPicPr>
          <p:cNvPr id="14" name="Image 3" descr="preencoded.png"/>
          <p:cNvPicPr>
            <a:picLocks noChangeAspect="1"/>
          </p:cNvPicPr>
          <p:nvPr/>
        </p:nvPicPr>
        <p:blipFill>
          <a:blip r:embed="rId3"/>
          <a:stretch>
            <a:fillRect/>
          </a:stretch>
        </p:blipFill>
        <p:spPr>
          <a:xfrm>
            <a:off x="630936" y="4480560"/>
            <a:ext cx="201168" cy="201168"/>
          </a:xfrm>
          <a:prstGeom prst="rect">
            <a:avLst/>
          </a:prstGeom>
        </p:spPr>
      </p:pic>
      <p:sp>
        <p:nvSpPr>
          <p:cNvPr id="15" name="Text 9"/>
          <p:cNvSpPr/>
          <p:nvPr/>
        </p:nvSpPr>
        <p:spPr>
          <a:xfrm>
            <a:off x="1060704" y="4343400"/>
            <a:ext cx="4114800" cy="640080"/>
          </a:xfrm>
          <a:prstGeom prst="rect">
            <a:avLst/>
          </a:prstGeom>
          <a:noFill/>
          <a:ln/>
        </p:spPr>
        <p:txBody>
          <a:bodyPr wrap="square" lIns="0" tIns="0" rIns="0" bIns="0" rtlCol="0" anchor="t"/>
          <a:lstStyle/>
          <a:p>
            <a:pPr marL="0" indent="0">
              <a:lnSpc>
                <a:spcPct val="102000"/>
              </a:lnSpc>
              <a:buNone/>
            </a:pPr>
            <a:r>
              <a:rPr lang="en-US" sz="1250" b="1" dirty="0">
                <a:solidFill>
                  <a:srgbClr val="2B2422"/>
                </a:solidFill>
                <a:latin typeface="Calibri" pitchFamily="34" charset="0"/>
                <a:ea typeface="Calibri" pitchFamily="34" charset="-122"/>
                <a:cs typeface="Calibri" pitchFamily="34" charset="-120"/>
              </a:rPr>
              <a:t>No hardcoding  </a:t>
            </a:r>
            <a:r>
              <a:rPr lang="en-US" sz="1250" dirty="0">
                <a:solidFill>
                  <a:srgbClr val="8A7E76"/>
                </a:solidFill>
                <a:latin typeface="Calibri" pitchFamily="34" charset="0"/>
                <a:ea typeface="Calibri" pitchFamily="34" charset="-122"/>
                <a:cs typeface="Calibri" pitchFamily="34" charset="-120"/>
              </a:rPr>
              <a:t>edit the file → new menu, zero code change.</a:t>
            </a:r>
            <a:endParaRPr lang="en-US" sz="1250" dirty="0"/>
          </a:p>
        </p:txBody>
      </p:sp>
      <p:sp>
        <p:nvSpPr>
          <p:cNvPr id="16" name="Text 10"/>
          <p:cNvSpPr/>
          <p:nvPr/>
        </p:nvSpPr>
        <p:spPr>
          <a:xfrm>
            <a:off x="502920" y="5074920"/>
            <a:ext cx="1828800" cy="1280160"/>
          </a:xfrm>
          <a:prstGeom prst="rect">
            <a:avLst/>
          </a:prstGeom>
          <a:noFill/>
          <a:ln/>
        </p:spPr>
        <p:txBody>
          <a:bodyPr wrap="square" lIns="0" tIns="0" rIns="0" bIns="0" rtlCol="0" anchor="ctr"/>
          <a:lstStyle/>
          <a:p>
            <a:pPr marL="0" indent="0">
              <a:buNone/>
            </a:pPr>
            <a:r>
              <a:rPr lang="en-US" sz="9000" b="1" dirty="0">
                <a:solidFill>
                  <a:srgbClr val="C1352B">
                    <a:alpha val="18000"/>
                  </a:srgbClr>
                </a:solidFill>
                <a:latin typeface="Cambria" pitchFamily="34" charset="0"/>
                <a:ea typeface="Cambria" pitchFamily="34" charset="-122"/>
                <a:cs typeface="Cambria" pitchFamily="34" charset="-120"/>
              </a:rPr>
              <a:t>2</a:t>
            </a:r>
            <a:endParaRPr lang="en-US" sz="9000" dirty="0"/>
          </a:p>
        </p:txBody>
      </p:sp>
      <p:sp>
        <p:nvSpPr>
          <p:cNvPr id="17" name="Shape 11"/>
          <p:cNvSpPr/>
          <p:nvPr/>
        </p:nvSpPr>
        <p:spPr>
          <a:xfrm>
            <a:off x="5577840" y="1783080"/>
            <a:ext cx="6080760" cy="4434840"/>
          </a:xfrm>
          <a:prstGeom prst="roundRect">
            <a:avLst>
              <a:gd name="adj" fmla="val 1856"/>
            </a:avLst>
          </a:prstGeom>
          <a:solidFill>
            <a:srgbClr val="FFFFFF"/>
          </a:solidFill>
          <a:ln w="12700">
            <a:solidFill>
              <a:srgbClr val="E7DCCD"/>
            </a:solidFill>
            <a:prstDash val="solid"/>
          </a:ln>
          <a:effectLst>
            <a:outerShdw blurRad="88900" dist="38100" dir="5400000" algn="bl" rotWithShape="0">
              <a:srgbClr val="000000">
                <a:alpha val="16000"/>
              </a:srgbClr>
            </a:outerShdw>
          </a:effectLst>
        </p:spPr>
        <p:txBody>
          <a:bodyPr/>
          <a:lstStyle/>
          <a:p>
            <a:endParaRPr lang="en-IN"/>
          </a:p>
        </p:txBody>
      </p:sp>
      <p:sp>
        <p:nvSpPr>
          <p:cNvPr id="18" name="Shape 12"/>
          <p:cNvSpPr/>
          <p:nvPr/>
        </p:nvSpPr>
        <p:spPr>
          <a:xfrm>
            <a:off x="5577840" y="1783080"/>
            <a:ext cx="6080760" cy="384048"/>
          </a:xfrm>
          <a:prstGeom prst="roundRect">
            <a:avLst>
              <a:gd name="adj" fmla="val 21429"/>
            </a:avLst>
          </a:prstGeom>
          <a:solidFill>
            <a:srgbClr val="F3EBE0"/>
          </a:solidFill>
          <a:ln/>
        </p:spPr>
        <p:txBody>
          <a:bodyPr/>
          <a:lstStyle/>
          <a:p>
            <a:endParaRPr lang="en-IN"/>
          </a:p>
        </p:txBody>
      </p:sp>
      <p:sp>
        <p:nvSpPr>
          <p:cNvPr id="19" name="Shape 13"/>
          <p:cNvSpPr/>
          <p:nvPr/>
        </p:nvSpPr>
        <p:spPr>
          <a:xfrm>
            <a:off x="5577840" y="2057400"/>
            <a:ext cx="6080760" cy="109728"/>
          </a:xfrm>
          <a:prstGeom prst="rect">
            <a:avLst/>
          </a:prstGeom>
          <a:solidFill>
            <a:srgbClr val="F3EBE0"/>
          </a:solidFill>
          <a:ln/>
        </p:spPr>
        <p:txBody>
          <a:bodyPr/>
          <a:lstStyle/>
          <a:p>
            <a:endParaRPr lang="en-IN"/>
          </a:p>
        </p:txBody>
      </p:sp>
      <p:sp>
        <p:nvSpPr>
          <p:cNvPr id="20" name="Shape 14"/>
          <p:cNvSpPr/>
          <p:nvPr/>
        </p:nvSpPr>
        <p:spPr>
          <a:xfrm>
            <a:off x="5724144" y="1933956"/>
            <a:ext cx="82296" cy="82296"/>
          </a:xfrm>
          <a:prstGeom prst="ellipse">
            <a:avLst/>
          </a:prstGeom>
          <a:solidFill>
            <a:srgbClr val="E06C5E"/>
          </a:solidFill>
          <a:ln/>
        </p:spPr>
        <p:txBody>
          <a:bodyPr/>
          <a:lstStyle/>
          <a:p>
            <a:endParaRPr lang="en-IN"/>
          </a:p>
        </p:txBody>
      </p:sp>
      <p:sp>
        <p:nvSpPr>
          <p:cNvPr id="21" name="Shape 15"/>
          <p:cNvSpPr/>
          <p:nvPr/>
        </p:nvSpPr>
        <p:spPr>
          <a:xfrm>
            <a:off x="5888736" y="1933956"/>
            <a:ext cx="82296" cy="82296"/>
          </a:xfrm>
          <a:prstGeom prst="ellipse">
            <a:avLst/>
          </a:prstGeom>
          <a:solidFill>
            <a:srgbClr val="E8C15A"/>
          </a:solidFill>
          <a:ln/>
        </p:spPr>
        <p:txBody>
          <a:bodyPr/>
          <a:lstStyle/>
          <a:p>
            <a:endParaRPr lang="en-IN"/>
          </a:p>
        </p:txBody>
      </p:sp>
      <p:sp>
        <p:nvSpPr>
          <p:cNvPr id="22" name="Shape 16"/>
          <p:cNvSpPr/>
          <p:nvPr/>
        </p:nvSpPr>
        <p:spPr>
          <a:xfrm>
            <a:off x="6053328" y="1933956"/>
            <a:ext cx="82296" cy="82296"/>
          </a:xfrm>
          <a:prstGeom prst="ellipse">
            <a:avLst/>
          </a:prstGeom>
          <a:solidFill>
            <a:srgbClr val="7FB98B"/>
          </a:solidFill>
          <a:ln/>
        </p:spPr>
        <p:txBody>
          <a:bodyPr/>
          <a:lstStyle/>
          <a:p>
            <a:endParaRPr lang="en-IN"/>
          </a:p>
        </p:txBody>
      </p:sp>
      <p:sp>
        <p:nvSpPr>
          <p:cNvPr id="23" name="Shape 17"/>
          <p:cNvSpPr/>
          <p:nvPr/>
        </p:nvSpPr>
        <p:spPr>
          <a:xfrm>
            <a:off x="6291072" y="1856232"/>
            <a:ext cx="5166360" cy="237744"/>
          </a:xfrm>
          <a:prstGeom prst="roundRect">
            <a:avLst>
              <a:gd name="adj" fmla="val 23077"/>
            </a:avLst>
          </a:prstGeom>
          <a:solidFill>
            <a:srgbClr val="FFFFFF"/>
          </a:solidFill>
          <a:ln w="9525">
            <a:solidFill>
              <a:srgbClr val="E7DCCD"/>
            </a:solidFill>
            <a:prstDash val="solid"/>
          </a:ln>
        </p:spPr>
        <p:txBody>
          <a:bodyPr/>
          <a:lstStyle/>
          <a:p>
            <a:endParaRPr lang="en-IN"/>
          </a:p>
        </p:txBody>
      </p:sp>
      <p:pic>
        <p:nvPicPr>
          <p:cNvPr id="24" name="Image 4" descr="preencoded.png"/>
          <p:cNvPicPr>
            <a:picLocks noChangeAspect="1"/>
          </p:cNvPicPr>
          <p:nvPr/>
        </p:nvPicPr>
        <p:blipFill>
          <a:blip r:embed="rId4"/>
          <a:stretch>
            <a:fillRect/>
          </a:stretch>
        </p:blipFill>
        <p:spPr>
          <a:xfrm>
            <a:off x="6382512" y="1920240"/>
            <a:ext cx="109728" cy="109728"/>
          </a:xfrm>
          <a:prstGeom prst="rect">
            <a:avLst/>
          </a:prstGeom>
        </p:spPr>
      </p:pic>
      <p:sp>
        <p:nvSpPr>
          <p:cNvPr id="25" name="Text 18"/>
          <p:cNvSpPr/>
          <p:nvPr/>
        </p:nvSpPr>
        <p:spPr>
          <a:xfrm>
            <a:off x="6547104" y="1856232"/>
            <a:ext cx="4846320" cy="237744"/>
          </a:xfrm>
          <a:prstGeom prst="rect">
            <a:avLst/>
          </a:prstGeom>
          <a:noFill/>
          <a:ln/>
        </p:spPr>
        <p:txBody>
          <a:bodyPr wrap="square" lIns="0" tIns="0" rIns="0" bIns="0" rtlCol="0" anchor="ctr"/>
          <a:lstStyle/>
          <a:p>
            <a:pPr marL="0" indent="0" algn="l">
              <a:buNone/>
            </a:pPr>
            <a:r>
              <a:rPr lang="en-US" sz="950" dirty="0">
                <a:solidFill>
                  <a:srgbClr val="8A7E76"/>
                </a:solidFill>
                <a:latin typeface="Calibri" pitchFamily="34" charset="0"/>
                <a:ea typeface="Calibri" pitchFamily="34" charset="-122"/>
                <a:cs typeface="Calibri" pitchFamily="34" charset="-120"/>
              </a:rPr>
              <a:t>moulsai2296-pizzaflow-v2.hf.space</a:t>
            </a:r>
            <a:endParaRPr lang="en-US" sz="950" dirty="0"/>
          </a:p>
        </p:txBody>
      </p:sp>
      <p:sp>
        <p:nvSpPr>
          <p:cNvPr id="26" name="Shape 19"/>
          <p:cNvSpPr/>
          <p:nvPr/>
        </p:nvSpPr>
        <p:spPr>
          <a:xfrm>
            <a:off x="5632704" y="2221992"/>
            <a:ext cx="5971032" cy="3941064"/>
          </a:xfrm>
          <a:prstGeom prst="rect">
            <a:avLst/>
          </a:prstGeom>
          <a:solidFill>
            <a:srgbClr val="FBF6EF"/>
          </a:solidFill>
          <a:ln/>
        </p:spPr>
        <p:txBody>
          <a:bodyPr/>
          <a:lstStyle/>
          <a:p>
            <a:endParaRPr lang="en-IN"/>
          </a:p>
        </p:txBody>
      </p:sp>
      <p:pic>
        <p:nvPicPr>
          <p:cNvPr id="27" name="Image 5" descr="preencoded.png"/>
          <p:cNvPicPr>
            <a:picLocks noChangeAspect="1"/>
          </p:cNvPicPr>
          <p:nvPr/>
        </p:nvPicPr>
        <p:blipFill>
          <a:blip r:embed="rId5">
            <a:alphaModFix amt="70000"/>
          </a:blip>
          <a:stretch>
            <a:fillRect/>
          </a:stretch>
        </p:blipFill>
        <p:spPr>
          <a:xfrm>
            <a:off x="8362188" y="3625596"/>
            <a:ext cx="512064" cy="512064"/>
          </a:xfrm>
          <a:prstGeom prst="rect">
            <a:avLst/>
          </a:prstGeom>
        </p:spPr>
      </p:pic>
      <p:sp>
        <p:nvSpPr>
          <p:cNvPr id="28" name="Text 20"/>
          <p:cNvSpPr/>
          <p:nvPr/>
        </p:nvSpPr>
        <p:spPr>
          <a:xfrm>
            <a:off x="5852160" y="4229100"/>
            <a:ext cx="5532120" cy="274320"/>
          </a:xfrm>
          <a:prstGeom prst="rect">
            <a:avLst/>
          </a:prstGeom>
          <a:noFill/>
          <a:ln/>
        </p:spPr>
        <p:txBody>
          <a:bodyPr wrap="square" lIns="0" tIns="0" rIns="0" bIns="0" rtlCol="0" anchor="ctr"/>
          <a:lstStyle/>
          <a:p>
            <a:pPr marL="0" indent="0" algn="ctr">
              <a:buNone/>
            </a:pPr>
            <a:r>
              <a:rPr lang="en-US" sz="1100" b="1" dirty="0">
                <a:solidFill>
                  <a:srgbClr val="C1352B"/>
                </a:solidFill>
                <a:latin typeface="Calibri" pitchFamily="34" charset="0"/>
                <a:ea typeface="Calibri" pitchFamily="34" charset="-122"/>
                <a:cs typeface="Calibri" pitchFamily="34" charset="-120"/>
              </a:rPr>
              <a:t>Screenshot</a:t>
            </a:r>
            <a:endParaRPr lang="en-US" sz="1100" dirty="0"/>
          </a:p>
        </p:txBody>
      </p:sp>
      <p:sp>
        <p:nvSpPr>
          <p:cNvPr id="29" name="Text 21"/>
          <p:cNvSpPr/>
          <p:nvPr/>
        </p:nvSpPr>
        <p:spPr>
          <a:xfrm>
            <a:off x="5852160" y="4485132"/>
            <a:ext cx="5532120" cy="457200"/>
          </a:xfrm>
          <a:prstGeom prst="rect">
            <a:avLst/>
          </a:prstGeom>
          <a:noFill/>
          <a:ln/>
        </p:spPr>
        <p:txBody>
          <a:bodyPr wrap="square" lIns="0" tIns="0" rIns="0" bIns="0" rtlCol="0" anchor="ctr"/>
          <a:lstStyle/>
          <a:p>
            <a:pPr marL="0" indent="0" algn="ctr">
              <a:buNone/>
            </a:pPr>
            <a:r>
              <a:rPr lang="en-US" sz="1000" i="1" dirty="0">
                <a:solidFill>
                  <a:srgbClr val="8A7E76"/>
                </a:solidFill>
                <a:latin typeface="Calibri" pitchFamily="34" charset="0"/>
                <a:ea typeface="Calibri" pitchFamily="34" charset="-122"/>
                <a:cs typeface="Calibri" pitchFamily="34" charset="-120"/>
              </a:rPr>
              <a:t>Menu screen showing Base / Pizza / Topping numbered lists</a:t>
            </a:r>
            <a:endParaRPr lang="en-US" sz="1000" dirty="0"/>
          </a:p>
        </p:txBody>
      </p:sp>
      <p:sp>
        <p:nvSpPr>
          <p:cNvPr id="30" name="Text 22"/>
          <p:cNvSpPr/>
          <p:nvPr/>
        </p:nvSpPr>
        <p:spPr>
          <a:xfrm>
            <a:off x="502920" y="6473952"/>
            <a:ext cx="5486400" cy="274320"/>
          </a:xfrm>
          <a:prstGeom prst="rect">
            <a:avLst/>
          </a:prstGeom>
          <a:noFill/>
          <a:ln/>
        </p:spPr>
        <p:txBody>
          <a:bodyPr wrap="square" lIns="0" tIns="0" rIns="0" bIns="0" rtlCol="0" anchor="ctr"/>
          <a:lstStyle/>
          <a:p>
            <a:pPr marL="0" indent="0" algn="l">
              <a:buNone/>
            </a:pPr>
            <a:r>
              <a:rPr lang="en-US" sz="900" dirty="0">
                <a:solidFill>
                  <a:srgbClr val="8A7E76"/>
                </a:solidFill>
                <a:latin typeface="Calibri" pitchFamily="34" charset="0"/>
                <a:ea typeface="Calibri" pitchFamily="34" charset="-122"/>
                <a:cs typeface="Calibri" pitchFamily="34" charset="-120"/>
              </a:rPr>
              <a:t>SliceMatic · PizzaFlow MVP Demo</a:t>
            </a:r>
            <a:endParaRPr lang="en-US" sz="900" dirty="0"/>
          </a:p>
        </p:txBody>
      </p:sp>
      <p:sp>
        <p:nvSpPr>
          <p:cNvPr id="31" name="Text 23"/>
          <p:cNvSpPr/>
          <p:nvPr/>
        </p:nvSpPr>
        <p:spPr>
          <a:xfrm>
            <a:off x="11274552" y="6473952"/>
            <a:ext cx="411480" cy="274320"/>
          </a:xfrm>
          <a:prstGeom prst="rect">
            <a:avLst/>
          </a:prstGeom>
          <a:noFill/>
          <a:ln/>
        </p:spPr>
        <p:txBody>
          <a:bodyPr wrap="square" lIns="0" tIns="0" rIns="0" bIns="0" rtlCol="0" anchor="ctr"/>
          <a:lstStyle/>
          <a:p>
            <a:pPr marL="0" indent="0" algn="r">
              <a:buNone/>
            </a:pPr>
            <a:r>
              <a:rPr lang="en-US" sz="900" dirty="0">
                <a:solidFill>
                  <a:srgbClr val="8A7E76"/>
                </a:solidFill>
                <a:latin typeface="Calibri" pitchFamily="34" charset="0"/>
                <a:ea typeface="Calibri" pitchFamily="34" charset="-122"/>
                <a:cs typeface="Calibri" pitchFamily="34" charset="-120"/>
              </a:rPr>
              <a:t>5</a:t>
            </a:r>
            <a:endParaRPr lang="en-US" sz="900" dirty="0"/>
          </a:p>
        </p:txBody>
      </p:sp>
      <p:pic>
        <p:nvPicPr>
          <p:cNvPr id="33" name="Picture 32">
            <a:extLst>
              <a:ext uri="{FF2B5EF4-FFF2-40B4-BE49-F238E27FC236}">
                <a16:creationId xmlns:a16="http://schemas.microsoft.com/office/drawing/2014/main" id="{8BEA172F-9CD9-B164-667F-2DE457678590}"/>
              </a:ext>
            </a:extLst>
          </p:cNvPr>
          <p:cNvPicPr>
            <a:picLocks noChangeAspect="1"/>
          </p:cNvPicPr>
          <p:nvPr/>
        </p:nvPicPr>
        <p:blipFill>
          <a:blip r:embed="rId6"/>
          <a:stretch>
            <a:fillRect/>
          </a:stretch>
        </p:blipFill>
        <p:spPr>
          <a:xfrm>
            <a:off x="5577840" y="2167129"/>
            <a:ext cx="6065520" cy="4050792"/>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BF6EF"/>
        </a:solidFill>
        <a:effectLst/>
      </p:bgPr>
    </p:bg>
    <p:spTree>
      <p:nvGrpSpPr>
        <p:cNvPr id="1" name=""/>
        <p:cNvGrpSpPr/>
        <p:nvPr/>
      </p:nvGrpSpPr>
      <p:grpSpPr>
        <a:xfrm>
          <a:off x="0" y="0"/>
          <a:ext cx="0" cy="0"/>
          <a:chOff x="0" y="0"/>
          <a:chExt cx="0" cy="0"/>
        </a:xfrm>
      </p:grpSpPr>
      <p:sp>
        <p:nvSpPr>
          <p:cNvPr id="2" name="Text 0"/>
          <p:cNvSpPr/>
          <p:nvPr/>
        </p:nvSpPr>
        <p:spPr>
          <a:xfrm>
            <a:off x="502920" y="457200"/>
            <a:ext cx="8229600" cy="274320"/>
          </a:xfrm>
          <a:prstGeom prst="rect">
            <a:avLst/>
          </a:prstGeom>
          <a:noFill/>
          <a:ln/>
        </p:spPr>
        <p:txBody>
          <a:bodyPr wrap="square" lIns="0" tIns="0" rIns="0" bIns="0" rtlCol="0" anchor="ctr"/>
          <a:lstStyle/>
          <a:p>
            <a:pPr marL="0" indent="0">
              <a:buNone/>
            </a:pPr>
            <a:r>
              <a:rPr lang="en-US" sz="1200" b="1" kern="0" spc="300" dirty="0">
                <a:solidFill>
                  <a:srgbClr val="C1352B"/>
                </a:solidFill>
                <a:latin typeface="Calibri" pitchFamily="34" charset="0"/>
                <a:ea typeface="Calibri" pitchFamily="34" charset="-122"/>
                <a:cs typeface="Calibri" pitchFamily="34" charset="-120"/>
              </a:rPr>
              <a:t>STEP 3 · QUANTITY</a:t>
            </a:r>
            <a:endParaRPr lang="en-US" sz="1200" dirty="0"/>
          </a:p>
        </p:txBody>
      </p:sp>
      <p:sp>
        <p:nvSpPr>
          <p:cNvPr id="3" name="Text 1"/>
          <p:cNvSpPr/>
          <p:nvPr/>
        </p:nvSpPr>
        <p:spPr>
          <a:xfrm>
            <a:off x="475488" y="749808"/>
            <a:ext cx="10515600" cy="685800"/>
          </a:xfrm>
          <a:prstGeom prst="rect">
            <a:avLst/>
          </a:prstGeom>
          <a:noFill/>
          <a:ln/>
        </p:spPr>
        <p:txBody>
          <a:bodyPr wrap="square" lIns="0" tIns="0" rIns="0" bIns="0" rtlCol="0" anchor="ctr"/>
          <a:lstStyle/>
          <a:p>
            <a:pPr marL="0" indent="0">
              <a:buNone/>
            </a:pPr>
            <a:r>
              <a:rPr lang="en-US" sz="3300" b="1" dirty="0">
                <a:solidFill>
                  <a:srgbClr val="2B2422"/>
                </a:solidFill>
                <a:latin typeface="Cambria" pitchFamily="34" charset="0"/>
                <a:ea typeface="Cambria" pitchFamily="34" charset="-122"/>
                <a:cs typeface="Cambria" pitchFamily="34" charset="-120"/>
              </a:rPr>
              <a:t>Quantity 1–10 — discount auto-triggers</a:t>
            </a:r>
            <a:endParaRPr lang="en-US" sz="3300" dirty="0"/>
          </a:p>
        </p:txBody>
      </p:sp>
      <p:sp>
        <p:nvSpPr>
          <p:cNvPr id="4" name="Shape 2"/>
          <p:cNvSpPr/>
          <p:nvPr/>
        </p:nvSpPr>
        <p:spPr>
          <a:xfrm>
            <a:off x="548640" y="2288582"/>
            <a:ext cx="365760" cy="365760"/>
          </a:xfrm>
          <a:prstGeom prst="ellipse">
            <a:avLst/>
          </a:prstGeom>
          <a:solidFill>
            <a:srgbClr val="F3EBE0"/>
          </a:solidFill>
          <a:ln/>
        </p:spPr>
        <p:txBody>
          <a:bodyPr/>
          <a:lstStyle/>
          <a:p>
            <a:endParaRPr lang="en-IN"/>
          </a:p>
        </p:txBody>
      </p:sp>
      <p:pic>
        <p:nvPicPr>
          <p:cNvPr id="5" name="Image 0" descr="preencoded.png"/>
          <p:cNvPicPr>
            <a:picLocks noChangeAspect="1"/>
          </p:cNvPicPr>
          <p:nvPr/>
        </p:nvPicPr>
        <p:blipFill>
          <a:blip r:embed="rId3"/>
          <a:stretch>
            <a:fillRect/>
          </a:stretch>
        </p:blipFill>
        <p:spPr>
          <a:xfrm>
            <a:off x="630936" y="2370878"/>
            <a:ext cx="201168" cy="201168"/>
          </a:xfrm>
          <a:prstGeom prst="rect">
            <a:avLst/>
          </a:prstGeom>
        </p:spPr>
      </p:pic>
      <p:sp>
        <p:nvSpPr>
          <p:cNvPr id="6" name="Text 3"/>
          <p:cNvSpPr/>
          <p:nvPr/>
        </p:nvSpPr>
        <p:spPr>
          <a:xfrm>
            <a:off x="1060704" y="2233718"/>
            <a:ext cx="4114800" cy="640080"/>
          </a:xfrm>
          <a:prstGeom prst="rect">
            <a:avLst/>
          </a:prstGeom>
          <a:noFill/>
          <a:ln/>
        </p:spPr>
        <p:txBody>
          <a:bodyPr wrap="square" lIns="0" tIns="0" rIns="0" bIns="0" rtlCol="0" anchor="t"/>
          <a:lstStyle/>
          <a:p>
            <a:pPr marL="0" indent="0">
              <a:lnSpc>
                <a:spcPct val="102000"/>
              </a:lnSpc>
              <a:buNone/>
            </a:pPr>
            <a:r>
              <a:rPr lang="en-US" sz="1250" b="1" dirty="0">
                <a:solidFill>
                  <a:srgbClr val="2B2422"/>
                </a:solidFill>
                <a:latin typeface="Calibri" pitchFamily="34" charset="0"/>
                <a:ea typeface="Calibri" pitchFamily="34" charset="-122"/>
                <a:cs typeface="Calibri" pitchFamily="34" charset="-120"/>
              </a:rPr>
              <a:t>Integer 1–10  </a:t>
            </a:r>
            <a:r>
              <a:rPr lang="en-US" sz="1250" dirty="0">
                <a:solidFill>
                  <a:srgbClr val="8A7E76"/>
                </a:solidFill>
                <a:latin typeface="Calibri" pitchFamily="34" charset="0"/>
                <a:ea typeface="Calibri" pitchFamily="34" charset="-122"/>
                <a:cs typeface="Calibri" pitchFamily="34" charset="-120"/>
              </a:rPr>
              <a:t>rejects 0, 11, negatives, floats &amp; text.</a:t>
            </a:r>
            <a:endParaRPr lang="en-US" sz="1250" dirty="0"/>
          </a:p>
        </p:txBody>
      </p:sp>
      <p:sp>
        <p:nvSpPr>
          <p:cNvPr id="7" name="Shape 4"/>
          <p:cNvSpPr/>
          <p:nvPr/>
        </p:nvSpPr>
        <p:spPr>
          <a:xfrm>
            <a:off x="548640" y="3129830"/>
            <a:ext cx="365760" cy="365760"/>
          </a:xfrm>
          <a:prstGeom prst="ellipse">
            <a:avLst/>
          </a:prstGeom>
          <a:solidFill>
            <a:srgbClr val="F3EBE0"/>
          </a:solidFill>
          <a:ln/>
        </p:spPr>
        <p:txBody>
          <a:bodyPr/>
          <a:lstStyle/>
          <a:p>
            <a:endParaRPr lang="en-IN"/>
          </a:p>
        </p:txBody>
      </p:sp>
      <p:pic>
        <p:nvPicPr>
          <p:cNvPr id="8" name="Image 1" descr="preencoded.png"/>
          <p:cNvPicPr>
            <a:picLocks noChangeAspect="1"/>
          </p:cNvPicPr>
          <p:nvPr/>
        </p:nvPicPr>
        <p:blipFill>
          <a:blip r:embed="rId3"/>
          <a:stretch>
            <a:fillRect/>
          </a:stretch>
        </p:blipFill>
        <p:spPr>
          <a:xfrm>
            <a:off x="630936" y="3212126"/>
            <a:ext cx="201168" cy="201168"/>
          </a:xfrm>
          <a:prstGeom prst="rect">
            <a:avLst/>
          </a:prstGeom>
        </p:spPr>
      </p:pic>
      <p:sp>
        <p:nvSpPr>
          <p:cNvPr id="9" name="Text 5"/>
          <p:cNvSpPr/>
          <p:nvPr/>
        </p:nvSpPr>
        <p:spPr>
          <a:xfrm>
            <a:off x="1060704" y="3074966"/>
            <a:ext cx="4114800" cy="640080"/>
          </a:xfrm>
          <a:prstGeom prst="rect">
            <a:avLst/>
          </a:prstGeom>
          <a:noFill/>
          <a:ln/>
        </p:spPr>
        <p:txBody>
          <a:bodyPr wrap="square" lIns="0" tIns="0" rIns="0" bIns="0" rtlCol="0" anchor="t"/>
          <a:lstStyle/>
          <a:p>
            <a:pPr marL="0" indent="0">
              <a:lnSpc>
                <a:spcPct val="102000"/>
              </a:lnSpc>
              <a:buNone/>
            </a:pPr>
            <a:r>
              <a:rPr lang="en-US" sz="1250" b="1" dirty="0">
                <a:solidFill>
                  <a:srgbClr val="2B2422"/>
                </a:solidFill>
                <a:latin typeface="Calibri" pitchFamily="34" charset="0"/>
                <a:ea typeface="Calibri" pitchFamily="34" charset="-122"/>
                <a:cs typeface="Calibri" pitchFamily="34" charset="-120"/>
              </a:rPr>
              <a:t>Capacity cap  </a:t>
            </a:r>
            <a:r>
              <a:rPr lang="en-US" sz="1250" dirty="0">
                <a:solidFill>
                  <a:srgbClr val="8A7E76"/>
                </a:solidFill>
                <a:latin typeface="Calibri" pitchFamily="34" charset="0"/>
                <a:ea typeface="Calibri" pitchFamily="34" charset="-122"/>
                <a:cs typeface="Calibri" pitchFamily="34" charset="-120"/>
              </a:rPr>
              <a:t>max 10 pizzas per order, with an explanation.</a:t>
            </a:r>
            <a:endParaRPr lang="en-US" sz="1250" dirty="0"/>
          </a:p>
        </p:txBody>
      </p:sp>
      <p:sp>
        <p:nvSpPr>
          <p:cNvPr id="10" name="Shape 6"/>
          <p:cNvSpPr/>
          <p:nvPr/>
        </p:nvSpPr>
        <p:spPr>
          <a:xfrm>
            <a:off x="548640" y="3971078"/>
            <a:ext cx="365760" cy="365760"/>
          </a:xfrm>
          <a:prstGeom prst="ellipse">
            <a:avLst/>
          </a:prstGeom>
          <a:solidFill>
            <a:srgbClr val="F3EBE0"/>
          </a:solidFill>
          <a:ln/>
        </p:spPr>
        <p:txBody>
          <a:bodyPr/>
          <a:lstStyle/>
          <a:p>
            <a:endParaRPr lang="en-IN"/>
          </a:p>
        </p:txBody>
      </p:sp>
      <p:pic>
        <p:nvPicPr>
          <p:cNvPr id="11" name="Image 2" descr="preencoded.png"/>
          <p:cNvPicPr>
            <a:picLocks noChangeAspect="1"/>
          </p:cNvPicPr>
          <p:nvPr/>
        </p:nvPicPr>
        <p:blipFill>
          <a:blip r:embed="rId3"/>
          <a:stretch>
            <a:fillRect/>
          </a:stretch>
        </p:blipFill>
        <p:spPr>
          <a:xfrm>
            <a:off x="630936" y="4053374"/>
            <a:ext cx="201168" cy="201168"/>
          </a:xfrm>
          <a:prstGeom prst="rect">
            <a:avLst/>
          </a:prstGeom>
        </p:spPr>
      </p:pic>
      <p:sp>
        <p:nvSpPr>
          <p:cNvPr id="12" name="Text 7"/>
          <p:cNvSpPr/>
          <p:nvPr/>
        </p:nvSpPr>
        <p:spPr>
          <a:xfrm>
            <a:off x="1060704" y="3916214"/>
            <a:ext cx="4114800" cy="640080"/>
          </a:xfrm>
          <a:prstGeom prst="rect">
            <a:avLst/>
          </a:prstGeom>
          <a:noFill/>
          <a:ln/>
        </p:spPr>
        <p:txBody>
          <a:bodyPr wrap="square" lIns="0" tIns="0" rIns="0" bIns="0" rtlCol="0" anchor="t"/>
          <a:lstStyle/>
          <a:p>
            <a:pPr marL="0" indent="0">
              <a:lnSpc>
                <a:spcPct val="102000"/>
              </a:lnSpc>
              <a:buNone/>
            </a:pPr>
            <a:r>
              <a:rPr lang="en-US" sz="1250" b="1" dirty="0">
                <a:solidFill>
                  <a:srgbClr val="2B2422"/>
                </a:solidFill>
                <a:latin typeface="Calibri" pitchFamily="34" charset="0"/>
                <a:ea typeface="Calibri" pitchFamily="34" charset="-122"/>
                <a:cs typeface="Calibri" pitchFamily="34" charset="-120"/>
              </a:rPr>
              <a:t>10% discount  </a:t>
            </a:r>
            <a:r>
              <a:rPr lang="en-US" sz="1250" dirty="0">
                <a:solidFill>
                  <a:srgbClr val="8A7E76"/>
                </a:solidFill>
                <a:latin typeface="Calibri" pitchFamily="34" charset="0"/>
                <a:ea typeface="Calibri" pitchFamily="34" charset="-122"/>
                <a:cs typeface="Calibri" pitchFamily="34" charset="-120"/>
              </a:rPr>
              <a:t>applies automatically at quantity ≥ 5.</a:t>
            </a:r>
            <a:endParaRPr lang="en-US" sz="1250" dirty="0"/>
          </a:p>
        </p:txBody>
      </p:sp>
      <p:sp>
        <p:nvSpPr>
          <p:cNvPr id="16" name="Text 10"/>
          <p:cNvSpPr/>
          <p:nvPr/>
        </p:nvSpPr>
        <p:spPr>
          <a:xfrm>
            <a:off x="502920" y="5074920"/>
            <a:ext cx="1828800" cy="1280160"/>
          </a:xfrm>
          <a:prstGeom prst="rect">
            <a:avLst/>
          </a:prstGeom>
          <a:noFill/>
          <a:ln/>
        </p:spPr>
        <p:txBody>
          <a:bodyPr wrap="square" lIns="0" tIns="0" rIns="0" bIns="0" rtlCol="0" anchor="ctr"/>
          <a:lstStyle/>
          <a:p>
            <a:pPr marL="0" indent="0">
              <a:buNone/>
            </a:pPr>
            <a:r>
              <a:rPr lang="en-US" sz="9000" b="1" dirty="0">
                <a:solidFill>
                  <a:srgbClr val="C1352B">
                    <a:alpha val="18000"/>
                  </a:srgbClr>
                </a:solidFill>
                <a:latin typeface="Cambria" pitchFamily="34" charset="0"/>
                <a:ea typeface="Cambria" pitchFamily="34" charset="-122"/>
                <a:cs typeface="Cambria" pitchFamily="34" charset="-120"/>
              </a:rPr>
              <a:t>3</a:t>
            </a:r>
            <a:endParaRPr lang="en-US" sz="9000" dirty="0"/>
          </a:p>
        </p:txBody>
      </p:sp>
      <p:sp>
        <p:nvSpPr>
          <p:cNvPr id="17" name="Shape 11"/>
          <p:cNvSpPr/>
          <p:nvPr/>
        </p:nvSpPr>
        <p:spPr>
          <a:xfrm>
            <a:off x="5577840" y="1783080"/>
            <a:ext cx="6080760" cy="4434840"/>
          </a:xfrm>
          <a:prstGeom prst="roundRect">
            <a:avLst>
              <a:gd name="adj" fmla="val 1856"/>
            </a:avLst>
          </a:prstGeom>
          <a:solidFill>
            <a:srgbClr val="FFFFFF"/>
          </a:solidFill>
          <a:ln w="12700">
            <a:solidFill>
              <a:srgbClr val="E7DCCD"/>
            </a:solidFill>
            <a:prstDash val="solid"/>
          </a:ln>
          <a:effectLst>
            <a:outerShdw blurRad="88900" dist="38100" dir="5400000" algn="bl" rotWithShape="0">
              <a:srgbClr val="000000">
                <a:alpha val="16000"/>
              </a:srgbClr>
            </a:outerShdw>
          </a:effectLst>
        </p:spPr>
        <p:txBody>
          <a:bodyPr/>
          <a:lstStyle/>
          <a:p>
            <a:endParaRPr lang="en-IN"/>
          </a:p>
        </p:txBody>
      </p:sp>
      <p:sp>
        <p:nvSpPr>
          <p:cNvPr id="18" name="Shape 12"/>
          <p:cNvSpPr/>
          <p:nvPr/>
        </p:nvSpPr>
        <p:spPr>
          <a:xfrm>
            <a:off x="5577840" y="1783080"/>
            <a:ext cx="6080760" cy="384048"/>
          </a:xfrm>
          <a:prstGeom prst="roundRect">
            <a:avLst>
              <a:gd name="adj" fmla="val 21429"/>
            </a:avLst>
          </a:prstGeom>
          <a:solidFill>
            <a:srgbClr val="F3EBE0"/>
          </a:solidFill>
          <a:ln/>
        </p:spPr>
        <p:txBody>
          <a:bodyPr/>
          <a:lstStyle/>
          <a:p>
            <a:endParaRPr lang="en-IN"/>
          </a:p>
        </p:txBody>
      </p:sp>
      <p:sp>
        <p:nvSpPr>
          <p:cNvPr id="19" name="Shape 13"/>
          <p:cNvSpPr/>
          <p:nvPr/>
        </p:nvSpPr>
        <p:spPr>
          <a:xfrm>
            <a:off x="5577840" y="2057400"/>
            <a:ext cx="6080760" cy="109728"/>
          </a:xfrm>
          <a:prstGeom prst="rect">
            <a:avLst/>
          </a:prstGeom>
          <a:solidFill>
            <a:srgbClr val="F3EBE0"/>
          </a:solidFill>
          <a:ln/>
        </p:spPr>
        <p:txBody>
          <a:bodyPr/>
          <a:lstStyle/>
          <a:p>
            <a:endParaRPr lang="en-IN"/>
          </a:p>
        </p:txBody>
      </p:sp>
      <p:sp>
        <p:nvSpPr>
          <p:cNvPr id="20" name="Shape 14"/>
          <p:cNvSpPr/>
          <p:nvPr/>
        </p:nvSpPr>
        <p:spPr>
          <a:xfrm>
            <a:off x="5724144" y="1933956"/>
            <a:ext cx="82296" cy="82296"/>
          </a:xfrm>
          <a:prstGeom prst="ellipse">
            <a:avLst/>
          </a:prstGeom>
          <a:solidFill>
            <a:srgbClr val="E06C5E"/>
          </a:solidFill>
          <a:ln/>
        </p:spPr>
        <p:txBody>
          <a:bodyPr/>
          <a:lstStyle/>
          <a:p>
            <a:endParaRPr lang="en-IN"/>
          </a:p>
        </p:txBody>
      </p:sp>
      <p:sp>
        <p:nvSpPr>
          <p:cNvPr id="21" name="Shape 15"/>
          <p:cNvSpPr/>
          <p:nvPr/>
        </p:nvSpPr>
        <p:spPr>
          <a:xfrm>
            <a:off x="5888736" y="1933956"/>
            <a:ext cx="82296" cy="82296"/>
          </a:xfrm>
          <a:prstGeom prst="ellipse">
            <a:avLst/>
          </a:prstGeom>
          <a:solidFill>
            <a:srgbClr val="E8C15A"/>
          </a:solidFill>
          <a:ln/>
        </p:spPr>
        <p:txBody>
          <a:bodyPr/>
          <a:lstStyle/>
          <a:p>
            <a:endParaRPr lang="en-IN"/>
          </a:p>
        </p:txBody>
      </p:sp>
      <p:sp>
        <p:nvSpPr>
          <p:cNvPr id="22" name="Shape 16"/>
          <p:cNvSpPr/>
          <p:nvPr/>
        </p:nvSpPr>
        <p:spPr>
          <a:xfrm>
            <a:off x="6053328" y="1933956"/>
            <a:ext cx="82296" cy="82296"/>
          </a:xfrm>
          <a:prstGeom prst="ellipse">
            <a:avLst/>
          </a:prstGeom>
          <a:solidFill>
            <a:srgbClr val="7FB98B"/>
          </a:solidFill>
          <a:ln/>
        </p:spPr>
        <p:txBody>
          <a:bodyPr/>
          <a:lstStyle/>
          <a:p>
            <a:endParaRPr lang="en-IN"/>
          </a:p>
        </p:txBody>
      </p:sp>
      <p:sp>
        <p:nvSpPr>
          <p:cNvPr id="23" name="Shape 17"/>
          <p:cNvSpPr/>
          <p:nvPr/>
        </p:nvSpPr>
        <p:spPr>
          <a:xfrm>
            <a:off x="6291072" y="1856232"/>
            <a:ext cx="5166360" cy="237744"/>
          </a:xfrm>
          <a:prstGeom prst="roundRect">
            <a:avLst>
              <a:gd name="adj" fmla="val 23077"/>
            </a:avLst>
          </a:prstGeom>
          <a:solidFill>
            <a:srgbClr val="FFFFFF"/>
          </a:solidFill>
          <a:ln w="9525">
            <a:solidFill>
              <a:srgbClr val="E7DCCD"/>
            </a:solidFill>
            <a:prstDash val="solid"/>
          </a:ln>
        </p:spPr>
        <p:txBody>
          <a:bodyPr/>
          <a:lstStyle/>
          <a:p>
            <a:endParaRPr lang="en-IN"/>
          </a:p>
        </p:txBody>
      </p:sp>
      <p:pic>
        <p:nvPicPr>
          <p:cNvPr id="24" name="Image 4" descr="preencoded.png"/>
          <p:cNvPicPr>
            <a:picLocks noChangeAspect="1"/>
          </p:cNvPicPr>
          <p:nvPr/>
        </p:nvPicPr>
        <p:blipFill>
          <a:blip r:embed="rId4"/>
          <a:stretch>
            <a:fillRect/>
          </a:stretch>
        </p:blipFill>
        <p:spPr>
          <a:xfrm>
            <a:off x="6382512" y="1920240"/>
            <a:ext cx="109728" cy="109728"/>
          </a:xfrm>
          <a:prstGeom prst="rect">
            <a:avLst/>
          </a:prstGeom>
        </p:spPr>
      </p:pic>
      <p:sp>
        <p:nvSpPr>
          <p:cNvPr id="25" name="Text 18"/>
          <p:cNvSpPr/>
          <p:nvPr/>
        </p:nvSpPr>
        <p:spPr>
          <a:xfrm>
            <a:off x="6547104" y="1856232"/>
            <a:ext cx="4846320" cy="237744"/>
          </a:xfrm>
          <a:prstGeom prst="rect">
            <a:avLst/>
          </a:prstGeom>
          <a:noFill/>
          <a:ln/>
        </p:spPr>
        <p:txBody>
          <a:bodyPr wrap="square" lIns="0" tIns="0" rIns="0" bIns="0" rtlCol="0" anchor="ctr"/>
          <a:lstStyle/>
          <a:p>
            <a:pPr marL="0" indent="0" algn="l">
              <a:buNone/>
            </a:pPr>
            <a:r>
              <a:rPr lang="en-US" sz="950" dirty="0">
                <a:solidFill>
                  <a:srgbClr val="8A7E76"/>
                </a:solidFill>
                <a:latin typeface="Calibri" pitchFamily="34" charset="0"/>
                <a:ea typeface="Calibri" pitchFamily="34" charset="-122"/>
                <a:cs typeface="Calibri" pitchFamily="34" charset="-120"/>
              </a:rPr>
              <a:t>moulsai2296-pizzaflow-v2.hf.space</a:t>
            </a:r>
            <a:endParaRPr lang="en-US" sz="950" dirty="0"/>
          </a:p>
        </p:txBody>
      </p:sp>
      <p:sp>
        <p:nvSpPr>
          <p:cNvPr id="26" name="Shape 19"/>
          <p:cNvSpPr/>
          <p:nvPr/>
        </p:nvSpPr>
        <p:spPr>
          <a:xfrm>
            <a:off x="5632704" y="2221992"/>
            <a:ext cx="5971032" cy="3941064"/>
          </a:xfrm>
          <a:prstGeom prst="rect">
            <a:avLst/>
          </a:prstGeom>
          <a:solidFill>
            <a:srgbClr val="FBF6EF"/>
          </a:solidFill>
          <a:ln/>
        </p:spPr>
        <p:txBody>
          <a:bodyPr/>
          <a:lstStyle/>
          <a:p>
            <a:endParaRPr lang="en-IN"/>
          </a:p>
        </p:txBody>
      </p:sp>
      <p:pic>
        <p:nvPicPr>
          <p:cNvPr id="27" name="Image 5" descr="preencoded.png"/>
          <p:cNvPicPr>
            <a:picLocks noChangeAspect="1"/>
          </p:cNvPicPr>
          <p:nvPr/>
        </p:nvPicPr>
        <p:blipFill>
          <a:blip r:embed="rId5">
            <a:alphaModFix amt="70000"/>
          </a:blip>
          <a:stretch>
            <a:fillRect/>
          </a:stretch>
        </p:blipFill>
        <p:spPr>
          <a:xfrm>
            <a:off x="8362188" y="3625596"/>
            <a:ext cx="512064" cy="512064"/>
          </a:xfrm>
          <a:prstGeom prst="rect">
            <a:avLst/>
          </a:prstGeom>
        </p:spPr>
      </p:pic>
      <p:sp>
        <p:nvSpPr>
          <p:cNvPr id="28" name="Text 20"/>
          <p:cNvSpPr/>
          <p:nvPr/>
        </p:nvSpPr>
        <p:spPr>
          <a:xfrm>
            <a:off x="5852160" y="4229100"/>
            <a:ext cx="5532120" cy="274320"/>
          </a:xfrm>
          <a:prstGeom prst="rect">
            <a:avLst/>
          </a:prstGeom>
          <a:noFill/>
          <a:ln/>
        </p:spPr>
        <p:txBody>
          <a:bodyPr wrap="square" lIns="0" tIns="0" rIns="0" bIns="0" rtlCol="0" anchor="ctr"/>
          <a:lstStyle/>
          <a:p>
            <a:pPr marL="0" indent="0" algn="ctr">
              <a:buNone/>
            </a:pPr>
            <a:r>
              <a:rPr lang="en-US" sz="1100" b="1" dirty="0">
                <a:solidFill>
                  <a:srgbClr val="C1352B"/>
                </a:solidFill>
                <a:latin typeface="Calibri" pitchFamily="34" charset="0"/>
                <a:ea typeface="Calibri" pitchFamily="34" charset="-122"/>
                <a:cs typeface="Calibri" pitchFamily="34" charset="-120"/>
              </a:rPr>
              <a:t>Screenshot</a:t>
            </a:r>
            <a:endParaRPr lang="en-US" sz="1100" dirty="0"/>
          </a:p>
        </p:txBody>
      </p:sp>
      <p:sp>
        <p:nvSpPr>
          <p:cNvPr id="29" name="Text 21"/>
          <p:cNvSpPr/>
          <p:nvPr/>
        </p:nvSpPr>
        <p:spPr>
          <a:xfrm>
            <a:off x="5852160" y="4485132"/>
            <a:ext cx="5532120" cy="457200"/>
          </a:xfrm>
          <a:prstGeom prst="rect">
            <a:avLst/>
          </a:prstGeom>
          <a:noFill/>
          <a:ln/>
        </p:spPr>
        <p:txBody>
          <a:bodyPr wrap="square" lIns="0" tIns="0" rIns="0" bIns="0" rtlCol="0" anchor="ctr"/>
          <a:lstStyle/>
          <a:p>
            <a:pPr marL="0" indent="0" algn="ctr">
              <a:buNone/>
            </a:pPr>
            <a:r>
              <a:rPr lang="en-US" sz="1000" i="1" dirty="0">
                <a:solidFill>
                  <a:srgbClr val="8A7E76"/>
                </a:solidFill>
                <a:latin typeface="Calibri" pitchFamily="34" charset="0"/>
                <a:ea typeface="Calibri" pitchFamily="34" charset="-122"/>
                <a:cs typeface="Calibri" pitchFamily="34" charset="-120"/>
              </a:rPr>
              <a:t>Quantity prompt (enter 5 to trigger the 10% discount)</a:t>
            </a:r>
            <a:endParaRPr lang="en-US" sz="1000" dirty="0"/>
          </a:p>
        </p:txBody>
      </p:sp>
      <p:sp>
        <p:nvSpPr>
          <p:cNvPr id="30" name="Text 22"/>
          <p:cNvSpPr/>
          <p:nvPr/>
        </p:nvSpPr>
        <p:spPr>
          <a:xfrm>
            <a:off x="502920" y="6473952"/>
            <a:ext cx="5486400" cy="274320"/>
          </a:xfrm>
          <a:prstGeom prst="rect">
            <a:avLst/>
          </a:prstGeom>
          <a:noFill/>
          <a:ln/>
        </p:spPr>
        <p:txBody>
          <a:bodyPr wrap="square" lIns="0" tIns="0" rIns="0" bIns="0" rtlCol="0" anchor="ctr"/>
          <a:lstStyle/>
          <a:p>
            <a:pPr marL="0" indent="0" algn="l">
              <a:buNone/>
            </a:pPr>
            <a:r>
              <a:rPr lang="en-US" sz="900" dirty="0">
                <a:solidFill>
                  <a:srgbClr val="8A7E76"/>
                </a:solidFill>
                <a:latin typeface="Calibri" pitchFamily="34" charset="0"/>
                <a:ea typeface="Calibri" pitchFamily="34" charset="-122"/>
                <a:cs typeface="Calibri" pitchFamily="34" charset="-120"/>
              </a:rPr>
              <a:t>SliceMatic · PizzaFlow MVP Demo</a:t>
            </a:r>
            <a:endParaRPr lang="en-US" sz="900" dirty="0"/>
          </a:p>
        </p:txBody>
      </p:sp>
      <p:sp>
        <p:nvSpPr>
          <p:cNvPr id="31" name="Text 23"/>
          <p:cNvSpPr/>
          <p:nvPr/>
        </p:nvSpPr>
        <p:spPr>
          <a:xfrm>
            <a:off x="11274552" y="6473952"/>
            <a:ext cx="411480" cy="274320"/>
          </a:xfrm>
          <a:prstGeom prst="rect">
            <a:avLst/>
          </a:prstGeom>
          <a:noFill/>
          <a:ln/>
        </p:spPr>
        <p:txBody>
          <a:bodyPr wrap="square" lIns="0" tIns="0" rIns="0" bIns="0" rtlCol="0" anchor="ctr"/>
          <a:lstStyle/>
          <a:p>
            <a:pPr marL="0" indent="0" algn="r">
              <a:buNone/>
            </a:pPr>
            <a:r>
              <a:rPr lang="en-US" sz="900" dirty="0">
                <a:solidFill>
                  <a:srgbClr val="8A7E76"/>
                </a:solidFill>
                <a:latin typeface="Calibri" pitchFamily="34" charset="0"/>
                <a:ea typeface="Calibri" pitchFamily="34" charset="-122"/>
                <a:cs typeface="Calibri" pitchFamily="34" charset="-120"/>
              </a:rPr>
              <a:t>6</a:t>
            </a:r>
            <a:endParaRPr lang="en-US" sz="900" dirty="0"/>
          </a:p>
        </p:txBody>
      </p:sp>
      <p:pic>
        <p:nvPicPr>
          <p:cNvPr id="32" name="Picture 31">
            <a:extLst>
              <a:ext uri="{FF2B5EF4-FFF2-40B4-BE49-F238E27FC236}">
                <a16:creationId xmlns:a16="http://schemas.microsoft.com/office/drawing/2014/main" id="{C8811716-BCEE-EB93-C7CD-63B798A36698}"/>
              </a:ext>
            </a:extLst>
          </p:cNvPr>
          <p:cNvPicPr>
            <a:picLocks noChangeAspect="1"/>
          </p:cNvPicPr>
          <p:nvPr/>
        </p:nvPicPr>
        <p:blipFill>
          <a:blip r:embed="rId6"/>
          <a:stretch>
            <a:fillRect/>
          </a:stretch>
        </p:blipFill>
        <p:spPr>
          <a:xfrm>
            <a:off x="5577840" y="2167129"/>
            <a:ext cx="6065520" cy="4050792"/>
          </a:xfrm>
          <a:prstGeom prst="rect">
            <a:avLst/>
          </a:prstGeom>
        </p:spPr>
      </p:pic>
      <p:sp>
        <p:nvSpPr>
          <p:cNvPr id="33" name="Rectangle 32">
            <a:extLst>
              <a:ext uri="{FF2B5EF4-FFF2-40B4-BE49-F238E27FC236}">
                <a16:creationId xmlns:a16="http://schemas.microsoft.com/office/drawing/2014/main" id="{EBA8C05C-3E77-6E7C-93B6-C20ECDDEBBE5}"/>
              </a:ext>
            </a:extLst>
          </p:cNvPr>
          <p:cNvSpPr/>
          <p:nvPr/>
        </p:nvSpPr>
        <p:spPr>
          <a:xfrm>
            <a:off x="9946257" y="5374257"/>
            <a:ext cx="1438023" cy="457200"/>
          </a:xfrm>
          <a:prstGeom prst="rect">
            <a:avLst/>
          </a:prstGeom>
          <a:noFill/>
          <a:ln>
            <a:noFill/>
          </a:ln>
        </p:spPr>
        <p:style>
          <a:lnRef idx="0">
            <a:scrgbClr r="0" g="0" b="0"/>
          </a:lnRef>
          <a:fillRef idx="0">
            <a:scrgbClr r="0" g="0" b="0"/>
          </a:fillRef>
          <a:effectRef idx="0">
            <a:scrgbClr r="0" g="0" b="0"/>
          </a:effectRef>
          <a:fontRef idx="minor">
            <a:schemeClr val="accent2"/>
          </a:fontRef>
        </p:style>
        <p:txBody>
          <a:bodyPr rtlCol="0" anchor="ctr"/>
          <a:lstStyle/>
          <a:p>
            <a:pPr algn="ctr"/>
            <a:endParaRPr lang="en-IN"/>
          </a:p>
        </p:txBody>
      </p:sp>
      <mc:AlternateContent xmlns:mc="http://schemas.openxmlformats.org/markup-compatibility/2006" xmlns:p14="http://schemas.microsoft.com/office/powerpoint/2010/main">
        <mc:Choice Requires="p14">
          <p:contentPart p14:bwMode="auto" r:id="rId7">
            <p14:nvContentPartPr>
              <p14:cNvPr id="54" name="Ink 53">
                <a:extLst>
                  <a:ext uri="{FF2B5EF4-FFF2-40B4-BE49-F238E27FC236}">
                    <a16:creationId xmlns:a16="http://schemas.microsoft.com/office/drawing/2014/main" id="{E9DECD6C-2130-731C-E2B8-EC46F75D5761}"/>
                  </a:ext>
                </a:extLst>
              </p14:cNvPr>
              <p14:cNvContentPartPr/>
              <p14:nvPr/>
            </p14:nvContentPartPr>
            <p14:xfrm>
              <a:off x="9948783" y="5339561"/>
              <a:ext cx="360" cy="502920"/>
            </p14:xfrm>
          </p:contentPart>
        </mc:Choice>
        <mc:Fallback xmlns="">
          <p:pic>
            <p:nvPicPr>
              <p:cNvPr id="54" name="Ink 53">
                <a:extLst>
                  <a:ext uri="{FF2B5EF4-FFF2-40B4-BE49-F238E27FC236}">
                    <a16:creationId xmlns:a16="http://schemas.microsoft.com/office/drawing/2014/main" id="{E9DECD6C-2130-731C-E2B8-EC46F75D5761}"/>
                  </a:ext>
                </a:extLst>
              </p:cNvPr>
              <p:cNvPicPr/>
              <p:nvPr/>
            </p:nvPicPr>
            <p:blipFill>
              <a:blip r:embed="rId8"/>
              <a:stretch>
                <a:fillRect/>
              </a:stretch>
            </p:blipFill>
            <p:spPr>
              <a:xfrm>
                <a:off x="9931143" y="5321921"/>
                <a:ext cx="36000" cy="53856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55" name="Ink 54">
                <a:extLst>
                  <a:ext uri="{FF2B5EF4-FFF2-40B4-BE49-F238E27FC236}">
                    <a16:creationId xmlns:a16="http://schemas.microsoft.com/office/drawing/2014/main" id="{4AF9FEF4-0142-0CEB-9A48-D46E4CEB88E4}"/>
                  </a:ext>
                </a:extLst>
              </p14:cNvPr>
              <p14:cNvContentPartPr/>
              <p14:nvPr/>
            </p14:nvContentPartPr>
            <p14:xfrm>
              <a:off x="11362143" y="5339561"/>
              <a:ext cx="360" cy="522000"/>
            </p14:xfrm>
          </p:contentPart>
        </mc:Choice>
        <mc:Fallback xmlns="">
          <p:pic>
            <p:nvPicPr>
              <p:cNvPr id="55" name="Ink 54">
                <a:extLst>
                  <a:ext uri="{FF2B5EF4-FFF2-40B4-BE49-F238E27FC236}">
                    <a16:creationId xmlns:a16="http://schemas.microsoft.com/office/drawing/2014/main" id="{4AF9FEF4-0142-0CEB-9A48-D46E4CEB88E4}"/>
                  </a:ext>
                </a:extLst>
              </p:cNvPr>
              <p:cNvPicPr/>
              <p:nvPr/>
            </p:nvPicPr>
            <p:blipFill>
              <a:blip r:embed="rId10"/>
              <a:stretch>
                <a:fillRect/>
              </a:stretch>
            </p:blipFill>
            <p:spPr>
              <a:xfrm>
                <a:off x="11344143" y="5321921"/>
                <a:ext cx="36000" cy="557640"/>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56" name="Ink 55">
                <a:extLst>
                  <a:ext uri="{FF2B5EF4-FFF2-40B4-BE49-F238E27FC236}">
                    <a16:creationId xmlns:a16="http://schemas.microsoft.com/office/drawing/2014/main" id="{7DF40B4A-0BBE-432B-9037-41ACF4C017C5}"/>
                  </a:ext>
                </a:extLst>
              </p14:cNvPr>
              <p14:cNvContentPartPr/>
              <p14:nvPr/>
            </p14:nvContentPartPr>
            <p14:xfrm>
              <a:off x="9963543" y="5326601"/>
              <a:ext cx="1381680" cy="360"/>
            </p14:xfrm>
          </p:contentPart>
        </mc:Choice>
        <mc:Fallback xmlns="">
          <p:pic>
            <p:nvPicPr>
              <p:cNvPr id="56" name="Ink 55">
                <a:extLst>
                  <a:ext uri="{FF2B5EF4-FFF2-40B4-BE49-F238E27FC236}">
                    <a16:creationId xmlns:a16="http://schemas.microsoft.com/office/drawing/2014/main" id="{7DF40B4A-0BBE-432B-9037-41ACF4C017C5}"/>
                  </a:ext>
                </a:extLst>
              </p:cNvPr>
              <p:cNvPicPr/>
              <p:nvPr/>
            </p:nvPicPr>
            <p:blipFill>
              <a:blip r:embed="rId12"/>
              <a:stretch>
                <a:fillRect/>
              </a:stretch>
            </p:blipFill>
            <p:spPr>
              <a:xfrm>
                <a:off x="9945903" y="5308601"/>
                <a:ext cx="1417320" cy="36000"/>
              </a:xfrm>
              <a:prstGeom prst="rect">
                <a:avLst/>
              </a:prstGeom>
            </p:spPr>
          </p:pic>
        </mc:Fallback>
      </mc:AlternateContent>
      <mc:AlternateContent xmlns:mc="http://schemas.openxmlformats.org/markup-compatibility/2006" xmlns:p14="http://schemas.microsoft.com/office/powerpoint/2010/main">
        <mc:Choice Requires="p14">
          <p:contentPart p14:bwMode="auto" r:id="rId13">
            <p14:nvContentPartPr>
              <p14:cNvPr id="57" name="Ink 56">
                <a:extLst>
                  <a:ext uri="{FF2B5EF4-FFF2-40B4-BE49-F238E27FC236}">
                    <a16:creationId xmlns:a16="http://schemas.microsoft.com/office/drawing/2014/main" id="{D4511102-AFBF-BA12-0353-723C729295C6}"/>
                  </a:ext>
                </a:extLst>
              </p14:cNvPr>
              <p14:cNvContentPartPr/>
              <p14:nvPr/>
            </p14:nvContentPartPr>
            <p14:xfrm>
              <a:off x="9963543" y="5861201"/>
              <a:ext cx="1388160" cy="360"/>
            </p14:xfrm>
          </p:contentPart>
        </mc:Choice>
        <mc:Fallback xmlns="">
          <p:pic>
            <p:nvPicPr>
              <p:cNvPr id="57" name="Ink 56">
                <a:extLst>
                  <a:ext uri="{FF2B5EF4-FFF2-40B4-BE49-F238E27FC236}">
                    <a16:creationId xmlns:a16="http://schemas.microsoft.com/office/drawing/2014/main" id="{D4511102-AFBF-BA12-0353-723C729295C6}"/>
                  </a:ext>
                </a:extLst>
              </p:cNvPr>
              <p:cNvPicPr/>
              <p:nvPr/>
            </p:nvPicPr>
            <p:blipFill>
              <a:blip r:embed="rId14"/>
              <a:stretch>
                <a:fillRect/>
              </a:stretch>
            </p:blipFill>
            <p:spPr>
              <a:xfrm>
                <a:off x="9945903" y="5843561"/>
                <a:ext cx="1423800" cy="36000"/>
              </a:xfrm>
              <a:prstGeom prst="rect">
                <a:avLst/>
              </a:prstGeom>
            </p:spPr>
          </p:pic>
        </mc:Fallback>
      </mc:AlternateContent>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BF6EF"/>
        </a:solidFill>
        <a:effectLst/>
      </p:bgPr>
    </p:bg>
    <p:spTree>
      <p:nvGrpSpPr>
        <p:cNvPr id="1" name=""/>
        <p:cNvGrpSpPr/>
        <p:nvPr/>
      </p:nvGrpSpPr>
      <p:grpSpPr>
        <a:xfrm>
          <a:off x="0" y="0"/>
          <a:ext cx="0" cy="0"/>
          <a:chOff x="0" y="0"/>
          <a:chExt cx="0" cy="0"/>
        </a:xfrm>
      </p:grpSpPr>
      <p:sp>
        <p:nvSpPr>
          <p:cNvPr id="2" name="Text 0"/>
          <p:cNvSpPr/>
          <p:nvPr/>
        </p:nvSpPr>
        <p:spPr>
          <a:xfrm>
            <a:off x="502920" y="457200"/>
            <a:ext cx="8229600" cy="274320"/>
          </a:xfrm>
          <a:prstGeom prst="rect">
            <a:avLst/>
          </a:prstGeom>
          <a:noFill/>
          <a:ln/>
        </p:spPr>
        <p:txBody>
          <a:bodyPr wrap="square" lIns="0" tIns="0" rIns="0" bIns="0" rtlCol="0" anchor="ctr"/>
          <a:lstStyle/>
          <a:p>
            <a:pPr marL="0" indent="0">
              <a:buNone/>
            </a:pPr>
            <a:r>
              <a:rPr lang="en-US" sz="1200" b="1" kern="0" spc="300" dirty="0">
                <a:solidFill>
                  <a:srgbClr val="C1352B"/>
                </a:solidFill>
                <a:latin typeface="Calibri" pitchFamily="34" charset="0"/>
                <a:ea typeface="Calibri" pitchFamily="34" charset="-122"/>
                <a:cs typeface="Calibri" pitchFamily="34" charset="-120"/>
              </a:rPr>
              <a:t>STEP 4 · ITEMISED BILL</a:t>
            </a:r>
            <a:endParaRPr lang="en-US" sz="1200" dirty="0"/>
          </a:p>
        </p:txBody>
      </p:sp>
      <p:sp>
        <p:nvSpPr>
          <p:cNvPr id="3" name="Text 1"/>
          <p:cNvSpPr/>
          <p:nvPr/>
        </p:nvSpPr>
        <p:spPr>
          <a:xfrm>
            <a:off x="475488" y="749808"/>
            <a:ext cx="10515600" cy="685800"/>
          </a:xfrm>
          <a:prstGeom prst="rect">
            <a:avLst/>
          </a:prstGeom>
          <a:noFill/>
          <a:ln/>
        </p:spPr>
        <p:txBody>
          <a:bodyPr wrap="square" lIns="0" tIns="0" rIns="0" bIns="0" rtlCol="0" anchor="ctr"/>
          <a:lstStyle/>
          <a:p>
            <a:pPr marL="0" indent="0">
              <a:buNone/>
            </a:pPr>
            <a:r>
              <a:rPr lang="en-US" sz="3300" b="1" dirty="0">
                <a:solidFill>
                  <a:srgbClr val="2B2422"/>
                </a:solidFill>
                <a:latin typeface="Cambria" pitchFamily="34" charset="0"/>
                <a:ea typeface="Cambria" pitchFamily="34" charset="-122"/>
                <a:cs typeface="Cambria" pitchFamily="34" charset="-120"/>
              </a:rPr>
              <a:t>The bill — every rupee accounted for</a:t>
            </a:r>
            <a:endParaRPr lang="en-US" sz="3300" dirty="0"/>
          </a:p>
        </p:txBody>
      </p:sp>
      <p:sp>
        <p:nvSpPr>
          <p:cNvPr id="4" name="Shape 2"/>
          <p:cNvSpPr/>
          <p:nvPr/>
        </p:nvSpPr>
        <p:spPr>
          <a:xfrm>
            <a:off x="548640" y="1874520"/>
            <a:ext cx="365760" cy="365760"/>
          </a:xfrm>
          <a:prstGeom prst="ellipse">
            <a:avLst/>
          </a:prstGeom>
          <a:solidFill>
            <a:srgbClr val="F3EBE0"/>
          </a:solidFill>
          <a:ln/>
        </p:spPr>
        <p:txBody>
          <a:bodyPr/>
          <a:lstStyle/>
          <a:p>
            <a:endParaRPr lang="en-IN"/>
          </a:p>
        </p:txBody>
      </p:sp>
      <p:pic>
        <p:nvPicPr>
          <p:cNvPr id="5" name="Image 0" descr="preencoded.png"/>
          <p:cNvPicPr>
            <a:picLocks noChangeAspect="1"/>
          </p:cNvPicPr>
          <p:nvPr/>
        </p:nvPicPr>
        <p:blipFill>
          <a:blip r:embed="rId3"/>
          <a:stretch>
            <a:fillRect/>
          </a:stretch>
        </p:blipFill>
        <p:spPr>
          <a:xfrm>
            <a:off x="630936" y="1956816"/>
            <a:ext cx="201168" cy="201168"/>
          </a:xfrm>
          <a:prstGeom prst="rect">
            <a:avLst/>
          </a:prstGeom>
        </p:spPr>
      </p:pic>
      <p:sp>
        <p:nvSpPr>
          <p:cNvPr id="6" name="Text 3"/>
          <p:cNvSpPr/>
          <p:nvPr/>
        </p:nvSpPr>
        <p:spPr>
          <a:xfrm>
            <a:off x="1060704" y="1819656"/>
            <a:ext cx="4114800" cy="640080"/>
          </a:xfrm>
          <a:prstGeom prst="rect">
            <a:avLst/>
          </a:prstGeom>
          <a:noFill/>
          <a:ln/>
        </p:spPr>
        <p:txBody>
          <a:bodyPr wrap="square" lIns="0" tIns="0" rIns="0" bIns="0" rtlCol="0" anchor="t"/>
          <a:lstStyle/>
          <a:p>
            <a:pPr marL="0" indent="0">
              <a:lnSpc>
                <a:spcPct val="102000"/>
              </a:lnSpc>
              <a:buNone/>
            </a:pPr>
            <a:r>
              <a:rPr lang="en-US" sz="1250" b="1" dirty="0">
                <a:solidFill>
                  <a:srgbClr val="2B2422"/>
                </a:solidFill>
                <a:latin typeface="Calibri" pitchFamily="34" charset="0"/>
                <a:ea typeface="Calibri" pitchFamily="34" charset="-122"/>
                <a:cs typeface="Calibri" pitchFamily="34" charset="-120"/>
              </a:rPr>
              <a:t>Itemised  </a:t>
            </a:r>
            <a:r>
              <a:rPr lang="en-US" sz="1250" dirty="0">
                <a:solidFill>
                  <a:srgbClr val="8A7E76"/>
                </a:solidFill>
                <a:latin typeface="Calibri" pitchFamily="34" charset="0"/>
                <a:ea typeface="Calibri" pitchFamily="34" charset="-122"/>
                <a:cs typeface="Calibri" pitchFamily="34" charset="-120"/>
              </a:rPr>
              <a:t>Base + Pizza + Topping, qty, unit price, subtotal.</a:t>
            </a:r>
            <a:endParaRPr lang="en-US" sz="1250" dirty="0"/>
          </a:p>
        </p:txBody>
      </p:sp>
      <p:sp>
        <p:nvSpPr>
          <p:cNvPr id="7" name="Shape 4"/>
          <p:cNvSpPr/>
          <p:nvPr/>
        </p:nvSpPr>
        <p:spPr>
          <a:xfrm>
            <a:off x="548640" y="2715768"/>
            <a:ext cx="365760" cy="365760"/>
          </a:xfrm>
          <a:prstGeom prst="ellipse">
            <a:avLst/>
          </a:prstGeom>
          <a:solidFill>
            <a:srgbClr val="F3EBE0"/>
          </a:solidFill>
          <a:ln/>
        </p:spPr>
        <p:txBody>
          <a:bodyPr/>
          <a:lstStyle/>
          <a:p>
            <a:endParaRPr lang="en-IN"/>
          </a:p>
        </p:txBody>
      </p:sp>
      <p:pic>
        <p:nvPicPr>
          <p:cNvPr id="8" name="Image 1" descr="preencoded.png"/>
          <p:cNvPicPr>
            <a:picLocks noChangeAspect="1"/>
          </p:cNvPicPr>
          <p:nvPr/>
        </p:nvPicPr>
        <p:blipFill>
          <a:blip r:embed="rId3"/>
          <a:stretch>
            <a:fillRect/>
          </a:stretch>
        </p:blipFill>
        <p:spPr>
          <a:xfrm>
            <a:off x="630936" y="2798064"/>
            <a:ext cx="201168" cy="201168"/>
          </a:xfrm>
          <a:prstGeom prst="rect">
            <a:avLst/>
          </a:prstGeom>
        </p:spPr>
      </p:pic>
      <p:sp>
        <p:nvSpPr>
          <p:cNvPr id="9" name="Text 5"/>
          <p:cNvSpPr/>
          <p:nvPr/>
        </p:nvSpPr>
        <p:spPr>
          <a:xfrm>
            <a:off x="1060704" y="2660904"/>
            <a:ext cx="4114800" cy="640080"/>
          </a:xfrm>
          <a:prstGeom prst="rect">
            <a:avLst/>
          </a:prstGeom>
          <a:noFill/>
          <a:ln/>
        </p:spPr>
        <p:txBody>
          <a:bodyPr wrap="square" lIns="0" tIns="0" rIns="0" bIns="0" rtlCol="0" anchor="t"/>
          <a:lstStyle/>
          <a:p>
            <a:pPr marL="0" indent="0">
              <a:lnSpc>
                <a:spcPct val="102000"/>
              </a:lnSpc>
              <a:buNone/>
            </a:pPr>
            <a:r>
              <a:rPr lang="en-US" sz="1250" b="1" dirty="0">
                <a:solidFill>
                  <a:srgbClr val="2B2422"/>
                </a:solidFill>
                <a:latin typeface="Calibri" pitchFamily="34" charset="0"/>
                <a:ea typeface="Calibri" pitchFamily="34" charset="-122"/>
                <a:cs typeface="Calibri" pitchFamily="34" charset="-120"/>
              </a:rPr>
              <a:t>Discount line  </a:t>
            </a:r>
            <a:r>
              <a:rPr lang="en-US" sz="1250" dirty="0">
                <a:solidFill>
                  <a:srgbClr val="8A7E76"/>
                </a:solidFill>
                <a:latin typeface="Calibri" pitchFamily="34" charset="0"/>
                <a:ea typeface="Calibri" pitchFamily="34" charset="-122"/>
                <a:cs typeface="Calibri" pitchFamily="34" charset="-120"/>
              </a:rPr>
              <a:t>10% shown when quantity ≥ 5.</a:t>
            </a:r>
            <a:endParaRPr lang="en-US" sz="1250" dirty="0"/>
          </a:p>
        </p:txBody>
      </p:sp>
      <p:sp>
        <p:nvSpPr>
          <p:cNvPr id="10" name="Shape 6"/>
          <p:cNvSpPr/>
          <p:nvPr/>
        </p:nvSpPr>
        <p:spPr>
          <a:xfrm>
            <a:off x="548640" y="3557016"/>
            <a:ext cx="365760" cy="365760"/>
          </a:xfrm>
          <a:prstGeom prst="ellipse">
            <a:avLst/>
          </a:prstGeom>
          <a:solidFill>
            <a:srgbClr val="F3EBE0"/>
          </a:solidFill>
          <a:ln/>
        </p:spPr>
        <p:txBody>
          <a:bodyPr/>
          <a:lstStyle/>
          <a:p>
            <a:endParaRPr lang="en-IN"/>
          </a:p>
        </p:txBody>
      </p:sp>
      <p:pic>
        <p:nvPicPr>
          <p:cNvPr id="11" name="Image 2" descr="preencoded.png"/>
          <p:cNvPicPr>
            <a:picLocks noChangeAspect="1"/>
          </p:cNvPicPr>
          <p:nvPr/>
        </p:nvPicPr>
        <p:blipFill>
          <a:blip r:embed="rId3"/>
          <a:stretch>
            <a:fillRect/>
          </a:stretch>
        </p:blipFill>
        <p:spPr>
          <a:xfrm>
            <a:off x="630936" y="3639312"/>
            <a:ext cx="201168" cy="201168"/>
          </a:xfrm>
          <a:prstGeom prst="rect">
            <a:avLst/>
          </a:prstGeom>
        </p:spPr>
      </p:pic>
      <p:sp>
        <p:nvSpPr>
          <p:cNvPr id="12" name="Text 7"/>
          <p:cNvSpPr/>
          <p:nvPr/>
        </p:nvSpPr>
        <p:spPr>
          <a:xfrm>
            <a:off x="1060704" y="3502152"/>
            <a:ext cx="4114800" cy="640080"/>
          </a:xfrm>
          <a:prstGeom prst="rect">
            <a:avLst/>
          </a:prstGeom>
          <a:noFill/>
          <a:ln/>
        </p:spPr>
        <p:txBody>
          <a:bodyPr wrap="square" lIns="0" tIns="0" rIns="0" bIns="0" rtlCol="0" anchor="t"/>
          <a:lstStyle/>
          <a:p>
            <a:pPr marL="0" indent="0">
              <a:lnSpc>
                <a:spcPct val="102000"/>
              </a:lnSpc>
              <a:buNone/>
            </a:pPr>
            <a:r>
              <a:rPr lang="en-US" sz="1250" b="1" dirty="0">
                <a:solidFill>
                  <a:srgbClr val="2B2422"/>
                </a:solidFill>
                <a:latin typeface="Calibri" pitchFamily="34" charset="0"/>
                <a:ea typeface="Calibri" pitchFamily="34" charset="-122"/>
                <a:cs typeface="Calibri" pitchFamily="34" charset="-120"/>
              </a:rPr>
              <a:t>GST @ 18%  </a:t>
            </a:r>
            <a:r>
              <a:rPr lang="en-US" sz="1250" dirty="0">
                <a:solidFill>
                  <a:srgbClr val="8A7E76"/>
                </a:solidFill>
                <a:latin typeface="Calibri" pitchFamily="34" charset="0"/>
                <a:ea typeface="Calibri" pitchFamily="34" charset="-122"/>
                <a:cs typeface="Calibri" pitchFamily="34" charset="-120"/>
              </a:rPr>
              <a:t>charged on the post-discount taxable amount.</a:t>
            </a:r>
            <a:endParaRPr lang="en-US" sz="1250" dirty="0"/>
          </a:p>
        </p:txBody>
      </p:sp>
      <p:sp>
        <p:nvSpPr>
          <p:cNvPr id="13" name="Shape 8"/>
          <p:cNvSpPr/>
          <p:nvPr/>
        </p:nvSpPr>
        <p:spPr>
          <a:xfrm>
            <a:off x="548640" y="4398264"/>
            <a:ext cx="365760" cy="365760"/>
          </a:xfrm>
          <a:prstGeom prst="ellipse">
            <a:avLst/>
          </a:prstGeom>
          <a:solidFill>
            <a:srgbClr val="F3EBE0"/>
          </a:solidFill>
          <a:ln/>
        </p:spPr>
        <p:txBody>
          <a:bodyPr/>
          <a:lstStyle/>
          <a:p>
            <a:endParaRPr lang="en-IN"/>
          </a:p>
        </p:txBody>
      </p:sp>
      <p:pic>
        <p:nvPicPr>
          <p:cNvPr id="14" name="Image 3" descr="preencoded.png"/>
          <p:cNvPicPr>
            <a:picLocks noChangeAspect="1"/>
          </p:cNvPicPr>
          <p:nvPr/>
        </p:nvPicPr>
        <p:blipFill>
          <a:blip r:embed="rId3"/>
          <a:stretch>
            <a:fillRect/>
          </a:stretch>
        </p:blipFill>
        <p:spPr>
          <a:xfrm>
            <a:off x="630936" y="4480560"/>
            <a:ext cx="201168" cy="201168"/>
          </a:xfrm>
          <a:prstGeom prst="rect">
            <a:avLst/>
          </a:prstGeom>
        </p:spPr>
      </p:pic>
      <p:sp>
        <p:nvSpPr>
          <p:cNvPr id="15" name="Text 9"/>
          <p:cNvSpPr/>
          <p:nvPr/>
        </p:nvSpPr>
        <p:spPr>
          <a:xfrm>
            <a:off x="1060704" y="4343400"/>
            <a:ext cx="4114800" cy="640080"/>
          </a:xfrm>
          <a:prstGeom prst="rect">
            <a:avLst/>
          </a:prstGeom>
          <a:noFill/>
          <a:ln/>
        </p:spPr>
        <p:txBody>
          <a:bodyPr wrap="square" lIns="0" tIns="0" rIns="0" bIns="0" rtlCol="0" anchor="t"/>
          <a:lstStyle/>
          <a:p>
            <a:pPr marL="0" indent="0">
              <a:lnSpc>
                <a:spcPct val="102000"/>
              </a:lnSpc>
              <a:buNone/>
            </a:pPr>
            <a:r>
              <a:rPr lang="en-US" sz="1250" b="1" dirty="0">
                <a:solidFill>
                  <a:srgbClr val="2B2422"/>
                </a:solidFill>
                <a:latin typeface="Calibri" pitchFamily="34" charset="0"/>
                <a:ea typeface="Calibri" pitchFamily="34" charset="-122"/>
                <a:cs typeface="Calibri" pitchFamily="34" charset="-120"/>
              </a:rPr>
              <a:t>Final payable  </a:t>
            </a:r>
            <a:r>
              <a:rPr lang="en-US" sz="1250" dirty="0">
                <a:solidFill>
                  <a:srgbClr val="8A7E76"/>
                </a:solidFill>
                <a:latin typeface="Calibri" pitchFamily="34" charset="0"/>
                <a:ea typeface="Calibri" pitchFamily="34" charset="-122"/>
                <a:cs typeface="Calibri" pitchFamily="34" charset="-120"/>
              </a:rPr>
              <a:t>rounded to 2 decimals, INR on every line.</a:t>
            </a:r>
            <a:endParaRPr lang="en-US" sz="1250" dirty="0"/>
          </a:p>
        </p:txBody>
      </p:sp>
      <p:sp>
        <p:nvSpPr>
          <p:cNvPr id="16" name="Text 10"/>
          <p:cNvSpPr/>
          <p:nvPr/>
        </p:nvSpPr>
        <p:spPr>
          <a:xfrm>
            <a:off x="502920" y="5074920"/>
            <a:ext cx="1828800" cy="1280160"/>
          </a:xfrm>
          <a:prstGeom prst="rect">
            <a:avLst/>
          </a:prstGeom>
          <a:noFill/>
          <a:ln/>
        </p:spPr>
        <p:txBody>
          <a:bodyPr wrap="square" lIns="0" tIns="0" rIns="0" bIns="0" rtlCol="0" anchor="ctr"/>
          <a:lstStyle/>
          <a:p>
            <a:pPr marL="0" indent="0">
              <a:buNone/>
            </a:pPr>
            <a:r>
              <a:rPr lang="en-US" sz="9000" b="1" dirty="0">
                <a:solidFill>
                  <a:srgbClr val="C1352B">
                    <a:alpha val="18000"/>
                  </a:srgbClr>
                </a:solidFill>
                <a:latin typeface="Cambria" pitchFamily="34" charset="0"/>
                <a:ea typeface="Cambria" pitchFamily="34" charset="-122"/>
                <a:cs typeface="Cambria" pitchFamily="34" charset="-120"/>
              </a:rPr>
              <a:t>4</a:t>
            </a:r>
            <a:endParaRPr lang="en-US" sz="9000" dirty="0"/>
          </a:p>
        </p:txBody>
      </p:sp>
      <p:sp>
        <p:nvSpPr>
          <p:cNvPr id="17" name="Shape 11"/>
          <p:cNvSpPr/>
          <p:nvPr/>
        </p:nvSpPr>
        <p:spPr>
          <a:xfrm>
            <a:off x="5577840" y="1783080"/>
            <a:ext cx="6080760" cy="4434840"/>
          </a:xfrm>
          <a:prstGeom prst="roundRect">
            <a:avLst>
              <a:gd name="adj" fmla="val 1856"/>
            </a:avLst>
          </a:prstGeom>
          <a:solidFill>
            <a:srgbClr val="FFFFFF"/>
          </a:solidFill>
          <a:ln w="12700">
            <a:solidFill>
              <a:srgbClr val="E7DCCD"/>
            </a:solidFill>
            <a:prstDash val="solid"/>
          </a:ln>
          <a:effectLst>
            <a:outerShdw blurRad="88900" dist="38100" dir="5400000" algn="bl" rotWithShape="0">
              <a:srgbClr val="000000">
                <a:alpha val="16000"/>
              </a:srgbClr>
            </a:outerShdw>
          </a:effectLst>
        </p:spPr>
        <p:txBody>
          <a:bodyPr/>
          <a:lstStyle/>
          <a:p>
            <a:endParaRPr lang="en-IN"/>
          </a:p>
        </p:txBody>
      </p:sp>
      <p:sp>
        <p:nvSpPr>
          <p:cNvPr id="18" name="Shape 12"/>
          <p:cNvSpPr/>
          <p:nvPr/>
        </p:nvSpPr>
        <p:spPr>
          <a:xfrm>
            <a:off x="5577840" y="1783080"/>
            <a:ext cx="6080760" cy="384048"/>
          </a:xfrm>
          <a:prstGeom prst="roundRect">
            <a:avLst>
              <a:gd name="adj" fmla="val 21429"/>
            </a:avLst>
          </a:prstGeom>
          <a:solidFill>
            <a:srgbClr val="F3EBE0"/>
          </a:solidFill>
          <a:ln/>
        </p:spPr>
        <p:txBody>
          <a:bodyPr/>
          <a:lstStyle/>
          <a:p>
            <a:endParaRPr lang="en-IN"/>
          </a:p>
        </p:txBody>
      </p:sp>
      <p:sp>
        <p:nvSpPr>
          <p:cNvPr id="19" name="Shape 13"/>
          <p:cNvSpPr/>
          <p:nvPr/>
        </p:nvSpPr>
        <p:spPr>
          <a:xfrm>
            <a:off x="5577840" y="2057400"/>
            <a:ext cx="6080760" cy="109728"/>
          </a:xfrm>
          <a:prstGeom prst="rect">
            <a:avLst/>
          </a:prstGeom>
          <a:solidFill>
            <a:srgbClr val="F3EBE0"/>
          </a:solidFill>
          <a:ln/>
        </p:spPr>
        <p:txBody>
          <a:bodyPr/>
          <a:lstStyle/>
          <a:p>
            <a:endParaRPr lang="en-IN"/>
          </a:p>
        </p:txBody>
      </p:sp>
      <p:sp>
        <p:nvSpPr>
          <p:cNvPr id="20" name="Shape 14"/>
          <p:cNvSpPr/>
          <p:nvPr/>
        </p:nvSpPr>
        <p:spPr>
          <a:xfrm>
            <a:off x="5724144" y="1933956"/>
            <a:ext cx="82296" cy="82296"/>
          </a:xfrm>
          <a:prstGeom prst="ellipse">
            <a:avLst/>
          </a:prstGeom>
          <a:solidFill>
            <a:srgbClr val="E06C5E"/>
          </a:solidFill>
          <a:ln/>
        </p:spPr>
        <p:txBody>
          <a:bodyPr/>
          <a:lstStyle/>
          <a:p>
            <a:endParaRPr lang="en-IN"/>
          </a:p>
        </p:txBody>
      </p:sp>
      <p:sp>
        <p:nvSpPr>
          <p:cNvPr id="21" name="Shape 15"/>
          <p:cNvSpPr/>
          <p:nvPr/>
        </p:nvSpPr>
        <p:spPr>
          <a:xfrm>
            <a:off x="5888736" y="1933956"/>
            <a:ext cx="82296" cy="82296"/>
          </a:xfrm>
          <a:prstGeom prst="ellipse">
            <a:avLst/>
          </a:prstGeom>
          <a:solidFill>
            <a:srgbClr val="E8C15A"/>
          </a:solidFill>
          <a:ln/>
        </p:spPr>
        <p:txBody>
          <a:bodyPr/>
          <a:lstStyle/>
          <a:p>
            <a:endParaRPr lang="en-IN"/>
          </a:p>
        </p:txBody>
      </p:sp>
      <p:sp>
        <p:nvSpPr>
          <p:cNvPr id="22" name="Shape 16"/>
          <p:cNvSpPr/>
          <p:nvPr/>
        </p:nvSpPr>
        <p:spPr>
          <a:xfrm>
            <a:off x="6053328" y="1933956"/>
            <a:ext cx="82296" cy="82296"/>
          </a:xfrm>
          <a:prstGeom prst="ellipse">
            <a:avLst/>
          </a:prstGeom>
          <a:solidFill>
            <a:srgbClr val="7FB98B"/>
          </a:solidFill>
          <a:ln/>
        </p:spPr>
        <p:txBody>
          <a:bodyPr/>
          <a:lstStyle/>
          <a:p>
            <a:endParaRPr lang="en-IN"/>
          </a:p>
        </p:txBody>
      </p:sp>
      <p:sp>
        <p:nvSpPr>
          <p:cNvPr id="23" name="Shape 17"/>
          <p:cNvSpPr/>
          <p:nvPr/>
        </p:nvSpPr>
        <p:spPr>
          <a:xfrm>
            <a:off x="6291072" y="1856232"/>
            <a:ext cx="5166360" cy="237744"/>
          </a:xfrm>
          <a:prstGeom prst="roundRect">
            <a:avLst>
              <a:gd name="adj" fmla="val 23077"/>
            </a:avLst>
          </a:prstGeom>
          <a:solidFill>
            <a:srgbClr val="FFFFFF"/>
          </a:solidFill>
          <a:ln w="9525">
            <a:solidFill>
              <a:srgbClr val="E7DCCD"/>
            </a:solidFill>
            <a:prstDash val="solid"/>
          </a:ln>
        </p:spPr>
        <p:txBody>
          <a:bodyPr/>
          <a:lstStyle/>
          <a:p>
            <a:endParaRPr lang="en-IN"/>
          </a:p>
        </p:txBody>
      </p:sp>
      <p:pic>
        <p:nvPicPr>
          <p:cNvPr id="24" name="Image 4" descr="preencoded.png"/>
          <p:cNvPicPr>
            <a:picLocks noChangeAspect="1"/>
          </p:cNvPicPr>
          <p:nvPr/>
        </p:nvPicPr>
        <p:blipFill>
          <a:blip r:embed="rId4"/>
          <a:stretch>
            <a:fillRect/>
          </a:stretch>
        </p:blipFill>
        <p:spPr>
          <a:xfrm>
            <a:off x="6382512" y="1920240"/>
            <a:ext cx="109728" cy="109728"/>
          </a:xfrm>
          <a:prstGeom prst="rect">
            <a:avLst/>
          </a:prstGeom>
        </p:spPr>
      </p:pic>
      <p:sp>
        <p:nvSpPr>
          <p:cNvPr id="25" name="Text 18"/>
          <p:cNvSpPr/>
          <p:nvPr/>
        </p:nvSpPr>
        <p:spPr>
          <a:xfrm>
            <a:off x="6547104" y="1856232"/>
            <a:ext cx="4846320" cy="237744"/>
          </a:xfrm>
          <a:prstGeom prst="rect">
            <a:avLst/>
          </a:prstGeom>
          <a:noFill/>
          <a:ln/>
        </p:spPr>
        <p:txBody>
          <a:bodyPr wrap="square" lIns="0" tIns="0" rIns="0" bIns="0" rtlCol="0" anchor="ctr"/>
          <a:lstStyle/>
          <a:p>
            <a:pPr marL="0" indent="0" algn="l">
              <a:buNone/>
            </a:pPr>
            <a:r>
              <a:rPr lang="en-US" sz="950" dirty="0">
                <a:solidFill>
                  <a:srgbClr val="8A7E76"/>
                </a:solidFill>
                <a:latin typeface="Calibri" pitchFamily="34" charset="0"/>
                <a:ea typeface="Calibri" pitchFamily="34" charset="-122"/>
                <a:cs typeface="Calibri" pitchFamily="34" charset="-120"/>
              </a:rPr>
              <a:t>moulsai2296-pizzaflow-v2.hf.space</a:t>
            </a:r>
            <a:endParaRPr lang="en-US" sz="950" dirty="0"/>
          </a:p>
        </p:txBody>
      </p:sp>
      <p:sp>
        <p:nvSpPr>
          <p:cNvPr id="26" name="Shape 19"/>
          <p:cNvSpPr/>
          <p:nvPr/>
        </p:nvSpPr>
        <p:spPr>
          <a:xfrm>
            <a:off x="5632704" y="2221992"/>
            <a:ext cx="5971032" cy="3941064"/>
          </a:xfrm>
          <a:prstGeom prst="rect">
            <a:avLst/>
          </a:prstGeom>
          <a:solidFill>
            <a:srgbClr val="FBF6EF"/>
          </a:solidFill>
          <a:ln/>
        </p:spPr>
        <p:txBody>
          <a:bodyPr/>
          <a:lstStyle/>
          <a:p>
            <a:endParaRPr lang="en-IN"/>
          </a:p>
        </p:txBody>
      </p:sp>
      <p:pic>
        <p:nvPicPr>
          <p:cNvPr id="27" name="Image 5" descr="preencoded.png"/>
          <p:cNvPicPr>
            <a:picLocks noChangeAspect="1"/>
          </p:cNvPicPr>
          <p:nvPr/>
        </p:nvPicPr>
        <p:blipFill>
          <a:blip r:embed="rId5">
            <a:alphaModFix amt="70000"/>
          </a:blip>
          <a:stretch>
            <a:fillRect/>
          </a:stretch>
        </p:blipFill>
        <p:spPr>
          <a:xfrm>
            <a:off x="8362188" y="3625596"/>
            <a:ext cx="512064" cy="512064"/>
          </a:xfrm>
          <a:prstGeom prst="rect">
            <a:avLst/>
          </a:prstGeom>
        </p:spPr>
      </p:pic>
      <p:sp>
        <p:nvSpPr>
          <p:cNvPr id="28" name="Text 20"/>
          <p:cNvSpPr/>
          <p:nvPr/>
        </p:nvSpPr>
        <p:spPr>
          <a:xfrm>
            <a:off x="5852160" y="4229100"/>
            <a:ext cx="5532120" cy="274320"/>
          </a:xfrm>
          <a:prstGeom prst="rect">
            <a:avLst/>
          </a:prstGeom>
          <a:noFill/>
          <a:ln/>
        </p:spPr>
        <p:txBody>
          <a:bodyPr wrap="square" lIns="0" tIns="0" rIns="0" bIns="0" rtlCol="0" anchor="ctr"/>
          <a:lstStyle/>
          <a:p>
            <a:pPr marL="0" indent="0" algn="ctr">
              <a:buNone/>
            </a:pPr>
            <a:r>
              <a:rPr lang="en-US" sz="1100" b="1" dirty="0">
                <a:solidFill>
                  <a:srgbClr val="C1352B"/>
                </a:solidFill>
                <a:latin typeface="Calibri" pitchFamily="34" charset="0"/>
                <a:ea typeface="Calibri" pitchFamily="34" charset="-122"/>
                <a:cs typeface="Calibri" pitchFamily="34" charset="-120"/>
              </a:rPr>
              <a:t>Screenshot</a:t>
            </a:r>
            <a:endParaRPr lang="en-US" sz="1100" dirty="0"/>
          </a:p>
        </p:txBody>
      </p:sp>
      <p:sp>
        <p:nvSpPr>
          <p:cNvPr id="29" name="Text 21"/>
          <p:cNvSpPr/>
          <p:nvPr/>
        </p:nvSpPr>
        <p:spPr>
          <a:xfrm>
            <a:off x="5852160" y="4485132"/>
            <a:ext cx="5532120" cy="457200"/>
          </a:xfrm>
          <a:prstGeom prst="rect">
            <a:avLst/>
          </a:prstGeom>
          <a:noFill/>
          <a:ln/>
        </p:spPr>
        <p:txBody>
          <a:bodyPr wrap="square" lIns="0" tIns="0" rIns="0" bIns="0" rtlCol="0" anchor="ctr"/>
          <a:lstStyle/>
          <a:p>
            <a:pPr marL="0" indent="0" algn="ctr">
              <a:buNone/>
            </a:pPr>
            <a:r>
              <a:rPr lang="en-US" sz="1000" i="1" dirty="0">
                <a:solidFill>
                  <a:srgbClr val="8A7E76"/>
                </a:solidFill>
                <a:latin typeface="Calibri" pitchFamily="34" charset="0"/>
                <a:ea typeface="Calibri" pitchFamily="34" charset="-122"/>
                <a:cs typeface="Calibri" pitchFamily="34" charset="-120"/>
              </a:rPr>
              <a:t>Itemised bill: unit price, subtotal, discount, GST, total</a:t>
            </a:r>
            <a:endParaRPr lang="en-US" sz="1000" dirty="0"/>
          </a:p>
        </p:txBody>
      </p:sp>
      <p:sp>
        <p:nvSpPr>
          <p:cNvPr id="30" name="Text 22"/>
          <p:cNvSpPr/>
          <p:nvPr/>
        </p:nvSpPr>
        <p:spPr>
          <a:xfrm>
            <a:off x="502920" y="6473952"/>
            <a:ext cx="5486400" cy="274320"/>
          </a:xfrm>
          <a:prstGeom prst="rect">
            <a:avLst/>
          </a:prstGeom>
          <a:noFill/>
          <a:ln/>
        </p:spPr>
        <p:txBody>
          <a:bodyPr wrap="square" lIns="0" tIns="0" rIns="0" bIns="0" rtlCol="0" anchor="ctr"/>
          <a:lstStyle/>
          <a:p>
            <a:pPr marL="0" indent="0" algn="l">
              <a:buNone/>
            </a:pPr>
            <a:r>
              <a:rPr lang="en-US" sz="900" dirty="0">
                <a:solidFill>
                  <a:srgbClr val="8A7E76"/>
                </a:solidFill>
                <a:latin typeface="Calibri" pitchFamily="34" charset="0"/>
                <a:ea typeface="Calibri" pitchFamily="34" charset="-122"/>
                <a:cs typeface="Calibri" pitchFamily="34" charset="-120"/>
              </a:rPr>
              <a:t>SliceMatic · PizzaFlow MVP Demo</a:t>
            </a:r>
            <a:endParaRPr lang="en-US" sz="900" dirty="0"/>
          </a:p>
        </p:txBody>
      </p:sp>
      <p:sp>
        <p:nvSpPr>
          <p:cNvPr id="31" name="Text 23"/>
          <p:cNvSpPr/>
          <p:nvPr/>
        </p:nvSpPr>
        <p:spPr>
          <a:xfrm>
            <a:off x="11274552" y="6473952"/>
            <a:ext cx="411480" cy="274320"/>
          </a:xfrm>
          <a:prstGeom prst="rect">
            <a:avLst/>
          </a:prstGeom>
          <a:noFill/>
          <a:ln/>
        </p:spPr>
        <p:txBody>
          <a:bodyPr wrap="square" lIns="0" tIns="0" rIns="0" bIns="0" rtlCol="0" anchor="ctr"/>
          <a:lstStyle/>
          <a:p>
            <a:pPr marL="0" indent="0" algn="r">
              <a:buNone/>
            </a:pPr>
            <a:r>
              <a:rPr lang="en-US" sz="900" dirty="0">
                <a:solidFill>
                  <a:srgbClr val="8A7E76"/>
                </a:solidFill>
                <a:latin typeface="Calibri" pitchFamily="34" charset="0"/>
                <a:ea typeface="Calibri" pitchFamily="34" charset="-122"/>
                <a:cs typeface="Calibri" pitchFamily="34" charset="-120"/>
              </a:rPr>
              <a:t>7</a:t>
            </a:r>
            <a:endParaRPr lang="en-US" sz="900" dirty="0"/>
          </a:p>
        </p:txBody>
      </p:sp>
      <p:pic>
        <p:nvPicPr>
          <p:cNvPr id="33" name="Picture 32">
            <a:extLst>
              <a:ext uri="{FF2B5EF4-FFF2-40B4-BE49-F238E27FC236}">
                <a16:creationId xmlns:a16="http://schemas.microsoft.com/office/drawing/2014/main" id="{248E90FA-0C1C-DB92-326C-52CA0428C1B1}"/>
              </a:ext>
            </a:extLst>
          </p:cNvPr>
          <p:cNvPicPr>
            <a:picLocks noChangeAspect="1"/>
          </p:cNvPicPr>
          <p:nvPr/>
        </p:nvPicPr>
        <p:blipFill>
          <a:blip r:embed="rId6"/>
          <a:stretch>
            <a:fillRect/>
          </a:stretch>
        </p:blipFill>
        <p:spPr>
          <a:xfrm>
            <a:off x="5577840" y="2194560"/>
            <a:ext cx="6080759" cy="3986784"/>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BF6EF"/>
        </a:solidFill>
        <a:effectLst/>
      </p:bgPr>
    </p:bg>
    <p:spTree>
      <p:nvGrpSpPr>
        <p:cNvPr id="1" name=""/>
        <p:cNvGrpSpPr/>
        <p:nvPr/>
      </p:nvGrpSpPr>
      <p:grpSpPr>
        <a:xfrm>
          <a:off x="0" y="0"/>
          <a:ext cx="0" cy="0"/>
          <a:chOff x="0" y="0"/>
          <a:chExt cx="0" cy="0"/>
        </a:xfrm>
      </p:grpSpPr>
      <p:sp>
        <p:nvSpPr>
          <p:cNvPr id="2" name="Text 0"/>
          <p:cNvSpPr/>
          <p:nvPr/>
        </p:nvSpPr>
        <p:spPr>
          <a:xfrm>
            <a:off x="502920" y="457200"/>
            <a:ext cx="8229600" cy="274320"/>
          </a:xfrm>
          <a:prstGeom prst="rect">
            <a:avLst/>
          </a:prstGeom>
          <a:noFill/>
          <a:ln/>
        </p:spPr>
        <p:txBody>
          <a:bodyPr wrap="square" lIns="0" tIns="0" rIns="0" bIns="0" rtlCol="0" anchor="ctr"/>
          <a:lstStyle/>
          <a:p>
            <a:pPr marL="0" indent="0">
              <a:buNone/>
            </a:pPr>
            <a:r>
              <a:rPr lang="en-US" sz="1200" b="1" kern="0" spc="300" dirty="0">
                <a:solidFill>
                  <a:srgbClr val="C1352B"/>
                </a:solidFill>
                <a:latin typeface="Calibri" pitchFamily="34" charset="0"/>
                <a:ea typeface="Calibri" pitchFamily="34" charset="-122"/>
                <a:cs typeface="Calibri" pitchFamily="34" charset="-120"/>
              </a:rPr>
              <a:t>STEP 5 · PAYMENT</a:t>
            </a:r>
            <a:endParaRPr lang="en-US" sz="1200" dirty="0"/>
          </a:p>
        </p:txBody>
      </p:sp>
      <p:sp>
        <p:nvSpPr>
          <p:cNvPr id="3" name="Text 1"/>
          <p:cNvSpPr/>
          <p:nvPr/>
        </p:nvSpPr>
        <p:spPr>
          <a:xfrm>
            <a:off x="475488" y="749808"/>
            <a:ext cx="10515600" cy="685800"/>
          </a:xfrm>
          <a:prstGeom prst="rect">
            <a:avLst/>
          </a:prstGeom>
          <a:noFill/>
          <a:ln/>
        </p:spPr>
        <p:txBody>
          <a:bodyPr wrap="square" lIns="0" tIns="0" rIns="0" bIns="0" rtlCol="0" anchor="ctr"/>
          <a:lstStyle/>
          <a:p>
            <a:pPr marL="0" indent="0">
              <a:buNone/>
            </a:pPr>
            <a:r>
              <a:rPr lang="en-US" sz="3300" b="1" dirty="0">
                <a:solidFill>
                  <a:srgbClr val="2B2422"/>
                </a:solidFill>
                <a:latin typeface="Cambria" pitchFamily="34" charset="0"/>
                <a:ea typeface="Cambria" pitchFamily="34" charset="-122"/>
                <a:cs typeface="Cambria" pitchFamily="34" charset="-120"/>
              </a:rPr>
              <a:t>Payment mode &amp; confirmation</a:t>
            </a:r>
            <a:endParaRPr lang="en-US" sz="3300" dirty="0"/>
          </a:p>
        </p:txBody>
      </p:sp>
      <p:sp>
        <p:nvSpPr>
          <p:cNvPr id="4" name="Shape 2"/>
          <p:cNvSpPr/>
          <p:nvPr/>
        </p:nvSpPr>
        <p:spPr>
          <a:xfrm>
            <a:off x="548640" y="1874520"/>
            <a:ext cx="365760" cy="365760"/>
          </a:xfrm>
          <a:prstGeom prst="ellipse">
            <a:avLst/>
          </a:prstGeom>
          <a:solidFill>
            <a:srgbClr val="F3EBE0"/>
          </a:solidFill>
          <a:ln/>
        </p:spPr>
        <p:txBody>
          <a:bodyPr/>
          <a:lstStyle/>
          <a:p>
            <a:endParaRPr lang="en-IN"/>
          </a:p>
        </p:txBody>
      </p:sp>
      <p:pic>
        <p:nvPicPr>
          <p:cNvPr id="5" name="Image 0" descr="preencoded.png"/>
          <p:cNvPicPr>
            <a:picLocks noChangeAspect="1"/>
          </p:cNvPicPr>
          <p:nvPr/>
        </p:nvPicPr>
        <p:blipFill>
          <a:blip r:embed="rId3"/>
          <a:stretch>
            <a:fillRect/>
          </a:stretch>
        </p:blipFill>
        <p:spPr>
          <a:xfrm>
            <a:off x="630936" y="1956816"/>
            <a:ext cx="201168" cy="201168"/>
          </a:xfrm>
          <a:prstGeom prst="rect">
            <a:avLst/>
          </a:prstGeom>
        </p:spPr>
      </p:pic>
      <p:sp>
        <p:nvSpPr>
          <p:cNvPr id="6" name="Text 3"/>
          <p:cNvSpPr/>
          <p:nvPr/>
        </p:nvSpPr>
        <p:spPr>
          <a:xfrm>
            <a:off x="1060704" y="1819656"/>
            <a:ext cx="4114800" cy="640080"/>
          </a:xfrm>
          <a:prstGeom prst="rect">
            <a:avLst/>
          </a:prstGeom>
          <a:noFill/>
          <a:ln/>
        </p:spPr>
        <p:txBody>
          <a:bodyPr wrap="square" lIns="0" tIns="0" rIns="0" bIns="0" rtlCol="0" anchor="t"/>
          <a:lstStyle/>
          <a:p>
            <a:pPr marL="0" indent="0">
              <a:lnSpc>
                <a:spcPct val="102000"/>
              </a:lnSpc>
              <a:buNone/>
            </a:pPr>
            <a:r>
              <a:rPr lang="en-US" sz="1250" b="1" dirty="0">
                <a:solidFill>
                  <a:srgbClr val="2B2422"/>
                </a:solidFill>
                <a:latin typeface="Calibri" pitchFamily="34" charset="0"/>
                <a:ea typeface="Calibri" pitchFamily="34" charset="-122"/>
                <a:cs typeface="Calibri" pitchFamily="34" charset="-120"/>
              </a:rPr>
              <a:t>Three modes  </a:t>
            </a:r>
            <a:r>
              <a:rPr lang="en-US" sz="1250" dirty="0">
                <a:solidFill>
                  <a:srgbClr val="8A7E76"/>
                </a:solidFill>
                <a:latin typeface="Calibri" pitchFamily="34" charset="0"/>
                <a:ea typeface="Calibri" pitchFamily="34" charset="-122"/>
                <a:cs typeface="Calibri" pitchFamily="34" charset="-120"/>
              </a:rPr>
              <a:t>Cash, Card or UPI — exactly these.</a:t>
            </a:r>
            <a:endParaRPr lang="en-US" sz="1250" dirty="0"/>
          </a:p>
        </p:txBody>
      </p:sp>
      <p:sp>
        <p:nvSpPr>
          <p:cNvPr id="7" name="Shape 4"/>
          <p:cNvSpPr/>
          <p:nvPr/>
        </p:nvSpPr>
        <p:spPr>
          <a:xfrm>
            <a:off x="548640" y="2715768"/>
            <a:ext cx="365760" cy="365760"/>
          </a:xfrm>
          <a:prstGeom prst="ellipse">
            <a:avLst/>
          </a:prstGeom>
          <a:solidFill>
            <a:srgbClr val="F3EBE0"/>
          </a:solidFill>
          <a:ln/>
        </p:spPr>
        <p:txBody>
          <a:bodyPr/>
          <a:lstStyle/>
          <a:p>
            <a:endParaRPr lang="en-IN"/>
          </a:p>
        </p:txBody>
      </p:sp>
      <p:pic>
        <p:nvPicPr>
          <p:cNvPr id="8" name="Image 1" descr="preencoded.png"/>
          <p:cNvPicPr>
            <a:picLocks noChangeAspect="1"/>
          </p:cNvPicPr>
          <p:nvPr/>
        </p:nvPicPr>
        <p:blipFill>
          <a:blip r:embed="rId3"/>
          <a:stretch>
            <a:fillRect/>
          </a:stretch>
        </p:blipFill>
        <p:spPr>
          <a:xfrm>
            <a:off x="630936" y="2798064"/>
            <a:ext cx="201168" cy="201168"/>
          </a:xfrm>
          <a:prstGeom prst="rect">
            <a:avLst/>
          </a:prstGeom>
        </p:spPr>
      </p:pic>
      <p:sp>
        <p:nvSpPr>
          <p:cNvPr id="9" name="Text 5"/>
          <p:cNvSpPr/>
          <p:nvPr/>
        </p:nvSpPr>
        <p:spPr>
          <a:xfrm>
            <a:off x="1060704" y="2660904"/>
            <a:ext cx="4114800" cy="640080"/>
          </a:xfrm>
          <a:prstGeom prst="rect">
            <a:avLst/>
          </a:prstGeom>
          <a:noFill/>
          <a:ln/>
        </p:spPr>
        <p:txBody>
          <a:bodyPr wrap="square" lIns="0" tIns="0" rIns="0" bIns="0" rtlCol="0" anchor="t"/>
          <a:lstStyle/>
          <a:p>
            <a:pPr marL="0" indent="0">
              <a:lnSpc>
                <a:spcPct val="102000"/>
              </a:lnSpc>
              <a:buNone/>
            </a:pPr>
            <a:r>
              <a:rPr lang="en-US" sz="1250" b="1" dirty="0">
                <a:solidFill>
                  <a:srgbClr val="2B2422"/>
                </a:solidFill>
                <a:latin typeface="Calibri" pitchFamily="34" charset="0"/>
                <a:ea typeface="Calibri" pitchFamily="34" charset="-122"/>
                <a:cs typeface="Calibri" pitchFamily="34" charset="-120"/>
              </a:rPr>
              <a:t>Confirmation  </a:t>
            </a:r>
            <a:r>
              <a:rPr lang="en-US" sz="1250" dirty="0">
                <a:solidFill>
                  <a:srgbClr val="8A7E76"/>
                </a:solidFill>
                <a:latin typeface="Calibri" pitchFamily="34" charset="0"/>
                <a:ea typeface="Calibri" pitchFamily="34" charset="-122"/>
                <a:cs typeface="Calibri" pitchFamily="34" charset="-120"/>
              </a:rPr>
              <a:t>a mode-appropriate confirmation is shown.</a:t>
            </a:r>
            <a:endParaRPr lang="en-US" sz="1250" dirty="0"/>
          </a:p>
        </p:txBody>
      </p:sp>
      <p:sp>
        <p:nvSpPr>
          <p:cNvPr id="10" name="Shape 6"/>
          <p:cNvSpPr/>
          <p:nvPr/>
        </p:nvSpPr>
        <p:spPr>
          <a:xfrm>
            <a:off x="548640" y="3557016"/>
            <a:ext cx="365760" cy="365760"/>
          </a:xfrm>
          <a:prstGeom prst="ellipse">
            <a:avLst/>
          </a:prstGeom>
          <a:solidFill>
            <a:srgbClr val="F3EBE0"/>
          </a:solidFill>
          <a:ln/>
        </p:spPr>
        <p:txBody>
          <a:bodyPr/>
          <a:lstStyle/>
          <a:p>
            <a:endParaRPr lang="en-IN"/>
          </a:p>
        </p:txBody>
      </p:sp>
      <p:pic>
        <p:nvPicPr>
          <p:cNvPr id="11" name="Image 2" descr="preencoded.png"/>
          <p:cNvPicPr>
            <a:picLocks noChangeAspect="1"/>
          </p:cNvPicPr>
          <p:nvPr/>
        </p:nvPicPr>
        <p:blipFill>
          <a:blip r:embed="rId4"/>
          <a:stretch>
            <a:fillRect/>
          </a:stretch>
        </p:blipFill>
        <p:spPr>
          <a:xfrm>
            <a:off x="630936" y="3639312"/>
            <a:ext cx="201168" cy="201168"/>
          </a:xfrm>
          <a:prstGeom prst="rect">
            <a:avLst/>
          </a:prstGeom>
        </p:spPr>
      </p:pic>
      <p:sp>
        <p:nvSpPr>
          <p:cNvPr id="12" name="Text 7"/>
          <p:cNvSpPr/>
          <p:nvPr/>
        </p:nvSpPr>
        <p:spPr>
          <a:xfrm>
            <a:off x="1060704" y="3502152"/>
            <a:ext cx="4114800" cy="640080"/>
          </a:xfrm>
          <a:prstGeom prst="rect">
            <a:avLst/>
          </a:prstGeom>
          <a:noFill/>
          <a:ln/>
        </p:spPr>
        <p:txBody>
          <a:bodyPr wrap="square" lIns="0" tIns="0" rIns="0" bIns="0" rtlCol="0" anchor="t"/>
          <a:lstStyle/>
          <a:p>
            <a:pPr marL="0" indent="0">
              <a:lnSpc>
                <a:spcPct val="102000"/>
              </a:lnSpc>
              <a:buNone/>
            </a:pPr>
            <a:r>
              <a:rPr lang="en-US" sz="1250" b="1" dirty="0">
                <a:solidFill>
                  <a:srgbClr val="2B2422"/>
                </a:solidFill>
                <a:latin typeface="Calibri" pitchFamily="34" charset="0"/>
                <a:ea typeface="Calibri" pitchFamily="34" charset="-122"/>
                <a:cs typeface="Calibri" pitchFamily="34" charset="-120"/>
              </a:rPr>
              <a:t>Invalid mode  </a:t>
            </a:r>
            <a:r>
              <a:rPr lang="en-US" sz="1250" dirty="0">
                <a:solidFill>
                  <a:srgbClr val="8A7E76"/>
                </a:solidFill>
                <a:latin typeface="Calibri" pitchFamily="34" charset="0"/>
                <a:ea typeface="Calibri" pitchFamily="34" charset="-122"/>
                <a:cs typeface="Calibri" pitchFamily="34" charset="-120"/>
              </a:rPr>
              <a:t>rejected and re-prompted to retry.</a:t>
            </a:r>
            <a:endParaRPr lang="en-US" sz="1250" dirty="0"/>
          </a:p>
        </p:txBody>
      </p:sp>
      <p:sp>
        <p:nvSpPr>
          <p:cNvPr id="13" name="Shape 8"/>
          <p:cNvSpPr/>
          <p:nvPr/>
        </p:nvSpPr>
        <p:spPr>
          <a:xfrm>
            <a:off x="548640" y="4398264"/>
            <a:ext cx="365760" cy="365760"/>
          </a:xfrm>
          <a:prstGeom prst="ellipse">
            <a:avLst/>
          </a:prstGeom>
          <a:solidFill>
            <a:srgbClr val="F3EBE0"/>
          </a:solidFill>
          <a:ln/>
        </p:spPr>
        <p:txBody>
          <a:bodyPr/>
          <a:lstStyle/>
          <a:p>
            <a:endParaRPr lang="en-IN"/>
          </a:p>
        </p:txBody>
      </p:sp>
      <p:pic>
        <p:nvPicPr>
          <p:cNvPr id="14" name="Image 3" descr="preencoded.png"/>
          <p:cNvPicPr>
            <a:picLocks noChangeAspect="1"/>
          </p:cNvPicPr>
          <p:nvPr/>
        </p:nvPicPr>
        <p:blipFill>
          <a:blip r:embed="rId3"/>
          <a:stretch>
            <a:fillRect/>
          </a:stretch>
        </p:blipFill>
        <p:spPr>
          <a:xfrm>
            <a:off x="630936" y="4480560"/>
            <a:ext cx="201168" cy="201168"/>
          </a:xfrm>
          <a:prstGeom prst="rect">
            <a:avLst/>
          </a:prstGeom>
        </p:spPr>
      </p:pic>
      <p:sp>
        <p:nvSpPr>
          <p:cNvPr id="15" name="Text 9"/>
          <p:cNvSpPr/>
          <p:nvPr/>
        </p:nvSpPr>
        <p:spPr>
          <a:xfrm>
            <a:off x="1060704" y="4343400"/>
            <a:ext cx="4114800" cy="640080"/>
          </a:xfrm>
          <a:prstGeom prst="rect">
            <a:avLst/>
          </a:prstGeom>
          <a:noFill/>
          <a:ln/>
        </p:spPr>
        <p:txBody>
          <a:bodyPr wrap="square" lIns="0" tIns="0" rIns="0" bIns="0" rtlCol="0" anchor="t"/>
          <a:lstStyle/>
          <a:p>
            <a:pPr marL="0" indent="0">
              <a:lnSpc>
                <a:spcPct val="102000"/>
              </a:lnSpc>
              <a:buNone/>
            </a:pPr>
            <a:r>
              <a:rPr lang="en-US" sz="1250" b="1" dirty="0">
                <a:solidFill>
                  <a:srgbClr val="2B2422"/>
                </a:solidFill>
                <a:latin typeface="Calibri" pitchFamily="34" charset="0"/>
                <a:ea typeface="Calibri" pitchFamily="34" charset="-122"/>
                <a:cs typeface="Calibri" pitchFamily="34" charset="-120"/>
              </a:rPr>
              <a:t>MVP scope  </a:t>
            </a:r>
            <a:r>
              <a:rPr lang="en-US" sz="1250" dirty="0">
                <a:solidFill>
                  <a:srgbClr val="8A7E76"/>
                </a:solidFill>
                <a:latin typeface="Calibri" pitchFamily="34" charset="0"/>
                <a:ea typeface="Calibri" pitchFamily="34" charset="-122"/>
                <a:cs typeface="Calibri" pitchFamily="34" charset="-120"/>
              </a:rPr>
              <a:t>selection + confirm (no live gateway yet).</a:t>
            </a:r>
            <a:endParaRPr lang="en-US" sz="1250" dirty="0"/>
          </a:p>
        </p:txBody>
      </p:sp>
      <p:sp>
        <p:nvSpPr>
          <p:cNvPr id="16" name="Text 10"/>
          <p:cNvSpPr/>
          <p:nvPr/>
        </p:nvSpPr>
        <p:spPr>
          <a:xfrm>
            <a:off x="502920" y="5074920"/>
            <a:ext cx="1828800" cy="1280160"/>
          </a:xfrm>
          <a:prstGeom prst="rect">
            <a:avLst/>
          </a:prstGeom>
          <a:noFill/>
          <a:ln/>
        </p:spPr>
        <p:txBody>
          <a:bodyPr wrap="square" lIns="0" tIns="0" rIns="0" bIns="0" rtlCol="0" anchor="ctr"/>
          <a:lstStyle/>
          <a:p>
            <a:pPr marL="0" indent="0">
              <a:buNone/>
            </a:pPr>
            <a:r>
              <a:rPr lang="en-US" sz="9000" b="1" dirty="0">
                <a:solidFill>
                  <a:srgbClr val="C1352B">
                    <a:alpha val="18000"/>
                  </a:srgbClr>
                </a:solidFill>
                <a:latin typeface="Cambria" pitchFamily="34" charset="0"/>
                <a:ea typeface="Cambria" pitchFamily="34" charset="-122"/>
                <a:cs typeface="Cambria" pitchFamily="34" charset="-120"/>
              </a:rPr>
              <a:t>5</a:t>
            </a:r>
            <a:endParaRPr lang="en-US" sz="9000" dirty="0"/>
          </a:p>
        </p:txBody>
      </p:sp>
      <p:sp>
        <p:nvSpPr>
          <p:cNvPr id="17" name="Shape 11"/>
          <p:cNvSpPr/>
          <p:nvPr/>
        </p:nvSpPr>
        <p:spPr>
          <a:xfrm>
            <a:off x="5577840" y="1783080"/>
            <a:ext cx="6080760" cy="4434840"/>
          </a:xfrm>
          <a:prstGeom prst="roundRect">
            <a:avLst>
              <a:gd name="adj" fmla="val 1856"/>
            </a:avLst>
          </a:prstGeom>
          <a:solidFill>
            <a:srgbClr val="FFFFFF"/>
          </a:solidFill>
          <a:ln w="12700">
            <a:solidFill>
              <a:srgbClr val="E7DCCD"/>
            </a:solidFill>
            <a:prstDash val="solid"/>
          </a:ln>
          <a:effectLst>
            <a:outerShdw blurRad="88900" dist="38100" dir="5400000" algn="bl" rotWithShape="0">
              <a:srgbClr val="000000">
                <a:alpha val="16000"/>
              </a:srgbClr>
            </a:outerShdw>
          </a:effectLst>
        </p:spPr>
        <p:txBody>
          <a:bodyPr/>
          <a:lstStyle/>
          <a:p>
            <a:endParaRPr lang="en-IN"/>
          </a:p>
        </p:txBody>
      </p:sp>
      <p:sp>
        <p:nvSpPr>
          <p:cNvPr id="18" name="Shape 12"/>
          <p:cNvSpPr/>
          <p:nvPr/>
        </p:nvSpPr>
        <p:spPr>
          <a:xfrm>
            <a:off x="5577840" y="1783080"/>
            <a:ext cx="6080760" cy="384048"/>
          </a:xfrm>
          <a:prstGeom prst="roundRect">
            <a:avLst>
              <a:gd name="adj" fmla="val 21429"/>
            </a:avLst>
          </a:prstGeom>
          <a:solidFill>
            <a:srgbClr val="F3EBE0"/>
          </a:solidFill>
          <a:ln/>
        </p:spPr>
        <p:txBody>
          <a:bodyPr/>
          <a:lstStyle/>
          <a:p>
            <a:endParaRPr lang="en-IN"/>
          </a:p>
        </p:txBody>
      </p:sp>
      <p:sp>
        <p:nvSpPr>
          <p:cNvPr id="19" name="Shape 13"/>
          <p:cNvSpPr/>
          <p:nvPr/>
        </p:nvSpPr>
        <p:spPr>
          <a:xfrm>
            <a:off x="5577840" y="2057400"/>
            <a:ext cx="6080760" cy="109728"/>
          </a:xfrm>
          <a:prstGeom prst="rect">
            <a:avLst/>
          </a:prstGeom>
          <a:solidFill>
            <a:srgbClr val="F3EBE0"/>
          </a:solidFill>
          <a:ln/>
        </p:spPr>
        <p:txBody>
          <a:bodyPr/>
          <a:lstStyle/>
          <a:p>
            <a:endParaRPr lang="en-IN"/>
          </a:p>
        </p:txBody>
      </p:sp>
      <p:sp>
        <p:nvSpPr>
          <p:cNvPr id="20" name="Shape 14"/>
          <p:cNvSpPr/>
          <p:nvPr/>
        </p:nvSpPr>
        <p:spPr>
          <a:xfrm>
            <a:off x="5724144" y="1933956"/>
            <a:ext cx="82296" cy="82296"/>
          </a:xfrm>
          <a:prstGeom prst="ellipse">
            <a:avLst/>
          </a:prstGeom>
          <a:solidFill>
            <a:srgbClr val="E06C5E"/>
          </a:solidFill>
          <a:ln/>
        </p:spPr>
        <p:txBody>
          <a:bodyPr/>
          <a:lstStyle/>
          <a:p>
            <a:endParaRPr lang="en-IN"/>
          </a:p>
        </p:txBody>
      </p:sp>
      <p:sp>
        <p:nvSpPr>
          <p:cNvPr id="21" name="Shape 15"/>
          <p:cNvSpPr/>
          <p:nvPr/>
        </p:nvSpPr>
        <p:spPr>
          <a:xfrm>
            <a:off x="5888736" y="1933956"/>
            <a:ext cx="82296" cy="82296"/>
          </a:xfrm>
          <a:prstGeom prst="ellipse">
            <a:avLst/>
          </a:prstGeom>
          <a:solidFill>
            <a:srgbClr val="E8C15A"/>
          </a:solidFill>
          <a:ln/>
        </p:spPr>
        <p:txBody>
          <a:bodyPr/>
          <a:lstStyle/>
          <a:p>
            <a:endParaRPr lang="en-IN"/>
          </a:p>
        </p:txBody>
      </p:sp>
      <p:sp>
        <p:nvSpPr>
          <p:cNvPr id="22" name="Shape 16"/>
          <p:cNvSpPr/>
          <p:nvPr/>
        </p:nvSpPr>
        <p:spPr>
          <a:xfrm>
            <a:off x="6053328" y="1933956"/>
            <a:ext cx="82296" cy="82296"/>
          </a:xfrm>
          <a:prstGeom prst="ellipse">
            <a:avLst/>
          </a:prstGeom>
          <a:solidFill>
            <a:srgbClr val="7FB98B"/>
          </a:solidFill>
          <a:ln/>
        </p:spPr>
        <p:txBody>
          <a:bodyPr/>
          <a:lstStyle/>
          <a:p>
            <a:endParaRPr lang="en-IN"/>
          </a:p>
        </p:txBody>
      </p:sp>
      <p:sp>
        <p:nvSpPr>
          <p:cNvPr id="23" name="Shape 17"/>
          <p:cNvSpPr/>
          <p:nvPr/>
        </p:nvSpPr>
        <p:spPr>
          <a:xfrm>
            <a:off x="6291072" y="1856232"/>
            <a:ext cx="5166360" cy="237744"/>
          </a:xfrm>
          <a:prstGeom prst="roundRect">
            <a:avLst>
              <a:gd name="adj" fmla="val 23077"/>
            </a:avLst>
          </a:prstGeom>
          <a:solidFill>
            <a:srgbClr val="FFFFFF"/>
          </a:solidFill>
          <a:ln w="9525">
            <a:solidFill>
              <a:srgbClr val="E7DCCD"/>
            </a:solidFill>
            <a:prstDash val="solid"/>
          </a:ln>
        </p:spPr>
        <p:txBody>
          <a:bodyPr/>
          <a:lstStyle/>
          <a:p>
            <a:endParaRPr lang="en-IN"/>
          </a:p>
        </p:txBody>
      </p:sp>
      <p:pic>
        <p:nvPicPr>
          <p:cNvPr id="24" name="Image 4" descr="preencoded.png"/>
          <p:cNvPicPr>
            <a:picLocks noChangeAspect="1"/>
          </p:cNvPicPr>
          <p:nvPr/>
        </p:nvPicPr>
        <p:blipFill>
          <a:blip r:embed="rId5"/>
          <a:stretch>
            <a:fillRect/>
          </a:stretch>
        </p:blipFill>
        <p:spPr>
          <a:xfrm>
            <a:off x="6382512" y="1920240"/>
            <a:ext cx="109728" cy="109728"/>
          </a:xfrm>
          <a:prstGeom prst="rect">
            <a:avLst/>
          </a:prstGeom>
        </p:spPr>
      </p:pic>
      <p:sp>
        <p:nvSpPr>
          <p:cNvPr id="25" name="Text 18"/>
          <p:cNvSpPr/>
          <p:nvPr/>
        </p:nvSpPr>
        <p:spPr>
          <a:xfrm>
            <a:off x="6547104" y="1856232"/>
            <a:ext cx="4846320" cy="237744"/>
          </a:xfrm>
          <a:prstGeom prst="rect">
            <a:avLst/>
          </a:prstGeom>
          <a:noFill/>
          <a:ln/>
        </p:spPr>
        <p:txBody>
          <a:bodyPr wrap="square" lIns="0" tIns="0" rIns="0" bIns="0" rtlCol="0" anchor="ctr"/>
          <a:lstStyle/>
          <a:p>
            <a:pPr marL="0" indent="0" algn="l">
              <a:buNone/>
            </a:pPr>
            <a:r>
              <a:rPr lang="en-US" sz="950" dirty="0">
                <a:solidFill>
                  <a:srgbClr val="8A7E76"/>
                </a:solidFill>
                <a:latin typeface="Calibri" pitchFamily="34" charset="0"/>
                <a:ea typeface="Calibri" pitchFamily="34" charset="-122"/>
                <a:cs typeface="Calibri" pitchFamily="34" charset="-120"/>
              </a:rPr>
              <a:t>moulsai2296-pizzaflow-v2.hf.space</a:t>
            </a:r>
            <a:endParaRPr lang="en-US" sz="950" dirty="0"/>
          </a:p>
        </p:txBody>
      </p:sp>
      <p:sp>
        <p:nvSpPr>
          <p:cNvPr id="26" name="Shape 19"/>
          <p:cNvSpPr/>
          <p:nvPr/>
        </p:nvSpPr>
        <p:spPr>
          <a:xfrm>
            <a:off x="5632704" y="2221992"/>
            <a:ext cx="5971032" cy="3941064"/>
          </a:xfrm>
          <a:prstGeom prst="rect">
            <a:avLst/>
          </a:prstGeom>
          <a:solidFill>
            <a:srgbClr val="FBF6EF"/>
          </a:solidFill>
          <a:ln/>
        </p:spPr>
        <p:txBody>
          <a:bodyPr/>
          <a:lstStyle/>
          <a:p>
            <a:endParaRPr lang="en-IN"/>
          </a:p>
        </p:txBody>
      </p:sp>
      <p:pic>
        <p:nvPicPr>
          <p:cNvPr id="27" name="Image 5" descr="preencoded.png"/>
          <p:cNvPicPr>
            <a:picLocks noChangeAspect="1"/>
          </p:cNvPicPr>
          <p:nvPr/>
        </p:nvPicPr>
        <p:blipFill>
          <a:blip r:embed="rId6">
            <a:alphaModFix amt="70000"/>
          </a:blip>
          <a:stretch>
            <a:fillRect/>
          </a:stretch>
        </p:blipFill>
        <p:spPr>
          <a:xfrm>
            <a:off x="8362188" y="3625596"/>
            <a:ext cx="512064" cy="512064"/>
          </a:xfrm>
          <a:prstGeom prst="rect">
            <a:avLst/>
          </a:prstGeom>
        </p:spPr>
      </p:pic>
      <p:sp>
        <p:nvSpPr>
          <p:cNvPr id="28" name="Text 20"/>
          <p:cNvSpPr/>
          <p:nvPr/>
        </p:nvSpPr>
        <p:spPr>
          <a:xfrm>
            <a:off x="5852160" y="4229100"/>
            <a:ext cx="5532120" cy="274320"/>
          </a:xfrm>
          <a:prstGeom prst="rect">
            <a:avLst/>
          </a:prstGeom>
          <a:noFill/>
          <a:ln/>
        </p:spPr>
        <p:txBody>
          <a:bodyPr wrap="square" lIns="0" tIns="0" rIns="0" bIns="0" rtlCol="0" anchor="ctr"/>
          <a:lstStyle/>
          <a:p>
            <a:pPr marL="0" indent="0" algn="ctr">
              <a:buNone/>
            </a:pPr>
            <a:r>
              <a:rPr lang="en-US" sz="1100" b="1" dirty="0">
                <a:solidFill>
                  <a:srgbClr val="C1352B"/>
                </a:solidFill>
                <a:latin typeface="Calibri" pitchFamily="34" charset="0"/>
                <a:ea typeface="Calibri" pitchFamily="34" charset="-122"/>
                <a:cs typeface="Calibri" pitchFamily="34" charset="-120"/>
              </a:rPr>
              <a:t>Screenshot</a:t>
            </a:r>
            <a:endParaRPr lang="en-US" sz="1100" dirty="0"/>
          </a:p>
        </p:txBody>
      </p:sp>
      <p:sp>
        <p:nvSpPr>
          <p:cNvPr id="29" name="Text 21"/>
          <p:cNvSpPr/>
          <p:nvPr/>
        </p:nvSpPr>
        <p:spPr>
          <a:xfrm>
            <a:off x="5852160" y="4485132"/>
            <a:ext cx="5532120" cy="457200"/>
          </a:xfrm>
          <a:prstGeom prst="rect">
            <a:avLst/>
          </a:prstGeom>
          <a:noFill/>
          <a:ln/>
        </p:spPr>
        <p:txBody>
          <a:bodyPr wrap="square" lIns="0" tIns="0" rIns="0" bIns="0" rtlCol="0" anchor="ctr"/>
          <a:lstStyle/>
          <a:p>
            <a:pPr marL="0" indent="0" algn="ctr">
              <a:buNone/>
            </a:pPr>
            <a:r>
              <a:rPr lang="en-US" sz="1000" i="1" dirty="0">
                <a:solidFill>
                  <a:srgbClr val="8A7E76"/>
                </a:solidFill>
                <a:latin typeface="Calibri" pitchFamily="34" charset="0"/>
                <a:ea typeface="Calibri" pitchFamily="34" charset="-122"/>
                <a:cs typeface="Calibri" pitchFamily="34" charset="-120"/>
              </a:rPr>
              <a:t>Payment selection — Cash / Card / UPI + confirmation message</a:t>
            </a:r>
            <a:endParaRPr lang="en-US" sz="1000" dirty="0"/>
          </a:p>
        </p:txBody>
      </p:sp>
      <p:sp>
        <p:nvSpPr>
          <p:cNvPr id="30" name="Text 22"/>
          <p:cNvSpPr/>
          <p:nvPr/>
        </p:nvSpPr>
        <p:spPr>
          <a:xfrm>
            <a:off x="502920" y="6473952"/>
            <a:ext cx="5486400" cy="274320"/>
          </a:xfrm>
          <a:prstGeom prst="rect">
            <a:avLst/>
          </a:prstGeom>
          <a:noFill/>
          <a:ln/>
        </p:spPr>
        <p:txBody>
          <a:bodyPr wrap="square" lIns="0" tIns="0" rIns="0" bIns="0" rtlCol="0" anchor="ctr"/>
          <a:lstStyle/>
          <a:p>
            <a:pPr marL="0" indent="0" algn="l">
              <a:buNone/>
            </a:pPr>
            <a:r>
              <a:rPr lang="en-US" sz="900" dirty="0">
                <a:solidFill>
                  <a:srgbClr val="8A7E76"/>
                </a:solidFill>
                <a:latin typeface="Calibri" pitchFamily="34" charset="0"/>
                <a:ea typeface="Calibri" pitchFamily="34" charset="-122"/>
                <a:cs typeface="Calibri" pitchFamily="34" charset="-120"/>
              </a:rPr>
              <a:t>SliceMatic · PizzaFlow MVP Demo</a:t>
            </a:r>
            <a:endParaRPr lang="en-US" sz="900" dirty="0"/>
          </a:p>
        </p:txBody>
      </p:sp>
      <p:sp>
        <p:nvSpPr>
          <p:cNvPr id="31" name="Text 23"/>
          <p:cNvSpPr/>
          <p:nvPr/>
        </p:nvSpPr>
        <p:spPr>
          <a:xfrm>
            <a:off x="11274552" y="6473952"/>
            <a:ext cx="411480" cy="274320"/>
          </a:xfrm>
          <a:prstGeom prst="rect">
            <a:avLst/>
          </a:prstGeom>
          <a:noFill/>
          <a:ln/>
        </p:spPr>
        <p:txBody>
          <a:bodyPr wrap="square" lIns="0" tIns="0" rIns="0" bIns="0" rtlCol="0" anchor="ctr"/>
          <a:lstStyle/>
          <a:p>
            <a:pPr marL="0" indent="0" algn="r">
              <a:buNone/>
            </a:pPr>
            <a:r>
              <a:rPr lang="en-US" sz="900" dirty="0">
                <a:solidFill>
                  <a:srgbClr val="8A7E76"/>
                </a:solidFill>
                <a:latin typeface="Calibri" pitchFamily="34" charset="0"/>
                <a:ea typeface="Calibri" pitchFamily="34" charset="-122"/>
                <a:cs typeface="Calibri" pitchFamily="34" charset="-120"/>
              </a:rPr>
              <a:t>8</a:t>
            </a:r>
            <a:endParaRPr lang="en-US" sz="900" dirty="0"/>
          </a:p>
        </p:txBody>
      </p:sp>
      <p:pic>
        <p:nvPicPr>
          <p:cNvPr id="33" name="Picture 32">
            <a:extLst>
              <a:ext uri="{FF2B5EF4-FFF2-40B4-BE49-F238E27FC236}">
                <a16:creationId xmlns:a16="http://schemas.microsoft.com/office/drawing/2014/main" id="{93D3442B-F703-DD81-4DD0-B666673B43F0}"/>
              </a:ext>
            </a:extLst>
          </p:cNvPr>
          <p:cNvPicPr>
            <a:picLocks noChangeAspect="1"/>
          </p:cNvPicPr>
          <p:nvPr/>
        </p:nvPicPr>
        <p:blipFill>
          <a:blip r:embed="rId7"/>
          <a:stretch>
            <a:fillRect/>
          </a:stretch>
        </p:blipFill>
        <p:spPr>
          <a:xfrm>
            <a:off x="5591455" y="2143147"/>
            <a:ext cx="6051905" cy="4074773"/>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BF6EF"/>
        </a:solidFill>
        <a:effectLst/>
      </p:bgPr>
    </p:bg>
    <p:spTree>
      <p:nvGrpSpPr>
        <p:cNvPr id="1" name=""/>
        <p:cNvGrpSpPr/>
        <p:nvPr/>
      </p:nvGrpSpPr>
      <p:grpSpPr>
        <a:xfrm>
          <a:off x="0" y="0"/>
          <a:ext cx="0" cy="0"/>
          <a:chOff x="0" y="0"/>
          <a:chExt cx="0" cy="0"/>
        </a:xfrm>
      </p:grpSpPr>
      <p:sp>
        <p:nvSpPr>
          <p:cNvPr id="2" name="Text 0"/>
          <p:cNvSpPr/>
          <p:nvPr/>
        </p:nvSpPr>
        <p:spPr>
          <a:xfrm>
            <a:off x="502920" y="457200"/>
            <a:ext cx="8229600" cy="274320"/>
          </a:xfrm>
          <a:prstGeom prst="rect">
            <a:avLst/>
          </a:prstGeom>
          <a:noFill/>
          <a:ln/>
        </p:spPr>
        <p:txBody>
          <a:bodyPr wrap="square" lIns="0" tIns="0" rIns="0" bIns="0" rtlCol="0" anchor="ctr"/>
          <a:lstStyle/>
          <a:p>
            <a:pPr marL="0" indent="0">
              <a:buNone/>
            </a:pPr>
            <a:r>
              <a:rPr lang="en-US" sz="1200" b="1" kern="0" spc="300" dirty="0">
                <a:solidFill>
                  <a:srgbClr val="C1352B"/>
                </a:solidFill>
                <a:latin typeface="Calibri" pitchFamily="34" charset="0"/>
                <a:ea typeface="Calibri" pitchFamily="34" charset="-122"/>
                <a:cs typeface="Calibri" pitchFamily="34" charset="-120"/>
              </a:rPr>
              <a:t>STEP 6 · SAVED &amp; CONFIRMED</a:t>
            </a:r>
            <a:endParaRPr lang="en-US" sz="1200" dirty="0"/>
          </a:p>
        </p:txBody>
      </p:sp>
      <p:sp>
        <p:nvSpPr>
          <p:cNvPr id="3" name="Text 1"/>
          <p:cNvSpPr/>
          <p:nvPr/>
        </p:nvSpPr>
        <p:spPr>
          <a:xfrm>
            <a:off x="475488" y="749808"/>
            <a:ext cx="10515600" cy="685800"/>
          </a:xfrm>
          <a:prstGeom prst="rect">
            <a:avLst/>
          </a:prstGeom>
          <a:noFill/>
          <a:ln/>
        </p:spPr>
        <p:txBody>
          <a:bodyPr wrap="square" lIns="0" tIns="0" rIns="0" bIns="0" rtlCol="0" anchor="ctr"/>
          <a:lstStyle/>
          <a:p>
            <a:pPr marL="0" indent="0">
              <a:buNone/>
            </a:pPr>
            <a:r>
              <a:rPr lang="en-US" sz="3300" b="1" dirty="0">
                <a:solidFill>
                  <a:srgbClr val="2B2422"/>
                </a:solidFill>
                <a:latin typeface="Cambria" pitchFamily="34" charset="0"/>
                <a:ea typeface="Cambria" pitchFamily="34" charset="-122"/>
                <a:cs typeface="Cambria" pitchFamily="34" charset="-120"/>
              </a:rPr>
              <a:t>Order confirmed — and persisted</a:t>
            </a:r>
            <a:endParaRPr lang="en-US" sz="3300" dirty="0"/>
          </a:p>
        </p:txBody>
      </p:sp>
      <p:sp>
        <p:nvSpPr>
          <p:cNvPr id="4" name="Shape 2"/>
          <p:cNvSpPr/>
          <p:nvPr/>
        </p:nvSpPr>
        <p:spPr>
          <a:xfrm>
            <a:off x="548640" y="1874520"/>
            <a:ext cx="365760" cy="365760"/>
          </a:xfrm>
          <a:prstGeom prst="ellipse">
            <a:avLst/>
          </a:prstGeom>
          <a:solidFill>
            <a:srgbClr val="F3EBE0"/>
          </a:solidFill>
          <a:ln/>
        </p:spPr>
        <p:txBody>
          <a:bodyPr/>
          <a:lstStyle/>
          <a:p>
            <a:endParaRPr lang="en-IN"/>
          </a:p>
        </p:txBody>
      </p:sp>
      <p:pic>
        <p:nvPicPr>
          <p:cNvPr id="5" name="Image 0" descr="preencoded.png"/>
          <p:cNvPicPr>
            <a:picLocks noChangeAspect="1"/>
          </p:cNvPicPr>
          <p:nvPr/>
        </p:nvPicPr>
        <p:blipFill>
          <a:blip r:embed="rId3"/>
          <a:stretch>
            <a:fillRect/>
          </a:stretch>
        </p:blipFill>
        <p:spPr>
          <a:xfrm>
            <a:off x="630936" y="1956816"/>
            <a:ext cx="201168" cy="201168"/>
          </a:xfrm>
          <a:prstGeom prst="rect">
            <a:avLst/>
          </a:prstGeom>
        </p:spPr>
      </p:pic>
      <p:sp>
        <p:nvSpPr>
          <p:cNvPr id="6" name="Text 3"/>
          <p:cNvSpPr/>
          <p:nvPr/>
        </p:nvSpPr>
        <p:spPr>
          <a:xfrm>
            <a:off x="1060704" y="1819656"/>
            <a:ext cx="4114800" cy="640080"/>
          </a:xfrm>
          <a:prstGeom prst="rect">
            <a:avLst/>
          </a:prstGeom>
          <a:noFill/>
          <a:ln/>
        </p:spPr>
        <p:txBody>
          <a:bodyPr wrap="square" lIns="0" tIns="0" rIns="0" bIns="0" rtlCol="0" anchor="t"/>
          <a:lstStyle/>
          <a:p>
            <a:pPr marL="0" indent="0">
              <a:lnSpc>
                <a:spcPct val="102000"/>
              </a:lnSpc>
              <a:buNone/>
            </a:pPr>
            <a:r>
              <a:rPr lang="en-US" sz="1250" b="1" dirty="0">
                <a:solidFill>
                  <a:srgbClr val="2B2422"/>
                </a:solidFill>
                <a:latin typeface="Calibri" pitchFamily="34" charset="0"/>
                <a:ea typeface="Calibri" pitchFamily="34" charset="-122"/>
                <a:cs typeface="Calibri" pitchFamily="34" charset="-120"/>
              </a:rPr>
              <a:t>Confirmed  </a:t>
            </a:r>
            <a:r>
              <a:rPr lang="en-US" sz="1250" dirty="0">
                <a:solidFill>
                  <a:srgbClr val="8A7E76"/>
                </a:solidFill>
                <a:latin typeface="Calibri" pitchFamily="34" charset="0"/>
                <a:ea typeface="Calibri" pitchFamily="34" charset="-122"/>
                <a:cs typeface="Calibri" pitchFamily="34" charset="-120"/>
              </a:rPr>
              <a:t>the customer sees a clear success message.</a:t>
            </a:r>
            <a:endParaRPr lang="en-US" sz="1250" dirty="0"/>
          </a:p>
        </p:txBody>
      </p:sp>
      <p:sp>
        <p:nvSpPr>
          <p:cNvPr id="7" name="Shape 4"/>
          <p:cNvSpPr/>
          <p:nvPr/>
        </p:nvSpPr>
        <p:spPr>
          <a:xfrm>
            <a:off x="548640" y="2715768"/>
            <a:ext cx="365760" cy="365760"/>
          </a:xfrm>
          <a:prstGeom prst="ellipse">
            <a:avLst/>
          </a:prstGeom>
          <a:solidFill>
            <a:srgbClr val="F3EBE0"/>
          </a:solidFill>
          <a:ln/>
        </p:spPr>
        <p:txBody>
          <a:bodyPr/>
          <a:lstStyle/>
          <a:p>
            <a:endParaRPr lang="en-IN"/>
          </a:p>
        </p:txBody>
      </p:sp>
      <p:pic>
        <p:nvPicPr>
          <p:cNvPr id="8" name="Image 1" descr="preencoded.png"/>
          <p:cNvPicPr>
            <a:picLocks noChangeAspect="1"/>
          </p:cNvPicPr>
          <p:nvPr/>
        </p:nvPicPr>
        <p:blipFill>
          <a:blip r:embed="rId3"/>
          <a:stretch>
            <a:fillRect/>
          </a:stretch>
        </p:blipFill>
        <p:spPr>
          <a:xfrm>
            <a:off x="630936" y="2798064"/>
            <a:ext cx="201168" cy="201168"/>
          </a:xfrm>
          <a:prstGeom prst="rect">
            <a:avLst/>
          </a:prstGeom>
        </p:spPr>
      </p:pic>
      <p:sp>
        <p:nvSpPr>
          <p:cNvPr id="9" name="Text 5"/>
          <p:cNvSpPr/>
          <p:nvPr/>
        </p:nvSpPr>
        <p:spPr>
          <a:xfrm>
            <a:off x="1060704" y="2660904"/>
            <a:ext cx="4114800" cy="640080"/>
          </a:xfrm>
          <a:prstGeom prst="rect">
            <a:avLst/>
          </a:prstGeom>
          <a:noFill/>
          <a:ln/>
        </p:spPr>
        <p:txBody>
          <a:bodyPr wrap="square" lIns="0" tIns="0" rIns="0" bIns="0" rtlCol="0" anchor="t"/>
          <a:lstStyle/>
          <a:p>
            <a:pPr marL="0" indent="0">
              <a:lnSpc>
                <a:spcPct val="102000"/>
              </a:lnSpc>
              <a:buNone/>
            </a:pPr>
            <a:r>
              <a:rPr lang="en-US" sz="1250" b="1" dirty="0">
                <a:solidFill>
                  <a:srgbClr val="2B2422"/>
                </a:solidFill>
                <a:latin typeface="Calibri" pitchFamily="34" charset="0"/>
                <a:ea typeface="Calibri" pitchFamily="34" charset="-122"/>
                <a:cs typeface="Calibri" pitchFamily="34" charset="-120"/>
              </a:rPr>
              <a:t>Appended  </a:t>
            </a:r>
            <a:r>
              <a:rPr lang="en-US" sz="1250" dirty="0">
                <a:solidFill>
                  <a:srgbClr val="8A7E76"/>
                </a:solidFill>
                <a:latin typeface="Calibri" pitchFamily="34" charset="0"/>
                <a:ea typeface="Calibri" pitchFamily="34" charset="-122"/>
                <a:cs typeface="Calibri" pitchFamily="34" charset="-120"/>
              </a:rPr>
              <a:t>the order is written to orders_log.txt.</a:t>
            </a:r>
            <a:endParaRPr lang="en-US" sz="1250" dirty="0"/>
          </a:p>
        </p:txBody>
      </p:sp>
      <p:sp>
        <p:nvSpPr>
          <p:cNvPr id="10" name="Shape 6"/>
          <p:cNvSpPr/>
          <p:nvPr/>
        </p:nvSpPr>
        <p:spPr>
          <a:xfrm>
            <a:off x="548640" y="3557016"/>
            <a:ext cx="365760" cy="365760"/>
          </a:xfrm>
          <a:prstGeom prst="ellipse">
            <a:avLst/>
          </a:prstGeom>
          <a:solidFill>
            <a:srgbClr val="F3EBE0"/>
          </a:solidFill>
          <a:ln/>
        </p:spPr>
        <p:txBody>
          <a:bodyPr/>
          <a:lstStyle/>
          <a:p>
            <a:endParaRPr lang="en-IN"/>
          </a:p>
        </p:txBody>
      </p:sp>
      <p:pic>
        <p:nvPicPr>
          <p:cNvPr id="11" name="Image 2" descr="preencoded.png"/>
          <p:cNvPicPr>
            <a:picLocks noChangeAspect="1"/>
          </p:cNvPicPr>
          <p:nvPr/>
        </p:nvPicPr>
        <p:blipFill>
          <a:blip r:embed="rId3"/>
          <a:stretch>
            <a:fillRect/>
          </a:stretch>
        </p:blipFill>
        <p:spPr>
          <a:xfrm>
            <a:off x="630936" y="3639312"/>
            <a:ext cx="201168" cy="201168"/>
          </a:xfrm>
          <a:prstGeom prst="rect">
            <a:avLst/>
          </a:prstGeom>
        </p:spPr>
      </p:pic>
      <p:sp>
        <p:nvSpPr>
          <p:cNvPr id="12" name="Text 7"/>
          <p:cNvSpPr/>
          <p:nvPr/>
        </p:nvSpPr>
        <p:spPr>
          <a:xfrm>
            <a:off x="1060704" y="3502152"/>
            <a:ext cx="4114800" cy="640080"/>
          </a:xfrm>
          <a:prstGeom prst="rect">
            <a:avLst/>
          </a:prstGeom>
          <a:noFill/>
          <a:ln/>
        </p:spPr>
        <p:txBody>
          <a:bodyPr wrap="square" lIns="0" tIns="0" rIns="0" bIns="0" rtlCol="0" anchor="t"/>
          <a:lstStyle/>
          <a:p>
            <a:pPr marL="0" indent="0">
              <a:lnSpc>
                <a:spcPct val="102000"/>
              </a:lnSpc>
              <a:buNone/>
            </a:pPr>
            <a:r>
              <a:rPr lang="en-US" sz="1250" b="1" dirty="0">
                <a:solidFill>
                  <a:srgbClr val="2B2422"/>
                </a:solidFill>
                <a:latin typeface="Calibri" pitchFamily="34" charset="0"/>
                <a:ea typeface="Calibri" pitchFamily="34" charset="-122"/>
                <a:cs typeface="Calibri" pitchFamily="34" charset="-120"/>
              </a:rPr>
              <a:t>Parseable  </a:t>
            </a:r>
            <a:r>
              <a:rPr lang="en-US" sz="1250" dirty="0">
                <a:solidFill>
                  <a:srgbClr val="8A7E76"/>
                </a:solidFill>
                <a:latin typeface="Calibri" pitchFamily="34" charset="0"/>
                <a:ea typeface="Calibri" pitchFamily="34" charset="-122"/>
                <a:cs typeface="Calibri" pitchFamily="34" charset="-120"/>
              </a:rPr>
              <a:t>pipe-separated, one block per order.</a:t>
            </a:r>
            <a:endParaRPr lang="en-US" sz="1250" dirty="0"/>
          </a:p>
        </p:txBody>
      </p:sp>
      <p:sp>
        <p:nvSpPr>
          <p:cNvPr id="13" name="Shape 8"/>
          <p:cNvSpPr/>
          <p:nvPr/>
        </p:nvSpPr>
        <p:spPr>
          <a:xfrm>
            <a:off x="548640" y="4398264"/>
            <a:ext cx="365760" cy="365760"/>
          </a:xfrm>
          <a:prstGeom prst="ellipse">
            <a:avLst/>
          </a:prstGeom>
          <a:solidFill>
            <a:srgbClr val="F3EBE0"/>
          </a:solidFill>
          <a:ln/>
        </p:spPr>
        <p:txBody>
          <a:bodyPr/>
          <a:lstStyle/>
          <a:p>
            <a:endParaRPr lang="en-IN"/>
          </a:p>
        </p:txBody>
      </p:sp>
      <p:pic>
        <p:nvPicPr>
          <p:cNvPr id="14" name="Image 3" descr="preencoded.png"/>
          <p:cNvPicPr>
            <a:picLocks noChangeAspect="1"/>
          </p:cNvPicPr>
          <p:nvPr/>
        </p:nvPicPr>
        <p:blipFill>
          <a:blip r:embed="rId3"/>
          <a:stretch>
            <a:fillRect/>
          </a:stretch>
        </p:blipFill>
        <p:spPr>
          <a:xfrm>
            <a:off x="630936" y="4480560"/>
            <a:ext cx="201168" cy="201168"/>
          </a:xfrm>
          <a:prstGeom prst="rect">
            <a:avLst/>
          </a:prstGeom>
        </p:spPr>
      </p:pic>
      <p:sp>
        <p:nvSpPr>
          <p:cNvPr id="15" name="Text 9"/>
          <p:cNvSpPr/>
          <p:nvPr/>
        </p:nvSpPr>
        <p:spPr>
          <a:xfrm>
            <a:off x="1060704" y="4343400"/>
            <a:ext cx="4114800" cy="640080"/>
          </a:xfrm>
          <a:prstGeom prst="rect">
            <a:avLst/>
          </a:prstGeom>
          <a:noFill/>
          <a:ln/>
        </p:spPr>
        <p:txBody>
          <a:bodyPr wrap="square" lIns="0" tIns="0" rIns="0" bIns="0" rtlCol="0" anchor="t"/>
          <a:lstStyle/>
          <a:p>
            <a:pPr marL="0" indent="0">
              <a:lnSpc>
                <a:spcPct val="102000"/>
              </a:lnSpc>
              <a:buNone/>
            </a:pPr>
            <a:r>
              <a:rPr lang="en-US" sz="1250" b="1" dirty="0">
                <a:solidFill>
                  <a:srgbClr val="2B2422"/>
                </a:solidFill>
                <a:latin typeface="Calibri" pitchFamily="34" charset="0"/>
                <a:ea typeface="Calibri" pitchFamily="34" charset="-122"/>
                <a:cs typeface="Calibri" pitchFamily="34" charset="-120"/>
              </a:rPr>
              <a:t>Analysable  </a:t>
            </a:r>
            <a:r>
              <a:rPr lang="en-US" sz="1250" dirty="0">
                <a:solidFill>
                  <a:srgbClr val="8A7E76"/>
                </a:solidFill>
                <a:latin typeface="Calibri" pitchFamily="34" charset="0"/>
                <a:ea typeface="Calibri" pitchFamily="34" charset="-122"/>
                <a:cs typeface="Calibri" pitchFamily="34" charset="-120"/>
              </a:rPr>
              <a:t>this log is the raw input for Part B economics.</a:t>
            </a:r>
            <a:endParaRPr lang="en-US" sz="1250" dirty="0"/>
          </a:p>
        </p:txBody>
      </p:sp>
      <p:sp>
        <p:nvSpPr>
          <p:cNvPr id="16" name="Text 10"/>
          <p:cNvSpPr/>
          <p:nvPr/>
        </p:nvSpPr>
        <p:spPr>
          <a:xfrm>
            <a:off x="502920" y="5074920"/>
            <a:ext cx="1828800" cy="1280160"/>
          </a:xfrm>
          <a:prstGeom prst="rect">
            <a:avLst/>
          </a:prstGeom>
          <a:noFill/>
          <a:ln/>
        </p:spPr>
        <p:txBody>
          <a:bodyPr wrap="square" lIns="0" tIns="0" rIns="0" bIns="0" rtlCol="0" anchor="ctr"/>
          <a:lstStyle/>
          <a:p>
            <a:pPr marL="0" indent="0">
              <a:buNone/>
            </a:pPr>
            <a:r>
              <a:rPr lang="en-US" sz="9000" b="1" dirty="0">
                <a:solidFill>
                  <a:srgbClr val="C1352B">
                    <a:alpha val="18000"/>
                  </a:srgbClr>
                </a:solidFill>
                <a:latin typeface="Cambria" pitchFamily="34" charset="0"/>
                <a:ea typeface="Cambria" pitchFamily="34" charset="-122"/>
                <a:cs typeface="Cambria" pitchFamily="34" charset="-120"/>
              </a:rPr>
              <a:t>6</a:t>
            </a:r>
            <a:endParaRPr lang="en-US" sz="9000" dirty="0"/>
          </a:p>
        </p:txBody>
      </p:sp>
      <p:sp>
        <p:nvSpPr>
          <p:cNvPr id="17" name="Shape 11"/>
          <p:cNvSpPr/>
          <p:nvPr/>
        </p:nvSpPr>
        <p:spPr>
          <a:xfrm>
            <a:off x="5577840" y="1783080"/>
            <a:ext cx="6080760" cy="4434840"/>
          </a:xfrm>
          <a:prstGeom prst="roundRect">
            <a:avLst>
              <a:gd name="adj" fmla="val 1856"/>
            </a:avLst>
          </a:prstGeom>
          <a:solidFill>
            <a:srgbClr val="FFFFFF"/>
          </a:solidFill>
          <a:ln w="12700">
            <a:solidFill>
              <a:srgbClr val="E7DCCD"/>
            </a:solidFill>
            <a:prstDash val="solid"/>
          </a:ln>
          <a:effectLst>
            <a:outerShdw blurRad="88900" dist="38100" dir="5400000" algn="bl" rotWithShape="0">
              <a:srgbClr val="000000">
                <a:alpha val="16000"/>
              </a:srgbClr>
            </a:outerShdw>
          </a:effectLst>
        </p:spPr>
        <p:txBody>
          <a:bodyPr/>
          <a:lstStyle/>
          <a:p>
            <a:endParaRPr lang="en-IN"/>
          </a:p>
        </p:txBody>
      </p:sp>
      <p:sp>
        <p:nvSpPr>
          <p:cNvPr id="18" name="Shape 12"/>
          <p:cNvSpPr/>
          <p:nvPr/>
        </p:nvSpPr>
        <p:spPr>
          <a:xfrm>
            <a:off x="5577840" y="1783080"/>
            <a:ext cx="6080760" cy="384048"/>
          </a:xfrm>
          <a:prstGeom prst="roundRect">
            <a:avLst>
              <a:gd name="adj" fmla="val 21429"/>
            </a:avLst>
          </a:prstGeom>
          <a:solidFill>
            <a:srgbClr val="F3EBE0"/>
          </a:solidFill>
          <a:ln/>
        </p:spPr>
        <p:txBody>
          <a:bodyPr/>
          <a:lstStyle/>
          <a:p>
            <a:endParaRPr lang="en-IN"/>
          </a:p>
        </p:txBody>
      </p:sp>
      <p:sp>
        <p:nvSpPr>
          <p:cNvPr id="19" name="Shape 13"/>
          <p:cNvSpPr/>
          <p:nvPr/>
        </p:nvSpPr>
        <p:spPr>
          <a:xfrm>
            <a:off x="5577840" y="2057400"/>
            <a:ext cx="6080760" cy="109728"/>
          </a:xfrm>
          <a:prstGeom prst="rect">
            <a:avLst/>
          </a:prstGeom>
          <a:solidFill>
            <a:srgbClr val="F3EBE0"/>
          </a:solidFill>
          <a:ln/>
        </p:spPr>
        <p:txBody>
          <a:bodyPr/>
          <a:lstStyle/>
          <a:p>
            <a:endParaRPr lang="en-IN"/>
          </a:p>
        </p:txBody>
      </p:sp>
      <p:sp>
        <p:nvSpPr>
          <p:cNvPr id="20" name="Shape 14"/>
          <p:cNvSpPr/>
          <p:nvPr/>
        </p:nvSpPr>
        <p:spPr>
          <a:xfrm>
            <a:off x="5724144" y="1933956"/>
            <a:ext cx="82296" cy="82296"/>
          </a:xfrm>
          <a:prstGeom prst="ellipse">
            <a:avLst/>
          </a:prstGeom>
          <a:solidFill>
            <a:srgbClr val="E06C5E"/>
          </a:solidFill>
          <a:ln/>
        </p:spPr>
        <p:txBody>
          <a:bodyPr/>
          <a:lstStyle/>
          <a:p>
            <a:endParaRPr lang="en-IN"/>
          </a:p>
        </p:txBody>
      </p:sp>
      <p:sp>
        <p:nvSpPr>
          <p:cNvPr id="21" name="Shape 15"/>
          <p:cNvSpPr/>
          <p:nvPr/>
        </p:nvSpPr>
        <p:spPr>
          <a:xfrm>
            <a:off x="5888736" y="1933956"/>
            <a:ext cx="82296" cy="82296"/>
          </a:xfrm>
          <a:prstGeom prst="ellipse">
            <a:avLst/>
          </a:prstGeom>
          <a:solidFill>
            <a:srgbClr val="E8C15A"/>
          </a:solidFill>
          <a:ln/>
        </p:spPr>
        <p:txBody>
          <a:bodyPr/>
          <a:lstStyle/>
          <a:p>
            <a:endParaRPr lang="en-IN"/>
          </a:p>
        </p:txBody>
      </p:sp>
      <p:sp>
        <p:nvSpPr>
          <p:cNvPr id="22" name="Shape 16"/>
          <p:cNvSpPr/>
          <p:nvPr/>
        </p:nvSpPr>
        <p:spPr>
          <a:xfrm>
            <a:off x="6053328" y="1933956"/>
            <a:ext cx="82296" cy="82296"/>
          </a:xfrm>
          <a:prstGeom prst="ellipse">
            <a:avLst/>
          </a:prstGeom>
          <a:solidFill>
            <a:srgbClr val="7FB98B"/>
          </a:solidFill>
          <a:ln/>
        </p:spPr>
        <p:txBody>
          <a:bodyPr/>
          <a:lstStyle/>
          <a:p>
            <a:endParaRPr lang="en-IN"/>
          </a:p>
        </p:txBody>
      </p:sp>
      <p:sp>
        <p:nvSpPr>
          <p:cNvPr id="23" name="Shape 17"/>
          <p:cNvSpPr/>
          <p:nvPr/>
        </p:nvSpPr>
        <p:spPr>
          <a:xfrm>
            <a:off x="6291072" y="1856232"/>
            <a:ext cx="5166360" cy="237744"/>
          </a:xfrm>
          <a:prstGeom prst="roundRect">
            <a:avLst>
              <a:gd name="adj" fmla="val 23077"/>
            </a:avLst>
          </a:prstGeom>
          <a:solidFill>
            <a:srgbClr val="FFFFFF"/>
          </a:solidFill>
          <a:ln w="9525">
            <a:solidFill>
              <a:srgbClr val="E7DCCD"/>
            </a:solidFill>
            <a:prstDash val="solid"/>
          </a:ln>
        </p:spPr>
        <p:txBody>
          <a:bodyPr/>
          <a:lstStyle/>
          <a:p>
            <a:endParaRPr lang="en-IN"/>
          </a:p>
        </p:txBody>
      </p:sp>
      <p:pic>
        <p:nvPicPr>
          <p:cNvPr id="24" name="Image 4" descr="preencoded.png"/>
          <p:cNvPicPr>
            <a:picLocks noChangeAspect="1"/>
          </p:cNvPicPr>
          <p:nvPr/>
        </p:nvPicPr>
        <p:blipFill>
          <a:blip r:embed="rId4"/>
          <a:stretch>
            <a:fillRect/>
          </a:stretch>
        </p:blipFill>
        <p:spPr>
          <a:xfrm>
            <a:off x="6382512" y="1920240"/>
            <a:ext cx="109728" cy="109728"/>
          </a:xfrm>
          <a:prstGeom prst="rect">
            <a:avLst/>
          </a:prstGeom>
        </p:spPr>
      </p:pic>
      <p:sp>
        <p:nvSpPr>
          <p:cNvPr id="25" name="Text 18"/>
          <p:cNvSpPr/>
          <p:nvPr/>
        </p:nvSpPr>
        <p:spPr>
          <a:xfrm>
            <a:off x="6547104" y="1856232"/>
            <a:ext cx="4846320" cy="237744"/>
          </a:xfrm>
          <a:prstGeom prst="rect">
            <a:avLst/>
          </a:prstGeom>
          <a:noFill/>
          <a:ln/>
        </p:spPr>
        <p:txBody>
          <a:bodyPr wrap="square" lIns="0" tIns="0" rIns="0" bIns="0" rtlCol="0" anchor="ctr"/>
          <a:lstStyle/>
          <a:p>
            <a:pPr marL="0" indent="0" algn="l">
              <a:buNone/>
            </a:pPr>
            <a:r>
              <a:rPr lang="en-US" sz="950" dirty="0">
                <a:solidFill>
                  <a:srgbClr val="8A7E76"/>
                </a:solidFill>
                <a:latin typeface="Calibri" pitchFamily="34" charset="0"/>
                <a:ea typeface="Calibri" pitchFamily="34" charset="-122"/>
                <a:cs typeface="Calibri" pitchFamily="34" charset="-120"/>
              </a:rPr>
              <a:t>moulsai2296-pizzaflow-v2.hf.space</a:t>
            </a:r>
            <a:endParaRPr lang="en-US" sz="950" dirty="0"/>
          </a:p>
        </p:txBody>
      </p:sp>
      <p:sp>
        <p:nvSpPr>
          <p:cNvPr id="26" name="Shape 19"/>
          <p:cNvSpPr/>
          <p:nvPr/>
        </p:nvSpPr>
        <p:spPr>
          <a:xfrm>
            <a:off x="5632704" y="2221992"/>
            <a:ext cx="5971032" cy="3941064"/>
          </a:xfrm>
          <a:prstGeom prst="rect">
            <a:avLst/>
          </a:prstGeom>
          <a:solidFill>
            <a:srgbClr val="FBF6EF"/>
          </a:solidFill>
          <a:ln/>
        </p:spPr>
        <p:txBody>
          <a:bodyPr/>
          <a:lstStyle/>
          <a:p>
            <a:endParaRPr lang="en-IN"/>
          </a:p>
        </p:txBody>
      </p:sp>
      <p:pic>
        <p:nvPicPr>
          <p:cNvPr id="27" name="Image 5" descr="preencoded.png"/>
          <p:cNvPicPr>
            <a:picLocks noChangeAspect="1"/>
          </p:cNvPicPr>
          <p:nvPr/>
        </p:nvPicPr>
        <p:blipFill>
          <a:blip r:embed="rId5">
            <a:alphaModFix amt="70000"/>
          </a:blip>
          <a:stretch>
            <a:fillRect/>
          </a:stretch>
        </p:blipFill>
        <p:spPr>
          <a:xfrm>
            <a:off x="8362188" y="3625596"/>
            <a:ext cx="512064" cy="512064"/>
          </a:xfrm>
          <a:prstGeom prst="rect">
            <a:avLst/>
          </a:prstGeom>
        </p:spPr>
      </p:pic>
      <p:sp>
        <p:nvSpPr>
          <p:cNvPr id="28" name="Text 20"/>
          <p:cNvSpPr/>
          <p:nvPr/>
        </p:nvSpPr>
        <p:spPr>
          <a:xfrm>
            <a:off x="5852160" y="4229100"/>
            <a:ext cx="5532120" cy="274320"/>
          </a:xfrm>
          <a:prstGeom prst="rect">
            <a:avLst/>
          </a:prstGeom>
          <a:noFill/>
          <a:ln/>
        </p:spPr>
        <p:txBody>
          <a:bodyPr wrap="square" lIns="0" tIns="0" rIns="0" bIns="0" rtlCol="0" anchor="ctr"/>
          <a:lstStyle/>
          <a:p>
            <a:pPr marL="0" indent="0" algn="ctr">
              <a:buNone/>
            </a:pPr>
            <a:r>
              <a:rPr lang="en-US" sz="1100" b="1" dirty="0">
                <a:solidFill>
                  <a:srgbClr val="C1352B"/>
                </a:solidFill>
                <a:latin typeface="Calibri" pitchFamily="34" charset="0"/>
                <a:ea typeface="Calibri" pitchFamily="34" charset="-122"/>
                <a:cs typeface="Calibri" pitchFamily="34" charset="-120"/>
              </a:rPr>
              <a:t>Screenshot</a:t>
            </a:r>
            <a:endParaRPr lang="en-US" sz="1100" dirty="0"/>
          </a:p>
        </p:txBody>
      </p:sp>
      <p:sp>
        <p:nvSpPr>
          <p:cNvPr id="29" name="Text 21"/>
          <p:cNvSpPr/>
          <p:nvPr/>
        </p:nvSpPr>
        <p:spPr>
          <a:xfrm>
            <a:off x="5852160" y="4485132"/>
            <a:ext cx="5532120" cy="457200"/>
          </a:xfrm>
          <a:prstGeom prst="rect">
            <a:avLst/>
          </a:prstGeom>
          <a:noFill/>
          <a:ln/>
        </p:spPr>
        <p:txBody>
          <a:bodyPr wrap="square" lIns="0" tIns="0" rIns="0" bIns="0" rtlCol="0" anchor="ctr"/>
          <a:lstStyle/>
          <a:p>
            <a:pPr marL="0" indent="0" algn="ctr">
              <a:buNone/>
            </a:pPr>
            <a:r>
              <a:rPr lang="en-US" sz="1000" i="1" dirty="0">
                <a:solidFill>
                  <a:srgbClr val="8A7E76"/>
                </a:solidFill>
                <a:latin typeface="Calibri" pitchFamily="34" charset="0"/>
                <a:ea typeface="Calibri" pitchFamily="34" charset="-122"/>
                <a:cs typeface="Calibri" pitchFamily="34" charset="-120"/>
              </a:rPr>
              <a:t>Order-confirmed screen after a successful order</a:t>
            </a:r>
            <a:endParaRPr lang="en-US" sz="1000" dirty="0"/>
          </a:p>
        </p:txBody>
      </p:sp>
      <p:sp>
        <p:nvSpPr>
          <p:cNvPr id="30" name="Text 22"/>
          <p:cNvSpPr/>
          <p:nvPr/>
        </p:nvSpPr>
        <p:spPr>
          <a:xfrm>
            <a:off x="502920" y="6473952"/>
            <a:ext cx="5486400" cy="274320"/>
          </a:xfrm>
          <a:prstGeom prst="rect">
            <a:avLst/>
          </a:prstGeom>
          <a:noFill/>
          <a:ln/>
        </p:spPr>
        <p:txBody>
          <a:bodyPr wrap="square" lIns="0" tIns="0" rIns="0" bIns="0" rtlCol="0" anchor="ctr"/>
          <a:lstStyle/>
          <a:p>
            <a:pPr marL="0" indent="0" algn="l">
              <a:buNone/>
            </a:pPr>
            <a:r>
              <a:rPr lang="en-US" sz="900" dirty="0">
                <a:solidFill>
                  <a:srgbClr val="8A7E76"/>
                </a:solidFill>
                <a:latin typeface="Calibri" pitchFamily="34" charset="0"/>
                <a:ea typeface="Calibri" pitchFamily="34" charset="-122"/>
                <a:cs typeface="Calibri" pitchFamily="34" charset="-120"/>
              </a:rPr>
              <a:t>SliceMatic · PizzaFlow MVP Demo</a:t>
            </a:r>
            <a:endParaRPr lang="en-US" sz="900" dirty="0"/>
          </a:p>
        </p:txBody>
      </p:sp>
      <p:sp>
        <p:nvSpPr>
          <p:cNvPr id="31" name="Text 23"/>
          <p:cNvSpPr/>
          <p:nvPr/>
        </p:nvSpPr>
        <p:spPr>
          <a:xfrm>
            <a:off x="11274552" y="6473952"/>
            <a:ext cx="411480" cy="274320"/>
          </a:xfrm>
          <a:prstGeom prst="rect">
            <a:avLst/>
          </a:prstGeom>
          <a:noFill/>
          <a:ln/>
        </p:spPr>
        <p:txBody>
          <a:bodyPr wrap="square" lIns="0" tIns="0" rIns="0" bIns="0" rtlCol="0" anchor="ctr"/>
          <a:lstStyle/>
          <a:p>
            <a:pPr marL="0" indent="0" algn="r">
              <a:buNone/>
            </a:pPr>
            <a:r>
              <a:rPr lang="en-US" sz="900" dirty="0">
                <a:solidFill>
                  <a:srgbClr val="8A7E76"/>
                </a:solidFill>
                <a:latin typeface="Calibri" pitchFamily="34" charset="0"/>
                <a:ea typeface="Calibri" pitchFamily="34" charset="-122"/>
                <a:cs typeface="Calibri" pitchFamily="34" charset="-120"/>
              </a:rPr>
              <a:t>9</a:t>
            </a:r>
            <a:endParaRPr lang="en-US" sz="900" dirty="0"/>
          </a:p>
        </p:txBody>
      </p:sp>
      <p:pic>
        <p:nvPicPr>
          <p:cNvPr id="33" name="Picture 32">
            <a:extLst>
              <a:ext uri="{FF2B5EF4-FFF2-40B4-BE49-F238E27FC236}">
                <a16:creationId xmlns:a16="http://schemas.microsoft.com/office/drawing/2014/main" id="{BAB15016-2C50-0ED2-0ABF-34F02FAC30F1}"/>
              </a:ext>
            </a:extLst>
          </p:cNvPr>
          <p:cNvPicPr>
            <a:picLocks noChangeAspect="1"/>
          </p:cNvPicPr>
          <p:nvPr/>
        </p:nvPicPr>
        <p:blipFill>
          <a:blip r:embed="rId6"/>
          <a:stretch>
            <a:fillRect/>
          </a:stretch>
        </p:blipFill>
        <p:spPr>
          <a:xfrm>
            <a:off x="5577841" y="2164626"/>
            <a:ext cx="6065519" cy="4016718"/>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BF6EF"/>
        </a:solidFill>
        <a:effectLst/>
      </p:bgPr>
    </p:bg>
    <p:spTree>
      <p:nvGrpSpPr>
        <p:cNvPr id="1" name=""/>
        <p:cNvGrpSpPr/>
        <p:nvPr/>
      </p:nvGrpSpPr>
      <p:grpSpPr>
        <a:xfrm>
          <a:off x="0" y="0"/>
          <a:ext cx="0" cy="0"/>
          <a:chOff x="0" y="0"/>
          <a:chExt cx="0" cy="0"/>
        </a:xfrm>
      </p:grpSpPr>
      <p:sp>
        <p:nvSpPr>
          <p:cNvPr id="2" name="Text 0"/>
          <p:cNvSpPr/>
          <p:nvPr/>
        </p:nvSpPr>
        <p:spPr>
          <a:xfrm>
            <a:off x="502920" y="457200"/>
            <a:ext cx="8229600" cy="274320"/>
          </a:xfrm>
          <a:prstGeom prst="rect">
            <a:avLst/>
          </a:prstGeom>
          <a:noFill/>
          <a:ln/>
        </p:spPr>
        <p:txBody>
          <a:bodyPr wrap="square" lIns="0" tIns="0" rIns="0" bIns="0" rtlCol="0" anchor="ctr"/>
          <a:lstStyle/>
          <a:p>
            <a:pPr marL="0" indent="0">
              <a:buNone/>
            </a:pPr>
            <a:r>
              <a:rPr lang="en-US" sz="1200" b="1" kern="0" spc="300" dirty="0">
                <a:solidFill>
                  <a:srgbClr val="C1352B"/>
                </a:solidFill>
                <a:latin typeface="Calibri" pitchFamily="34" charset="0"/>
                <a:ea typeface="Calibri" pitchFamily="34" charset="-122"/>
                <a:cs typeface="Calibri" pitchFamily="34" charset="-120"/>
              </a:rPr>
              <a:t>ROBUSTNESS</a:t>
            </a:r>
            <a:endParaRPr lang="en-US" sz="1200" dirty="0"/>
          </a:p>
        </p:txBody>
      </p:sp>
      <p:sp>
        <p:nvSpPr>
          <p:cNvPr id="3" name="Text 1"/>
          <p:cNvSpPr/>
          <p:nvPr/>
        </p:nvSpPr>
        <p:spPr>
          <a:xfrm>
            <a:off x="475488" y="749808"/>
            <a:ext cx="10515600" cy="685800"/>
          </a:xfrm>
          <a:prstGeom prst="rect">
            <a:avLst/>
          </a:prstGeom>
          <a:noFill/>
          <a:ln/>
        </p:spPr>
        <p:txBody>
          <a:bodyPr wrap="square" lIns="0" tIns="0" rIns="0" bIns="0" rtlCol="0" anchor="ctr"/>
          <a:lstStyle/>
          <a:p>
            <a:pPr marL="0" indent="0">
              <a:buNone/>
            </a:pPr>
            <a:r>
              <a:rPr lang="en-US" sz="3300" b="1" dirty="0">
                <a:solidFill>
                  <a:srgbClr val="2B2422"/>
                </a:solidFill>
                <a:latin typeface="Cambria" pitchFamily="34" charset="0"/>
                <a:ea typeface="Cambria" pitchFamily="34" charset="-122"/>
                <a:cs typeface="Cambria" pitchFamily="34" charset="-120"/>
              </a:rPr>
              <a:t>Validation &amp; edge cases — live proof</a:t>
            </a:r>
            <a:endParaRPr lang="en-US" sz="3300" dirty="0"/>
          </a:p>
        </p:txBody>
      </p:sp>
      <p:sp>
        <p:nvSpPr>
          <p:cNvPr id="4" name="Text 2"/>
          <p:cNvSpPr/>
          <p:nvPr/>
        </p:nvSpPr>
        <p:spPr>
          <a:xfrm>
            <a:off x="502920" y="1417320"/>
            <a:ext cx="11155680" cy="457200"/>
          </a:xfrm>
          <a:prstGeom prst="rect">
            <a:avLst/>
          </a:prstGeom>
          <a:noFill/>
          <a:ln/>
        </p:spPr>
        <p:txBody>
          <a:bodyPr wrap="square" lIns="0" tIns="0" rIns="0" bIns="0" rtlCol="0" anchor="ctr"/>
          <a:lstStyle/>
          <a:p>
            <a:pPr marL="0" indent="0">
              <a:buNone/>
            </a:pPr>
            <a:r>
              <a:rPr lang="en-US" sz="1350" dirty="0">
                <a:solidFill>
                  <a:srgbClr val="2B2422"/>
                </a:solidFill>
                <a:latin typeface="Calibri" pitchFamily="34" charset="0"/>
                <a:ea typeface="Calibri" pitchFamily="34" charset="-122"/>
                <a:cs typeface="Calibri" pitchFamily="34" charset="-120"/>
              </a:rPr>
              <a:t>The grader will throw bad input at this. Here's the system refusing to break — every rejection is specific and re-prompts.</a:t>
            </a:r>
            <a:endParaRPr lang="en-US" sz="1350" dirty="0"/>
          </a:p>
        </p:txBody>
      </p:sp>
      <p:sp>
        <p:nvSpPr>
          <p:cNvPr id="5" name="Shape 3"/>
          <p:cNvSpPr/>
          <p:nvPr/>
        </p:nvSpPr>
        <p:spPr>
          <a:xfrm>
            <a:off x="548640" y="2148840"/>
            <a:ext cx="3611880" cy="3063240"/>
          </a:xfrm>
          <a:prstGeom prst="roundRect">
            <a:avLst>
              <a:gd name="adj" fmla="val 2687"/>
            </a:avLst>
          </a:prstGeom>
          <a:solidFill>
            <a:srgbClr val="FFFFFF"/>
          </a:solidFill>
          <a:ln w="12700">
            <a:solidFill>
              <a:srgbClr val="E7DCCD"/>
            </a:solidFill>
            <a:prstDash val="solid"/>
          </a:ln>
          <a:effectLst>
            <a:outerShdw blurRad="88900" dist="38100" dir="5400000" algn="bl" rotWithShape="0">
              <a:srgbClr val="000000">
                <a:alpha val="16000"/>
              </a:srgbClr>
            </a:outerShdw>
          </a:effectLst>
        </p:spPr>
        <p:txBody>
          <a:bodyPr/>
          <a:lstStyle/>
          <a:p>
            <a:endParaRPr lang="en-IN"/>
          </a:p>
        </p:txBody>
      </p:sp>
      <p:sp>
        <p:nvSpPr>
          <p:cNvPr id="6" name="Shape 4"/>
          <p:cNvSpPr/>
          <p:nvPr/>
        </p:nvSpPr>
        <p:spPr>
          <a:xfrm>
            <a:off x="548640" y="2148840"/>
            <a:ext cx="3611880" cy="384048"/>
          </a:xfrm>
          <a:prstGeom prst="roundRect">
            <a:avLst>
              <a:gd name="adj" fmla="val 21429"/>
            </a:avLst>
          </a:prstGeom>
          <a:solidFill>
            <a:srgbClr val="F3EBE0"/>
          </a:solidFill>
          <a:ln/>
        </p:spPr>
        <p:txBody>
          <a:bodyPr/>
          <a:lstStyle/>
          <a:p>
            <a:endParaRPr lang="en-IN"/>
          </a:p>
        </p:txBody>
      </p:sp>
      <p:sp>
        <p:nvSpPr>
          <p:cNvPr id="7" name="Shape 5"/>
          <p:cNvSpPr/>
          <p:nvPr/>
        </p:nvSpPr>
        <p:spPr>
          <a:xfrm>
            <a:off x="548640" y="2423160"/>
            <a:ext cx="3611880" cy="109728"/>
          </a:xfrm>
          <a:prstGeom prst="rect">
            <a:avLst/>
          </a:prstGeom>
          <a:solidFill>
            <a:srgbClr val="F3EBE0"/>
          </a:solidFill>
          <a:ln/>
        </p:spPr>
        <p:txBody>
          <a:bodyPr/>
          <a:lstStyle/>
          <a:p>
            <a:endParaRPr lang="en-IN"/>
          </a:p>
        </p:txBody>
      </p:sp>
      <p:sp>
        <p:nvSpPr>
          <p:cNvPr id="8" name="Shape 6"/>
          <p:cNvSpPr/>
          <p:nvPr/>
        </p:nvSpPr>
        <p:spPr>
          <a:xfrm>
            <a:off x="694944" y="2299716"/>
            <a:ext cx="82296" cy="82296"/>
          </a:xfrm>
          <a:prstGeom prst="ellipse">
            <a:avLst/>
          </a:prstGeom>
          <a:solidFill>
            <a:srgbClr val="E06C5E"/>
          </a:solidFill>
          <a:ln/>
        </p:spPr>
        <p:txBody>
          <a:bodyPr/>
          <a:lstStyle/>
          <a:p>
            <a:endParaRPr lang="en-IN"/>
          </a:p>
        </p:txBody>
      </p:sp>
      <p:sp>
        <p:nvSpPr>
          <p:cNvPr id="9" name="Shape 7"/>
          <p:cNvSpPr/>
          <p:nvPr/>
        </p:nvSpPr>
        <p:spPr>
          <a:xfrm>
            <a:off x="859536" y="2299716"/>
            <a:ext cx="82296" cy="82296"/>
          </a:xfrm>
          <a:prstGeom prst="ellipse">
            <a:avLst/>
          </a:prstGeom>
          <a:solidFill>
            <a:srgbClr val="E8C15A"/>
          </a:solidFill>
          <a:ln/>
        </p:spPr>
        <p:txBody>
          <a:bodyPr/>
          <a:lstStyle/>
          <a:p>
            <a:endParaRPr lang="en-IN"/>
          </a:p>
        </p:txBody>
      </p:sp>
      <p:sp>
        <p:nvSpPr>
          <p:cNvPr id="10" name="Shape 8"/>
          <p:cNvSpPr/>
          <p:nvPr/>
        </p:nvSpPr>
        <p:spPr>
          <a:xfrm>
            <a:off x="1024128" y="2299716"/>
            <a:ext cx="82296" cy="82296"/>
          </a:xfrm>
          <a:prstGeom prst="ellipse">
            <a:avLst/>
          </a:prstGeom>
          <a:solidFill>
            <a:srgbClr val="7FB98B"/>
          </a:solidFill>
          <a:ln/>
        </p:spPr>
        <p:txBody>
          <a:bodyPr/>
          <a:lstStyle/>
          <a:p>
            <a:endParaRPr lang="en-IN"/>
          </a:p>
        </p:txBody>
      </p:sp>
      <p:sp>
        <p:nvSpPr>
          <p:cNvPr id="11" name="Shape 9"/>
          <p:cNvSpPr/>
          <p:nvPr/>
        </p:nvSpPr>
        <p:spPr>
          <a:xfrm>
            <a:off x="1261872" y="2221992"/>
            <a:ext cx="2697480" cy="237744"/>
          </a:xfrm>
          <a:prstGeom prst="roundRect">
            <a:avLst>
              <a:gd name="adj" fmla="val 23077"/>
            </a:avLst>
          </a:prstGeom>
          <a:solidFill>
            <a:srgbClr val="FFFFFF"/>
          </a:solidFill>
          <a:ln w="9525">
            <a:solidFill>
              <a:srgbClr val="E7DCCD"/>
            </a:solidFill>
            <a:prstDash val="solid"/>
          </a:ln>
        </p:spPr>
        <p:txBody>
          <a:bodyPr/>
          <a:lstStyle/>
          <a:p>
            <a:endParaRPr lang="en-IN"/>
          </a:p>
        </p:txBody>
      </p:sp>
      <p:pic>
        <p:nvPicPr>
          <p:cNvPr id="12" name="Image 0" descr="preencoded.png"/>
          <p:cNvPicPr>
            <a:picLocks noChangeAspect="1"/>
          </p:cNvPicPr>
          <p:nvPr/>
        </p:nvPicPr>
        <p:blipFill>
          <a:blip r:embed="rId3"/>
          <a:stretch>
            <a:fillRect/>
          </a:stretch>
        </p:blipFill>
        <p:spPr>
          <a:xfrm>
            <a:off x="1353312" y="2286000"/>
            <a:ext cx="109728" cy="109728"/>
          </a:xfrm>
          <a:prstGeom prst="rect">
            <a:avLst/>
          </a:prstGeom>
        </p:spPr>
      </p:pic>
      <p:sp>
        <p:nvSpPr>
          <p:cNvPr id="13" name="Text 10"/>
          <p:cNvSpPr/>
          <p:nvPr/>
        </p:nvSpPr>
        <p:spPr>
          <a:xfrm>
            <a:off x="1517904" y="2221992"/>
            <a:ext cx="2377440" cy="237744"/>
          </a:xfrm>
          <a:prstGeom prst="rect">
            <a:avLst/>
          </a:prstGeom>
          <a:noFill/>
          <a:ln/>
        </p:spPr>
        <p:txBody>
          <a:bodyPr wrap="square" lIns="0" tIns="0" rIns="0" bIns="0" rtlCol="0" anchor="ctr"/>
          <a:lstStyle/>
          <a:p>
            <a:pPr marL="0" indent="0" algn="l">
              <a:buNone/>
            </a:pPr>
            <a:r>
              <a:rPr lang="en-US" sz="950" dirty="0">
                <a:solidFill>
                  <a:srgbClr val="8A7E76"/>
                </a:solidFill>
                <a:latin typeface="Calibri" pitchFamily="34" charset="0"/>
                <a:ea typeface="Calibri" pitchFamily="34" charset="-122"/>
                <a:cs typeface="Calibri" pitchFamily="34" charset="-120"/>
              </a:rPr>
              <a:t>moulsai2296-pizzaflow-v2.hf.space</a:t>
            </a:r>
            <a:endParaRPr lang="en-US" sz="950" dirty="0"/>
          </a:p>
        </p:txBody>
      </p:sp>
      <p:sp>
        <p:nvSpPr>
          <p:cNvPr id="14" name="Shape 11"/>
          <p:cNvSpPr/>
          <p:nvPr/>
        </p:nvSpPr>
        <p:spPr>
          <a:xfrm>
            <a:off x="603504" y="2587752"/>
            <a:ext cx="3502152" cy="2569464"/>
          </a:xfrm>
          <a:prstGeom prst="rect">
            <a:avLst/>
          </a:prstGeom>
          <a:solidFill>
            <a:srgbClr val="FBF6EF"/>
          </a:solidFill>
          <a:ln/>
        </p:spPr>
        <p:txBody>
          <a:bodyPr/>
          <a:lstStyle/>
          <a:p>
            <a:endParaRPr lang="en-IN"/>
          </a:p>
        </p:txBody>
      </p:sp>
      <p:pic>
        <p:nvPicPr>
          <p:cNvPr id="15" name="Image 1" descr="preencoded.png"/>
          <p:cNvPicPr>
            <a:picLocks noChangeAspect="1"/>
          </p:cNvPicPr>
          <p:nvPr/>
        </p:nvPicPr>
        <p:blipFill>
          <a:blip r:embed="rId4">
            <a:alphaModFix amt="70000"/>
          </a:blip>
          <a:stretch>
            <a:fillRect/>
          </a:stretch>
        </p:blipFill>
        <p:spPr>
          <a:xfrm>
            <a:off x="2098548" y="3305556"/>
            <a:ext cx="512064" cy="512064"/>
          </a:xfrm>
          <a:prstGeom prst="rect">
            <a:avLst/>
          </a:prstGeom>
        </p:spPr>
      </p:pic>
      <p:sp>
        <p:nvSpPr>
          <p:cNvPr id="16" name="Text 12"/>
          <p:cNvSpPr/>
          <p:nvPr/>
        </p:nvSpPr>
        <p:spPr>
          <a:xfrm>
            <a:off x="822960" y="3909060"/>
            <a:ext cx="3063240" cy="274320"/>
          </a:xfrm>
          <a:prstGeom prst="rect">
            <a:avLst/>
          </a:prstGeom>
          <a:noFill/>
          <a:ln/>
        </p:spPr>
        <p:txBody>
          <a:bodyPr wrap="square" lIns="0" tIns="0" rIns="0" bIns="0" rtlCol="0" anchor="ctr"/>
          <a:lstStyle/>
          <a:p>
            <a:pPr marL="0" indent="0" algn="ctr">
              <a:buNone/>
            </a:pPr>
            <a:r>
              <a:rPr lang="en-US" sz="1100" b="1" dirty="0">
                <a:solidFill>
                  <a:srgbClr val="C1352B"/>
                </a:solidFill>
                <a:latin typeface="Calibri" pitchFamily="34" charset="0"/>
                <a:ea typeface="Calibri" pitchFamily="34" charset="-122"/>
                <a:cs typeface="Calibri" pitchFamily="34" charset="-120"/>
              </a:rPr>
              <a:t>Screenshot</a:t>
            </a:r>
            <a:endParaRPr lang="en-US" sz="1100" dirty="0"/>
          </a:p>
        </p:txBody>
      </p:sp>
      <p:sp>
        <p:nvSpPr>
          <p:cNvPr id="17" name="Text 13"/>
          <p:cNvSpPr/>
          <p:nvPr/>
        </p:nvSpPr>
        <p:spPr>
          <a:xfrm>
            <a:off x="822960" y="4165092"/>
            <a:ext cx="3063240" cy="457200"/>
          </a:xfrm>
          <a:prstGeom prst="rect">
            <a:avLst/>
          </a:prstGeom>
          <a:noFill/>
          <a:ln/>
        </p:spPr>
        <p:txBody>
          <a:bodyPr wrap="square" lIns="0" tIns="0" rIns="0" bIns="0" rtlCol="0" anchor="ctr"/>
          <a:lstStyle/>
          <a:p>
            <a:pPr marL="0" indent="0" algn="ctr">
              <a:buNone/>
            </a:pPr>
            <a:r>
              <a:rPr lang="en-US" sz="1000" i="1" dirty="0">
                <a:solidFill>
                  <a:srgbClr val="8A7E76"/>
                </a:solidFill>
                <a:latin typeface="Calibri" pitchFamily="34" charset="0"/>
                <a:ea typeface="Calibri" pitchFamily="34" charset="-122"/>
                <a:cs typeface="Calibri" pitchFamily="34" charset="-120"/>
              </a:rPr>
              <a:t>Error: Phone starts with 1</a:t>
            </a:r>
            <a:endParaRPr lang="en-US" sz="1000" dirty="0"/>
          </a:p>
        </p:txBody>
      </p:sp>
      <p:sp>
        <p:nvSpPr>
          <p:cNvPr id="18" name="Text 14"/>
          <p:cNvSpPr/>
          <p:nvPr/>
        </p:nvSpPr>
        <p:spPr>
          <a:xfrm>
            <a:off x="548640" y="5321808"/>
            <a:ext cx="3611880" cy="274320"/>
          </a:xfrm>
          <a:prstGeom prst="rect">
            <a:avLst/>
          </a:prstGeom>
          <a:noFill/>
          <a:ln/>
        </p:spPr>
        <p:txBody>
          <a:bodyPr wrap="square" lIns="0" tIns="0" rIns="0" bIns="0" rtlCol="0" anchor="ctr"/>
          <a:lstStyle/>
          <a:p>
            <a:pPr marL="0" indent="0" algn="ctr">
              <a:buNone/>
            </a:pPr>
            <a:r>
              <a:rPr lang="en-US" sz="1300" b="1" dirty="0">
                <a:solidFill>
                  <a:srgbClr val="C1352B"/>
                </a:solidFill>
                <a:latin typeface="Calibri" pitchFamily="34" charset="0"/>
                <a:ea typeface="Calibri" pitchFamily="34" charset="-122"/>
                <a:cs typeface="Calibri" pitchFamily="34" charset="-120"/>
              </a:rPr>
              <a:t>Phone starts with 1</a:t>
            </a:r>
            <a:endParaRPr lang="en-US" sz="1300" dirty="0"/>
          </a:p>
        </p:txBody>
      </p:sp>
      <p:sp>
        <p:nvSpPr>
          <p:cNvPr id="19" name="Text 15"/>
          <p:cNvSpPr/>
          <p:nvPr/>
        </p:nvSpPr>
        <p:spPr>
          <a:xfrm>
            <a:off x="548640" y="5614416"/>
            <a:ext cx="3611880" cy="320040"/>
          </a:xfrm>
          <a:prstGeom prst="rect">
            <a:avLst/>
          </a:prstGeom>
          <a:noFill/>
          <a:ln/>
        </p:spPr>
        <p:txBody>
          <a:bodyPr wrap="square" lIns="0" tIns="0" rIns="0" bIns="0" rtlCol="0" anchor="ctr"/>
          <a:lstStyle/>
          <a:p>
            <a:pPr marL="0" indent="0" algn="ctr">
              <a:buNone/>
            </a:pPr>
            <a:r>
              <a:rPr lang="en-US" sz="1050" i="1" dirty="0">
                <a:solidFill>
                  <a:srgbClr val="8A7E76"/>
                </a:solidFill>
                <a:latin typeface="Calibri" pitchFamily="34" charset="0"/>
                <a:ea typeface="Calibri" pitchFamily="34" charset="-122"/>
                <a:cs typeface="Calibri" pitchFamily="34" charset="-120"/>
              </a:rPr>
              <a:t>"Must be 10 digits &amp; start with 6/7/8/9."</a:t>
            </a:r>
            <a:endParaRPr lang="en-US" sz="1050" dirty="0"/>
          </a:p>
        </p:txBody>
      </p:sp>
      <p:sp>
        <p:nvSpPr>
          <p:cNvPr id="20" name="Shape 16"/>
          <p:cNvSpPr/>
          <p:nvPr/>
        </p:nvSpPr>
        <p:spPr>
          <a:xfrm>
            <a:off x="4379976" y="2148840"/>
            <a:ext cx="3611880" cy="3063240"/>
          </a:xfrm>
          <a:prstGeom prst="roundRect">
            <a:avLst>
              <a:gd name="adj" fmla="val 2687"/>
            </a:avLst>
          </a:prstGeom>
          <a:solidFill>
            <a:srgbClr val="FFFFFF"/>
          </a:solidFill>
          <a:ln w="12700">
            <a:solidFill>
              <a:srgbClr val="E7DCCD"/>
            </a:solidFill>
            <a:prstDash val="solid"/>
          </a:ln>
          <a:effectLst>
            <a:outerShdw blurRad="88900" dist="38100" dir="5400000" algn="bl" rotWithShape="0">
              <a:srgbClr val="000000">
                <a:alpha val="16000"/>
              </a:srgbClr>
            </a:outerShdw>
          </a:effectLst>
        </p:spPr>
        <p:txBody>
          <a:bodyPr/>
          <a:lstStyle/>
          <a:p>
            <a:endParaRPr lang="en-IN"/>
          </a:p>
        </p:txBody>
      </p:sp>
      <p:sp>
        <p:nvSpPr>
          <p:cNvPr id="21" name="Shape 17"/>
          <p:cNvSpPr/>
          <p:nvPr/>
        </p:nvSpPr>
        <p:spPr>
          <a:xfrm>
            <a:off x="4379976" y="2148840"/>
            <a:ext cx="3611880" cy="384048"/>
          </a:xfrm>
          <a:prstGeom prst="roundRect">
            <a:avLst>
              <a:gd name="adj" fmla="val 21429"/>
            </a:avLst>
          </a:prstGeom>
          <a:solidFill>
            <a:srgbClr val="F3EBE0"/>
          </a:solidFill>
          <a:ln/>
        </p:spPr>
        <p:txBody>
          <a:bodyPr/>
          <a:lstStyle/>
          <a:p>
            <a:endParaRPr lang="en-IN"/>
          </a:p>
        </p:txBody>
      </p:sp>
      <p:sp>
        <p:nvSpPr>
          <p:cNvPr id="22" name="Shape 18"/>
          <p:cNvSpPr/>
          <p:nvPr/>
        </p:nvSpPr>
        <p:spPr>
          <a:xfrm>
            <a:off x="4379976" y="2423160"/>
            <a:ext cx="3611880" cy="109728"/>
          </a:xfrm>
          <a:prstGeom prst="rect">
            <a:avLst/>
          </a:prstGeom>
          <a:solidFill>
            <a:srgbClr val="F3EBE0"/>
          </a:solidFill>
          <a:ln/>
        </p:spPr>
        <p:txBody>
          <a:bodyPr/>
          <a:lstStyle/>
          <a:p>
            <a:endParaRPr lang="en-IN"/>
          </a:p>
        </p:txBody>
      </p:sp>
      <p:sp>
        <p:nvSpPr>
          <p:cNvPr id="23" name="Shape 19"/>
          <p:cNvSpPr/>
          <p:nvPr/>
        </p:nvSpPr>
        <p:spPr>
          <a:xfrm>
            <a:off x="4526280" y="2299716"/>
            <a:ext cx="82296" cy="82296"/>
          </a:xfrm>
          <a:prstGeom prst="ellipse">
            <a:avLst/>
          </a:prstGeom>
          <a:solidFill>
            <a:srgbClr val="E06C5E"/>
          </a:solidFill>
          <a:ln/>
        </p:spPr>
        <p:txBody>
          <a:bodyPr/>
          <a:lstStyle/>
          <a:p>
            <a:endParaRPr lang="en-IN"/>
          </a:p>
        </p:txBody>
      </p:sp>
      <p:sp>
        <p:nvSpPr>
          <p:cNvPr id="24" name="Shape 20"/>
          <p:cNvSpPr/>
          <p:nvPr/>
        </p:nvSpPr>
        <p:spPr>
          <a:xfrm>
            <a:off x="4690872" y="2299716"/>
            <a:ext cx="82296" cy="82296"/>
          </a:xfrm>
          <a:prstGeom prst="ellipse">
            <a:avLst/>
          </a:prstGeom>
          <a:solidFill>
            <a:srgbClr val="E8C15A"/>
          </a:solidFill>
          <a:ln/>
        </p:spPr>
        <p:txBody>
          <a:bodyPr/>
          <a:lstStyle/>
          <a:p>
            <a:endParaRPr lang="en-IN"/>
          </a:p>
        </p:txBody>
      </p:sp>
      <p:sp>
        <p:nvSpPr>
          <p:cNvPr id="25" name="Shape 21"/>
          <p:cNvSpPr/>
          <p:nvPr/>
        </p:nvSpPr>
        <p:spPr>
          <a:xfrm>
            <a:off x="4855464" y="2299716"/>
            <a:ext cx="82296" cy="82296"/>
          </a:xfrm>
          <a:prstGeom prst="ellipse">
            <a:avLst/>
          </a:prstGeom>
          <a:solidFill>
            <a:srgbClr val="7FB98B"/>
          </a:solidFill>
          <a:ln/>
        </p:spPr>
        <p:txBody>
          <a:bodyPr/>
          <a:lstStyle/>
          <a:p>
            <a:endParaRPr lang="en-IN"/>
          </a:p>
        </p:txBody>
      </p:sp>
      <p:sp>
        <p:nvSpPr>
          <p:cNvPr id="26" name="Shape 22"/>
          <p:cNvSpPr/>
          <p:nvPr/>
        </p:nvSpPr>
        <p:spPr>
          <a:xfrm>
            <a:off x="5093208" y="2221992"/>
            <a:ext cx="2697480" cy="237744"/>
          </a:xfrm>
          <a:prstGeom prst="roundRect">
            <a:avLst>
              <a:gd name="adj" fmla="val 23077"/>
            </a:avLst>
          </a:prstGeom>
          <a:solidFill>
            <a:srgbClr val="FFFFFF"/>
          </a:solidFill>
          <a:ln w="9525">
            <a:solidFill>
              <a:srgbClr val="E7DCCD"/>
            </a:solidFill>
            <a:prstDash val="solid"/>
          </a:ln>
        </p:spPr>
        <p:txBody>
          <a:bodyPr/>
          <a:lstStyle/>
          <a:p>
            <a:endParaRPr lang="en-IN"/>
          </a:p>
        </p:txBody>
      </p:sp>
      <p:pic>
        <p:nvPicPr>
          <p:cNvPr id="27" name="Image 2" descr="preencoded.png"/>
          <p:cNvPicPr>
            <a:picLocks noChangeAspect="1"/>
          </p:cNvPicPr>
          <p:nvPr/>
        </p:nvPicPr>
        <p:blipFill>
          <a:blip r:embed="rId3"/>
          <a:stretch>
            <a:fillRect/>
          </a:stretch>
        </p:blipFill>
        <p:spPr>
          <a:xfrm>
            <a:off x="5184648" y="2286000"/>
            <a:ext cx="109728" cy="109728"/>
          </a:xfrm>
          <a:prstGeom prst="rect">
            <a:avLst/>
          </a:prstGeom>
        </p:spPr>
      </p:pic>
      <p:sp>
        <p:nvSpPr>
          <p:cNvPr id="28" name="Text 23"/>
          <p:cNvSpPr/>
          <p:nvPr/>
        </p:nvSpPr>
        <p:spPr>
          <a:xfrm>
            <a:off x="5349240" y="2221992"/>
            <a:ext cx="2377440" cy="237744"/>
          </a:xfrm>
          <a:prstGeom prst="rect">
            <a:avLst/>
          </a:prstGeom>
          <a:noFill/>
          <a:ln/>
        </p:spPr>
        <p:txBody>
          <a:bodyPr wrap="square" lIns="0" tIns="0" rIns="0" bIns="0" rtlCol="0" anchor="ctr"/>
          <a:lstStyle/>
          <a:p>
            <a:pPr marL="0" indent="0" algn="l">
              <a:buNone/>
            </a:pPr>
            <a:r>
              <a:rPr lang="en-US" sz="950" dirty="0">
                <a:solidFill>
                  <a:srgbClr val="8A7E76"/>
                </a:solidFill>
                <a:latin typeface="Calibri" pitchFamily="34" charset="0"/>
                <a:ea typeface="Calibri" pitchFamily="34" charset="-122"/>
                <a:cs typeface="Calibri" pitchFamily="34" charset="-120"/>
              </a:rPr>
              <a:t>moulsai2296-pizzaflow-v2.hf.space</a:t>
            </a:r>
            <a:endParaRPr lang="en-US" sz="950" dirty="0"/>
          </a:p>
        </p:txBody>
      </p:sp>
      <p:sp>
        <p:nvSpPr>
          <p:cNvPr id="29" name="Shape 24"/>
          <p:cNvSpPr/>
          <p:nvPr/>
        </p:nvSpPr>
        <p:spPr>
          <a:xfrm>
            <a:off x="4434840" y="2587752"/>
            <a:ext cx="3502152" cy="2569464"/>
          </a:xfrm>
          <a:prstGeom prst="rect">
            <a:avLst/>
          </a:prstGeom>
          <a:solidFill>
            <a:srgbClr val="FBF6EF"/>
          </a:solidFill>
          <a:ln/>
        </p:spPr>
        <p:txBody>
          <a:bodyPr/>
          <a:lstStyle/>
          <a:p>
            <a:endParaRPr lang="en-IN"/>
          </a:p>
        </p:txBody>
      </p:sp>
      <p:pic>
        <p:nvPicPr>
          <p:cNvPr id="30" name="Image 3" descr="preencoded.png"/>
          <p:cNvPicPr>
            <a:picLocks noChangeAspect="1"/>
          </p:cNvPicPr>
          <p:nvPr/>
        </p:nvPicPr>
        <p:blipFill>
          <a:blip r:embed="rId4">
            <a:alphaModFix amt="70000"/>
          </a:blip>
          <a:stretch>
            <a:fillRect/>
          </a:stretch>
        </p:blipFill>
        <p:spPr>
          <a:xfrm>
            <a:off x="5929884" y="3305556"/>
            <a:ext cx="512064" cy="512064"/>
          </a:xfrm>
          <a:prstGeom prst="rect">
            <a:avLst/>
          </a:prstGeom>
        </p:spPr>
      </p:pic>
      <p:sp>
        <p:nvSpPr>
          <p:cNvPr id="31" name="Text 25"/>
          <p:cNvSpPr/>
          <p:nvPr/>
        </p:nvSpPr>
        <p:spPr>
          <a:xfrm>
            <a:off x="4654296" y="3909060"/>
            <a:ext cx="3063240" cy="274320"/>
          </a:xfrm>
          <a:prstGeom prst="rect">
            <a:avLst/>
          </a:prstGeom>
          <a:noFill/>
          <a:ln/>
        </p:spPr>
        <p:txBody>
          <a:bodyPr wrap="square" lIns="0" tIns="0" rIns="0" bIns="0" rtlCol="0" anchor="ctr"/>
          <a:lstStyle/>
          <a:p>
            <a:pPr marL="0" indent="0" algn="ctr">
              <a:buNone/>
            </a:pPr>
            <a:r>
              <a:rPr lang="en-US" sz="1100" b="1" dirty="0">
                <a:solidFill>
                  <a:srgbClr val="C1352B"/>
                </a:solidFill>
                <a:latin typeface="Calibri" pitchFamily="34" charset="0"/>
                <a:ea typeface="Calibri" pitchFamily="34" charset="-122"/>
                <a:cs typeface="Calibri" pitchFamily="34" charset="-120"/>
              </a:rPr>
              <a:t>Screenshot</a:t>
            </a:r>
            <a:endParaRPr lang="en-US" sz="1100" dirty="0"/>
          </a:p>
        </p:txBody>
      </p:sp>
      <p:sp>
        <p:nvSpPr>
          <p:cNvPr id="32" name="Text 26"/>
          <p:cNvSpPr/>
          <p:nvPr/>
        </p:nvSpPr>
        <p:spPr>
          <a:xfrm>
            <a:off x="4654296" y="4165092"/>
            <a:ext cx="3063240" cy="457200"/>
          </a:xfrm>
          <a:prstGeom prst="rect">
            <a:avLst/>
          </a:prstGeom>
          <a:noFill/>
          <a:ln/>
        </p:spPr>
        <p:txBody>
          <a:bodyPr wrap="square" lIns="0" tIns="0" rIns="0" bIns="0" rtlCol="0" anchor="ctr"/>
          <a:lstStyle/>
          <a:p>
            <a:pPr marL="0" indent="0" algn="ctr">
              <a:buNone/>
            </a:pPr>
            <a:r>
              <a:rPr lang="en-US" sz="1000" i="1" dirty="0">
                <a:solidFill>
                  <a:srgbClr val="8A7E76"/>
                </a:solidFill>
                <a:latin typeface="Calibri" pitchFamily="34" charset="0"/>
                <a:ea typeface="Calibri" pitchFamily="34" charset="-122"/>
                <a:cs typeface="Calibri" pitchFamily="34" charset="-120"/>
              </a:rPr>
              <a:t>Error: Quantity = 11</a:t>
            </a:r>
            <a:endParaRPr lang="en-US" sz="1000" dirty="0"/>
          </a:p>
        </p:txBody>
      </p:sp>
      <p:sp>
        <p:nvSpPr>
          <p:cNvPr id="33" name="Text 27"/>
          <p:cNvSpPr/>
          <p:nvPr/>
        </p:nvSpPr>
        <p:spPr>
          <a:xfrm>
            <a:off x="4379976" y="5321808"/>
            <a:ext cx="3611880" cy="274320"/>
          </a:xfrm>
          <a:prstGeom prst="rect">
            <a:avLst/>
          </a:prstGeom>
          <a:noFill/>
          <a:ln/>
        </p:spPr>
        <p:txBody>
          <a:bodyPr wrap="square" lIns="0" tIns="0" rIns="0" bIns="0" rtlCol="0" anchor="ctr"/>
          <a:lstStyle/>
          <a:p>
            <a:pPr marL="0" indent="0" algn="ctr">
              <a:buNone/>
            </a:pPr>
            <a:r>
              <a:rPr lang="en-US" sz="1300" b="1" dirty="0">
                <a:solidFill>
                  <a:srgbClr val="C1352B"/>
                </a:solidFill>
                <a:latin typeface="Calibri" pitchFamily="34" charset="0"/>
                <a:ea typeface="Calibri" pitchFamily="34" charset="-122"/>
                <a:cs typeface="Calibri" pitchFamily="34" charset="-120"/>
              </a:rPr>
              <a:t>Quantity = 11</a:t>
            </a:r>
            <a:endParaRPr lang="en-US" sz="1300" dirty="0"/>
          </a:p>
        </p:txBody>
      </p:sp>
      <p:sp>
        <p:nvSpPr>
          <p:cNvPr id="34" name="Text 28"/>
          <p:cNvSpPr/>
          <p:nvPr/>
        </p:nvSpPr>
        <p:spPr>
          <a:xfrm>
            <a:off x="4379976" y="5614416"/>
            <a:ext cx="3611880" cy="320040"/>
          </a:xfrm>
          <a:prstGeom prst="rect">
            <a:avLst/>
          </a:prstGeom>
          <a:noFill/>
          <a:ln/>
        </p:spPr>
        <p:txBody>
          <a:bodyPr wrap="square" lIns="0" tIns="0" rIns="0" bIns="0" rtlCol="0" anchor="ctr"/>
          <a:lstStyle/>
          <a:p>
            <a:pPr marL="0" indent="0" algn="ctr">
              <a:buNone/>
            </a:pPr>
            <a:r>
              <a:rPr lang="en-US" sz="1050" i="1" dirty="0">
                <a:solidFill>
                  <a:srgbClr val="8A7E76"/>
                </a:solidFill>
                <a:latin typeface="Calibri" pitchFamily="34" charset="0"/>
                <a:ea typeface="Calibri" pitchFamily="34" charset="-122"/>
                <a:cs typeface="Calibri" pitchFamily="34" charset="-120"/>
              </a:rPr>
              <a:t>"Enter an integer between 1 and 10."</a:t>
            </a:r>
            <a:endParaRPr lang="en-US" sz="1050" dirty="0"/>
          </a:p>
        </p:txBody>
      </p:sp>
      <p:sp>
        <p:nvSpPr>
          <p:cNvPr id="35" name="Shape 29"/>
          <p:cNvSpPr/>
          <p:nvPr/>
        </p:nvSpPr>
        <p:spPr>
          <a:xfrm>
            <a:off x="8211312" y="2148840"/>
            <a:ext cx="3611880" cy="3063240"/>
          </a:xfrm>
          <a:prstGeom prst="roundRect">
            <a:avLst>
              <a:gd name="adj" fmla="val 2687"/>
            </a:avLst>
          </a:prstGeom>
          <a:solidFill>
            <a:srgbClr val="FFFFFF"/>
          </a:solidFill>
          <a:ln w="12700">
            <a:solidFill>
              <a:srgbClr val="E7DCCD"/>
            </a:solidFill>
            <a:prstDash val="solid"/>
          </a:ln>
          <a:effectLst>
            <a:outerShdw blurRad="88900" dist="38100" dir="5400000" algn="bl" rotWithShape="0">
              <a:srgbClr val="000000">
                <a:alpha val="16000"/>
              </a:srgbClr>
            </a:outerShdw>
          </a:effectLst>
        </p:spPr>
        <p:txBody>
          <a:bodyPr/>
          <a:lstStyle/>
          <a:p>
            <a:endParaRPr lang="en-IN"/>
          </a:p>
        </p:txBody>
      </p:sp>
      <p:sp>
        <p:nvSpPr>
          <p:cNvPr id="36" name="Shape 30"/>
          <p:cNvSpPr/>
          <p:nvPr/>
        </p:nvSpPr>
        <p:spPr>
          <a:xfrm>
            <a:off x="8211312" y="2148840"/>
            <a:ext cx="3611880" cy="384048"/>
          </a:xfrm>
          <a:prstGeom prst="roundRect">
            <a:avLst>
              <a:gd name="adj" fmla="val 21429"/>
            </a:avLst>
          </a:prstGeom>
          <a:solidFill>
            <a:srgbClr val="F3EBE0"/>
          </a:solidFill>
          <a:ln/>
        </p:spPr>
        <p:txBody>
          <a:bodyPr/>
          <a:lstStyle/>
          <a:p>
            <a:endParaRPr lang="en-IN"/>
          </a:p>
        </p:txBody>
      </p:sp>
      <p:sp>
        <p:nvSpPr>
          <p:cNvPr id="37" name="Shape 31"/>
          <p:cNvSpPr/>
          <p:nvPr/>
        </p:nvSpPr>
        <p:spPr>
          <a:xfrm>
            <a:off x="8211312" y="2423160"/>
            <a:ext cx="3611880" cy="109728"/>
          </a:xfrm>
          <a:prstGeom prst="rect">
            <a:avLst/>
          </a:prstGeom>
          <a:solidFill>
            <a:srgbClr val="F3EBE0"/>
          </a:solidFill>
          <a:ln/>
        </p:spPr>
        <p:txBody>
          <a:bodyPr/>
          <a:lstStyle/>
          <a:p>
            <a:endParaRPr lang="en-IN"/>
          </a:p>
        </p:txBody>
      </p:sp>
      <p:sp>
        <p:nvSpPr>
          <p:cNvPr id="38" name="Shape 32"/>
          <p:cNvSpPr/>
          <p:nvPr/>
        </p:nvSpPr>
        <p:spPr>
          <a:xfrm>
            <a:off x="8357616" y="2299716"/>
            <a:ext cx="82296" cy="82296"/>
          </a:xfrm>
          <a:prstGeom prst="ellipse">
            <a:avLst/>
          </a:prstGeom>
          <a:solidFill>
            <a:srgbClr val="E06C5E"/>
          </a:solidFill>
          <a:ln/>
        </p:spPr>
        <p:txBody>
          <a:bodyPr/>
          <a:lstStyle/>
          <a:p>
            <a:endParaRPr lang="en-IN"/>
          </a:p>
        </p:txBody>
      </p:sp>
      <p:sp>
        <p:nvSpPr>
          <p:cNvPr id="39" name="Shape 33"/>
          <p:cNvSpPr/>
          <p:nvPr/>
        </p:nvSpPr>
        <p:spPr>
          <a:xfrm>
            <a:off x="8522208" y="2299716"/>
            <a:ext cx="82296" cy="82296"/>
          </a:xfrm>
          <a:prstGeom prst="ellipse">
            <a:avLst/>
          </a:prstGeom>
          <a:solidFill>
            <a:srgbClr val="E8C15A"/>
          </a:solidFill>
          <a:ln/>
        </p:spPr>
        <p:txBody>
          <a:bodyPr/>
          <a:lstStyle/>
          <a:p>
            <a:endParaRPr lang="en-IN"/>
          </a:p>
        </p:txBody>
      </p:sp>
      <p:sp>
        <p:nvSpPr>
          <p:cNvPr id="40" name="Shape 34"/>
          <p:cNvSpPr/>
          <p:nvPr/>
        </p:nvSpPr>
        <p:spPr>
          <a:xfrm>
            <a:off x="8686800" y="2299716"/>
            <a:ext cx="82296" cy="82296"/>
          </a:xfrm>
          <a:prstGeom prst="ellipse">
            <a:avLst/>
          </a:prstGeom>
          <a:solidFill>
            <a:srgbClr val="7FB98B"/>
          </a:solidFill>
          <a:ln/>
        </p:spPr>
        <p:txBody>
          <a:bodyPr/>
          <a:lstStyle/>
          <a:p>
            <a:endParaRPr lang="en-IN"/>
          </a:p>
        </p:txBody>
      </p:sp>
      <p:sp>
        <p:nvSpPr>
          <p:cNvPr id="41" name="Shape 35"/>
          <p:cNvSpPr/>
          <p:nvPr/>
        </p:nvSpPr>
        <p:spPr>
          <a:xfrm>
            <a:off x="8924544" y="2221992"/>
            <a:ext cx="2697480" cy="237744"/>
          </a:xfrm>
          <a:prstGeom prst="roundRect">
            <a:avLst>
              <a:gd name="adj" fmla="val 23077"/>
            </a:avLst>
          </a:prstGeom>
          <a:solidFill>
            <a:srgbClr val="FFFFFF"/>
          </a:solidFill>
          <a:ln w="9525">
            <a:solidFill>
              <a:srgbClr val="E7DCCD"/>
            </a:solidFill>
            <a:prstDash val="solid"/>
          </a:ln>
        </p:spPr>
        <p:txBody>
          <a:bodyPr/>
          <a:lstStyle/>
          <a:p>
            <a:endParaRPr lang="en-IN"/>
          </a:p>
        </p:txBody>
      </p:sp>
      <p:pic>
        <p:nvPicPr>
          <p:cNvPr id="42" name="Image 4" descr="preencoded.png"/>
          <p:cNvPicPr>
            <a:picLocks noChangeAspect="1"/>
          </p:cNvPicPr>
          <p:nvPr/>
        </p:nvPicPr>
        <p:blipFill>
          <a:blip r:embed="rId3"/>
          <a:stretch>
            <a:fillRect/>
          </a:stretch>
        </p:blipFill>
        <p:spPr>
          <a:xfrm>
            <a:off x="9015984" y="2286000"/>
            <a:ext cx="109728" cy="109728"/>
          </a:xfrm>
          <a:prstGeom prst="rect">
            <a:avLst/>
          </a:prstGeom>
        </p:spPr>
      </p:pic>
      <p:sp>
        <p:nvSpPr>
          <p:cNvPr id="43" name="Text 36"/>
          <p:cNvSpPr/>
          <p:nvPr/>
        </p:nvSpPr>
        <p:spPr>
          <a:xfrm>
            <a:off x="9180576" y="2221992"/>
            <a:ext cx="2377440" cy="237744"/>
          </a:xfrm>
          <a:prstGeom prst="rect">
            <a:avLst/>
          </a:prstGeom>
          <a:noFill/>
          <a:ln/>
        </p:spPr>
        <p:txBody>
          <a:bodyPr wrap="square" lIns="0" tIns="0" rIns="0" bIns="0" rtlCol="0" anchor="ctr"/>
          <a:lstStyle/>
          <a:p>
            <a:pPr marL="0" indent="0" algn="l">
              <a:buNone/>
            </a:pPr>
            <a:r>
              <a:rPr lang="en-US" sz="950" dirty="0">
                <a:solidFill>
                  <a:srgbClr val="8A7E76"/>
                </a:solidFill>
                <a:latin typeface="Calibri" pitchFamily="34" charset="0"/>
                <a:ea typeface="Calibri" pitchFamily="34" charset="-122"/>
                <a:cs typeface="Calibri" pitchFamily="34" charset="-120"/>
              </a:rPr>
              <a:t>moulsai2296-pizzaflow-v2.hf.space</a:t>
            </a:r>
            <a:endParaRPr lang="en-US" sz="950" dirty="0"/>
          </a:p>
        </p:txBody>
      </p:sp>
      <p:sp>
        <p:nvSpPr>
          <p:cNvPr id="44" name="Shape 37"/>
          <p:cNvSpPr/>
          <p:nvPr/>
        </p:nvSpPr>
        <p:spPr>
          <a:xfrm>
            <a:off x="8266176" y="2587752"/>
            <a:ext cx="3502152" cy="2569464"/>
          </a:xfrm>
          <a:prstGeom prst="rect">
            <a:avLst/>
          </a:prstGeom>
          <a:solidFill>
            <a:srgbClr val="FBF6EF"/>
          </a:solidFill>
          <a:ln/>
        </p:spPr>
        <p:txBody>
          <a:bodyPr/>
          <a:lstStyle/>
          <a:p>
            <a:endParaRPr lang="en-IN"/>
          </a:p>
        </p:txBody>
      </p:sp>
      <p:pic>
        <p:nvPicPr>
          <p:cNvPr id="45" name="Image 5" descr="preencoded.png"/>
          <p:cNvPicPr>
            <a:picLocks noChangeAspect="1"/>
          </p:cNvPicPr>
          <p:nvPr/>
        </p:nvPicPr>
        <p:blipFill>
          <a:blip r:embed="rId4">
            <a:alphaModFix amt="70000"/>
          </a:blip>
          <a:stretch>
            <a:fillRect/>
          </a:stretch>
        </p:blipFill>
        <p:spPr>
          <a:xfrm>
            <a:off x="9761220" y="3305556"/>
            <a:ext cx="512064" cy="512064"/>
          </a:xfrm>
          <a:prstGeom prst="rect">
            <a:avLst/>
          </a:prstGeom>
        </p:spPr>
      </p:pic>
      <p:sp>
        <p:nvSpPr>
          <p:cNvPr id="46" name="Text 38"/>
          <p:cNvSpPr/>
          <p:nvPr/>
        </p:nvSpPr>
        <p:spPr>
          <a:xfrm>
            <a:off x="8485632" y="3909060"/>
            <a:ext cx="3063240" cy="274320"/>
          </a:xfrm>
          <a:prstGeom prst="rect">
            <a:avLst/>
          </a:prstGeom>
          <a:noFill/>
          <a:ln/>
        </p:spPr>
        <p:txBody>
          <a:bodyPr wrap="square" lIns="0" tIns="0" rIns="0" bIns="0" rtlCol="0" anchor="ctr"/>
          <a:lstStyle/>
          <a:p>
            <a:pPr marL="0" indent="0" algn="ctr">
              <a:buNone/>
            </a:pPr>
            <a:r>
              <a:rPr lang="en-US" sz="1100" b="1" dirty="0">
                <a:solidFill>
                  <a:srgbClr val="C1352B"/>
                </a:solidFill>
                <a:latin typeface="Calibri" pitchFamily="34" charset="0"/>
                <a:ea typeface="Calibri" pitchFamily="34" charset="-122"/>
                <a:cs typeface="Calibri" pitchFamily="34" charset="-120"/>
              </a:rPr>
              <a:t>Screenshot</a:t>
            </a:r>
            <a:endParaRPr lang="en-US" sz="1100" dirty="0"/>
          </a:p>
        </p:txBody>
      </p:sp>
      <p:sp>
        <p:nvSpPr>
          <p:cNvPr id="47" name="Text 39"/>
          <p:cNvSpPr/>
          <p:nvPr/>
        </p:nvSpPr>
        <p:spPr>
          <a:xfrm>
            <a:off x="8485632" y="4165092"/>
            <a:ext cx="3063240" cy="457200"/>
          </a:xfrm>
          <a:prstGeom prst="rect">
            <a:avLst/>
          </a:prstGeom>
          <a:noFill/>
          <a:ln/>
        </p:spPr>
        <p:txBody>
          <a:bodyPr wrap="square" lIns="0" tIns="0" rIns="0" bIns="0" rtlCol="0" anchor="ctr"/>
          <a:lstStyle/>
          <a:p>
            <a:pPr marL="0" indent="0" algn="ctr">
              <a:buNone/>
            </a:pPr>
            <a:r>
              <a:rPr lang="en-US" sz="1000" i="1" dirty="0">
                <a:solidFill>
                  <a:srgbClr val="8A7E76"/>
                </a:solidFill>
                <a:latin typeface="Calibri" pitchFamily="34" charset="0"/>
                <a:ea typeface="Calibri" pitchFamily="34" charset="-122"/>
                <a:cs typeface="Calibri" pitchFamily="34" charset="-120"/>
              </a:rPr>
              <a:t>Error: Item number out of range</a:t>
            </a:r>
            <a:endParaRPr lang="en-US" sz="1000" dirty="0"/>
          </a:p>
        </p:txBody>
      </p:sp>
      <p:sp>
        <p:nvSpPr>
          <p:cNvPr id="48" name="Text 40"/>
          <p:cNvSpPr/>
          <p:nvPr/>
        </p:nvSpPr>
        <p:spPr>
          <a:xfrm>
            <a:off x="8211312" y="5321808"/>
            <a:ext cx="3611880" cy="274320"/>
          </a:xfrm>
          <a:prstGeom prst="rect">
            <a:avLst/>
          </a:prstGeom>
          <a:noFill/>
          <a:ln/>
        </p:spPr>
        <p:txBody>
          <a:bodyPr wrap="square" lIns="0" tIns="0" rIns="0" bIns="0" rtlCol="0" anchor="ctr"/>
          <a:lstStyle/>
          <a:p>
            <a:pPr marL="0" indent="0" algn="ctr">
              <a:buNone/>
            </a:pPr>
            <a:r>
              <a:rPr lang="en-US" sz="1300" b="1" dirty="0">
                <a:solidFill>
                  <a:srgbClr val="C1352B"/>
                </a:solidFill>
                <a:latin typeface="Calibri" pitchFamily="34" charset="0"/>
                <a:ea typeface="Calibri" pitchFamily="34" charset="-122"/>
                <a:cs typeface="Calibri" pitchFamily="34" charset="-120"/>
              </a:rPr>
              <a:t>Item number out of range</a:t>
            </a:r>
            <a:endParaRPr lang="en-US" sz="1300" dirty="0"/>
          </a:p>
        </p:txBody>
      </p:sp>
      <p:sp>
        <p:nvSpPr>
          <p:cNvPr id="49" name="Text 41"/>
          <p:cNvSpPr/>
          <p:nvPr/>
        </p:nvSpPr>
        <p:spPr>
          <a:xfrm>
            <a:off x="8211312" y="5614416"/>
            <a:ext cx="3611880" cy="320040"/>
          </a:xfrm>
          <a:prstGeom prst="rect">
            <a:avLst/>
          </a:prstGeom>
          <a:noFill/>
          <a:ln/>
        </p:spPr>
        <p:txBody>
          <a:bodyPr wrap="square" lIns="0" tIns="0" rIns="0" bIns="0" rtlCol="0" anchor="ctr"/>
          <a:lstStyle/>
          <a:p>
            <a:pPr marL="0" indent="0" algn="ctr">
              <a:buNone/>
            </a:pPr>
            <a:r>
              <a:rPr lang="en-US" sz="1050" i="1" dirty="0">
                <a:solidFill>
                  <a:srgbClr val="8A7E76"/>
                </a:solidFill>
                <a:latin typeface="Calibri" pitchFamily="34" charset="0"/>
                <a:ea typeface="Calibri" pitchFamily="34" charset="-122"/>
                <a:cs typeface="Calibri" pitchFamily="34" charset="-120"/>
              </a:rPr>
              <a:t>"Pick a valid number from the list."</a:t>
            </a:r>
            <a:endParaRPr lang="en-US" sz="1050" dirty="0"/>
          </a:p>
        </p:txBody>
      </p:sp>
      <p:sp>
        <p:nvSpPr>
          <p:cNvPr id="50" name="Text 42"/>
          <p:cNvSpPr/>
          <p:nvPr/>
        </p:nvSpPr>
        <p:spPr>
          <a:xfrm>
            <a:off x="502920" y="6473952"/>
            <a:ext cx="5486400" cy="274320"/>
          </a:xfrm>
          <a:prstGeom prst="rect">
            <a:avLst/>
          </a:prstGeom>
          <a:noFill/>
          <a:ln/>
        </p:spPr>
        <p:txBody>
          <a:bodyPr wrap="square" lIns="0" tIns="0" rIns="0" bIns="0" rtlCol="0" anchor="ctr"/>
          <a:lstStyle/>
          <a:p>
            <a:pPr marL="0" indent="0" algn="l">
              <a:buNone/>
            </a:pPr>
            <a:r>
              <a:rPr lang="en-US" sz="900" dirty="0">
                <a:solidFill>
                  <a:srgbClr val="8A7E76"/>
                </a:solidFill>
                <a:latin typeface="Calibri" pitchFamily="34" charset="0"/>
                <a:ea typeface="Calibri" pitchFamily="34" charset="-122"/>
                <a:cs typeface="Calibri" pitchFamily="34" charset="-120"/>
              </a:rPr>
              <a:t>SliceMatic · PizzaFlow MVP Demo</a:t>
            </a:r>
            <a:endParaRPr lang="en-US" sz="900" dirty="0"/>
          </a:p>
        </p:txBody>
      </p:sp>
      <p:sp>
        <p:nvSpPr>
          <p:cNvPr id="51" name="Text 43"/>
          <p:cNvSpPr/>
          <p:nvPr/>
        </p:nvSpPr>
        <p:spPr>
          <a:xfrm>
            <a:off x="11274552" y="6473952"/>
            <a:ext cx="411480" cy="274320"/>
          </a:xfrm>
          <a:prstGeom prst="rect">
            <a:avLst/>
          </a:prstGeom>
          <a:noFill/>
          <a:ln/>
        </p:spPr>
        <p:txBody>
          <a:bodyPr wrap="square" lIns="0" tIns="0" rIns="0" bIns="0" rtlCol="0" anchor="ctr"/>
          <a:lstStyle/>
          <a:p>
            <a:pPr marL="0" indent="0" algn="r">
              <a:buNone/>
            </a:pPr>
            <a:r>
              <a:rPr lang="en-US" sz="900" dirty="0">
                <a:solidFill>
                  <a:srgbClr val="8A7E76"/>
                </a:solidFill>
                <a:latin typeface="Calibri" pitchFamily="34" charset="0"/>
                <a:ea typeface="Calibri" pitchFamily="34" charset="-122"/>
                <a:cs typeface="Calibri" pitchFamily="34" charset="-120"/>
              </a:rPr>
              <a:t>10</a:t>
            </a:r>
            <a:endParaRPr lang="en-US" sz="900" dirty="0"/>
          </a:p>
        </p:txBody>
      </p:sp>
      <p:pic>
        <p:nvPicPr>
          <p:cNvPr id="55" name="Picture 54">
            <a:extLst>
              <a:ext uri="{FF2B5EF4-FFF2-40B4-BE49-F238E27FC236}">
                <a16:creationId xmlns:a16="http://schemas.microsoft.com/office/drawing/2014/main" id="{A1F0E598-E9D7-8194-AEBB-7D03ECCEFB9A}"/>
              </a:ext>
            </a:extLst>
          </p:cNvPr>
          <p:cNvPicPr>
            <a:picLocks noChangeAspect="1"/>
          </p:cNvPicPr>
          <p:nvPr/>
        </p:nvPicPr>
        <p:blipFill>
          <a:blip r:embed="rId5"/>
          <a:stretch>
            <a:fillRect/>
          </a:stretch>
        </p:blipFill>
        <p:spPr>
          <a:xfrm>
            <a:off x="558484" y="2587816"/>
            <a:ext cx="3547172" cy="2587688"/>
          </a:xfrm>
          <a:prstGeom prst="rect">
            <a:avLst/>
          </a:prstGeom>
        </p:spPr>
      </p:pic>
      <p:pic>
        <p:nvPicPr>
          <p:cNvPr id="57" name="Picture 56">
            <a:extLst>
              <a:ext uri="{FF2B5EF4-FFF2-40B4-BE49-F238E27FC236}">
                <a16:creationId xmlns:a16="http://schemas.microsoft.com/office/drawing/2014/main" id="{5994E1A5-22AE-236E-F635-743D4647397F}"/>
              </a:ext>
            </a:extLst>
          </p:cNvPr>
          <p:cNvPicPr>
            <a:picLocks noChangeAspect="1"/>
          </p:cNvPicPr>
          <p:nvPr/>
        </p:nvPicPr>
        <p:blipFill>
          <a:blip r:embed="rId6"/>
          <a:stretch>
            <a:fillRect/>
          </a:stretch>
        </p:blipFill>
        <p:spPr>
          <a:xfrm>
            <a:off x="4389136" y="2542032"/>
            <a:ext cx="3547856" cy="2633472"/>
          </a:xfrm>
          <a:prstGeom prst="rect">
            <a:avLst/>
          </a:prstGeom>
        </p:spPr>
      </p:pic>
      <p:pic>
        <p:nvPicPr>
          <p:cNvPr id="59" name="Picture 58">
            <a:extLst>
              <a:ext uri="{FF2B5EF4-FFF2-40B4-BE49-F238E27FC236}">
                <a16:creationId xmlns:a16="http://schemas.microsoft.com/office/drawing/2014/main" id="{4690AF8D-36E5-9BA6-8BC1-11849E1ABE10}"/>
              </a:ext>
            </a:extLst>
          </p:cNvPr>
          <p:cNvPicPr>
            <a:picLocks noChangeAspect="1"/>
          </p:cNvPicPr>
          <p:nvPr/>
        </p:nvPicPr>
        <p:blipFill>
          <a:blip r:embed="rId7"/>
          <a:stretch>
            <a:fillRect/>
          </a:stretch>
        </p:blipFill>
        <p:spPr>
          <a:xfrm>
            <a:off x="8266177" y="2596896"/>
            <a:ext cx="3557015" cy="256032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BF6EF"/>
        </a:solidFill>
        <a:effectLst/>
      </p:bgPr>
    </p:bg>
    <p:spTree>
      <p:nvGrpSpPr>
        <p:cNvPr id="1" name=""/>
        <p:cNvGrpSpPr/>
        <p:nvPr/>
      </p:nvGrpSpPr>
      <p:grpSpPr>
        <a:xfrm>
          <a:off x="0" y="0"/>
          <a:ext cx="0" cy="0"/>
          <a:chOff x="0" y="0"/>
          <a:chExt cx="0" cy="0"/>
        </a:xfrm>
      </p:grpSpPr>
      <p:sp>
        <p:nvSpPr>
          <p:cNvPr id="2" name="Text 0"/>
          <p:cNvSpPr/>
          <p:nvPr/>
        </p:nvSpPr>
        <p:spPr>
          <a:xfrm>
            <a:off x="502920" y="457200"/>
            <a:ext cx="8229600" cy="274320"/>
          </a:xfrm>
          <a:prstGeom prst="rect">
            <a:avLst/>
          </a:prstGeom>
          <a:noFill/>
          <a:ln/>
        </p:spPr>
        <p:txBody>
          <a:bodyPr wrap="square" lIns="0" tIns="0" rIns="0" bIns="0" rtlCol="0" anchor="ctr"/>
          <a:lstStyle/>
          <a:p>
            <a:pPr marL="0" indent="0">
              <a:buNone/>
            </a:pPr>
            <a:r>
              <a:rPr lang="en-US" sz="1200" b="1" kern="0" spc="300" dirty="0">
                <a:solidFill>
                  <a:srgbClr val="C1352B"/>
                </a:solidFill>
                <a:latin typeface="Calibri" pitchFamily="34" charset="0"/>
                <a:ea typeface="Calibri" pitchFamily="34" charset="-122"/>
                <a:cs typeface="Calibri" pitchFamily="34" charset="-120"/>
              </a:rPr>
              <a:t>PERSISTENCE</a:t>
            </a:r>
            <a:endParaRPr lang="en-US" sz="1200" dirty="0"/>
          </a:p>
        </p:txBody>
      </p:sp>
      <p:sp>
        <p:nvSpPr>
          <p:cNvPr id="3" name="Text 1"/>
          <p:cNvSpPr/>
          <p:nvPr/>
        </p:nvSpPr>
        <p:spPr>
          <a:xfrm>
            <a:off x="475488" y="749808"/>
            <a:ext cx="10515600" cy="685800"/>
          </a:xfrm>
          <a:prstGeom prst="rect">
            <a:avLst/>
          </a:prstGeom>
          <a:noFill/>
          <a:ln/>
        </p:spPr>
        <p:txBody>
          <a:bodyPr wrap="square" lIns="0" tIns="0" rIns="0" bIns="0" rtlCol="0" anchor="ctr"/>
          <a:lstStyle/>
          <a:p>
            <a:pPr marL="0" indent="0">
              <a:buNone/>
            </a:pPr>
            <a:r>
              <a:rPr lang="en-US" sz="3300" b="1" dirty="0">
                <a:solidFill>
                  <a:srgbClr val="2B2422"/>
                </a:solidFill>
                <a:latin typeface="Cambria" pitchFamily="34" charset="0"/>
                <a:ea typeface="Cambria" pitchFamily="34" charset="-122"/>
                <a:cs typeface="Cambria" pitchFamily="34" charset="-120"/>
              </a:rPr>
              <a:t>Every order, captured — orders_log.txt</a:t>
            </a:r>
            <a:endParaRPr lang="en-US" sz="3300" dirty="0"/>
          </a:p>
        </p:txBody>
      </p:sp>
      <p:sp>
        <p:nvSpPr>
          <p:cNvPr id="4" name="Text 2"/>
          <p:cNvSpPr/>
          <p:nvPr/>
        </p:nvSpPr>
        <p:spPr>
          <a:xfrm>
            <a:off x="502920" y="1417320"/>
            <a:ext cx="11155680" cy="457200"/>
          </a:xfrm>
          <a:prstGeom prst="rect">
            <a:avLst/>
          </a:prstGeom>
          <a:noFill/>
          <a:ln/>
        </p:spPr>
        <p:txBody>
          <a:bodyPr wrap="square" lIns="0" tIns="0" rIns="0" bIns="0" rtlCol="0" anchor="ctr"/>
          <a:lstStyle/>
          <a:p>
            <a:pPr marL="0" indent="0">
              <a:buNone/>
            </a:pPr>
            <a:r>
              <a:rPr lang="en-US" sz="1350" dirty="0">
                <a:solidFill>
                  <a:srgbClr val="2B2422"/>
                </a:solidFill>
                <a:latin typeface="Calibri" pitchFamily="34" charset="0"/>
                <a:ea typeface="Calibri" pitchFamily="34" charset="-122"/>
                <a:cs typeface="Calibri" pitchFamily="34" charset="-120"/>
              </a:rPr>
              <a:t>This is the data the business has never had. Each completed order is one parseable block.</a:t>
            </a:r>
            <a:endParaRPr lang="en-US" sz="1350" dirty="0"/>
          </a:p>
        </p:txBody>
      </p:sp>
      <p:sp>
        <p:nvSpPr>
          <p:cNvPr id="5" name="Shape 3"/>
          <p:cNvSpPr/>
          <p:nvPr/>
        </p:nvSpPr>
        <p:spPr>
          <a:xfrm>
            <a:off x="502920" y="2221992"/>
            <a:ext cx="4023360" cy="3977640"/>
          </a:xfrm>
          <a:prstGeom prst="roundRect">
            <a:avLst>
              <a:gd name="adj" fmla="val 2299"/>
            </a:avLst>
          </a:prstGeom>
          <a:solidFill>
            <a:srgbClr val="FFFFFF"/>
          </a:solidFill>
          <a:ln w="12700">
            <a:solidFill>
              <a:srgbClr val="E7DCCD"/>
            </a:solidFill>
            <a:prstDash val="solid"/>
          </a:ln>
          <a:effectLst>
            <a:outerShdw blurRad="88900" dist="38100" dir="5400000" algn="bl" rotWithShape="0">
              <a:srgbClr val="000000">
                <a:alpha val="10000"/>
              </a:srgbClr>
            </a:outerShdw>
          </a:effectLst>
        </p:spPr>
        <p:txBody>
          <a:bodyPr/>
          <a:lstStyle/>
          <a:p>
            <a:endParaRPr lang="en-IN"/>
          </a:p>
        </p:txBody>
      </p:sp>
      <p:pic>
        <p:nvPicPr>
          <p:cNvPr id="6" name="Image 0" descr="preencoded.png"/>
          <p:cNvPicPr>
            <a:picLocks noChangeAspect="1"/>
          </p:cNvPicPr>
          <p:nvPr/>
        </p:nvPicPr>
        <p:blipFill>
          <a:blip r:embed="rId3"/>
          <a:stretch>
            <a:fillRect/>
          </a:stretch>
        </p:blipFill>
        <p:spPr>
          <a:xfrm>
            <a:off x="841248" y="2359152"/>
            <a:ext cx="365760" cy="365760"/>
          </a:xfrm>
          <a:prstGeom prst="rect">
            <a:avLst/>
          </a:prstGeom>
        </p:spPr>
      </p:pic>
      <p:sp>
        <p:nvSpPr>
          <p:cNvPr id="7" name="Text 4"/>
          <p:cNvSpPr/>
          <p:nvPr/>
        </p:nvSpPr>
        <p:spPr>
          <a:xfrm>
            <a:off x="1325880" y="2359152"/>
            <a:ext cx="3108960" cy="365760"/>
          </a:xfrm>
          <a:prstGeom prst="rect">
            <a:avLst/>
          </a:prstGeom>
          <a:noFill/>
          <a:ln/>
        </p:spPr>
        <p:txBody>
          <a:bodyPr wrap="square" lIns="0" tIns="0" rIns="0" bIns="0" rtlCol="0" anchor="ctr"/>
          <a:lstStyle/>
          <a:p>
            <a:pPr marL="0" indent="0">
              <a:buNone/>
            </a:pPr>
            <a:r>
              <a:rPr lang="en-US" sz="1400" b="1" dirty="0">
                <a:solidFill>
                  <a:srgbClr val="2B2422"/>
                </a:solidFill>
                <a:latin typeface="Calibri" pitchFamily="34" charset="0"/>
                <a:ea typeface="Calibri" pitchFamily="34" charset="-122"/>
                <a:cs typeface="Calibri" pitchFamily="34" charset="-120"/>
              </a:rPr>
              <a:t>Fields recorded per order</a:t>
            </a:r>
            <a:endParaRPr lang="en-US" sz="1400" dirty="0"/>
          </a:p>
        </p:txBody>
      </p:sp>
      <p:sp>
        <p:nvSpPr>
          <p:cNvPr id="8" name="Text 5"/>
          <p:cNvSpPr/>
          <p:nvPr/>
        </p:nvSpPr>
        <p:spPr>
          <a:xfrm>
            <a:off x="914400" y="2907792"/>
            <a:ext cx="3337560" cy="3017520"/>
          </a:xfrm>
          <a:prstGeom prst="rect">
            <a:avLst/>
          </a:prstGeom>
          <a:noFill/>
          <a:ln/>
        </p:spPr>
        <p:txBody>
          <a:bodyPr wrap="square" lIns="0" tIns="0" rIns="0" bIns="0" rtlCol="0" anchor="ctr"/>
          <a:lstStyle/>
          <a:p>
            <a:pPr marL="342900" indent="-342900">
              <a:spcAft>
                <a:spcPts val="300"/>
              </a:spcAft>
              <a:buSzPct val="100000"/>
              <a:buChar char="•"/>
            </a:pPr>
            <a:endParaRPr lang="en-US" sz="1200" dirty="0">
              <a:solidFill>
                <a:srgbClr val="2B2422"/>
              </a:solidFill>
              <a:latin typeface="Calibri" pitchFamily="34" charset="0"/>
              <a:ea typeface="Calibri" pitchFamily="34" charset="-122"/>
              <a:cs typeface="Calibri" pitchFamily="34" charset="-120"/>
            </a:endParaRPr>
          </a:p>
          <a:p>
            <a:pPr marL="342900" indent="-342900">
              <a:spcAft>
                <a:spcPts val="300"/>
              </a:spcAft>
              <a:buSzPct val="100000"/>
              <a:buChar char="•"/>
            </a:pPr>
            <a:r>
              <a:rPr lang="en-US" sz="1200" dirty="0">
                <a:solidFill>
                  <a:srgbClr val="2B2422"/>
                </a:solidFill>
                <a:latin typeface="Calibri" pitchFamily="34" charset="0"/>
                <a:ea typeface="Calibri" pitchFamily="34" charset="-122"/>
                <a:cs typeface="Calibri" pitchFamily="34" charset="-120"/>
              </a:rPr>
              <a:t>order_id</a:t>
            </a:r>
            <a:endParaRPr lang="en-US" sz="1200" dirty="0"/>
          </a:p>
          <a:p>
            <a:pPr marL="342900" indent="-342900">
              <a:spcAft>
                <a:spcPts val="300"/>
              </a:spcAft>
              <a:buSzPct val="100000"/>
              <a:buChar char="•"/>
            </a:pPr>
            <a:r>
              <a:rPr lang="en-US" sz="1200" dirty="0">
                <a:solidFill>
                  <a:srgbClr val="2B2422"/>
                </a:solidFill>
                <a:latin typeface="Calibri" pitchFamily="34" charset="0"/>
                <a:ea typeface="Calibri" pitchFamily="34" charset="-122"/>
                <a:cs typeface="Calibri" pitchFamily="34" charset="-120"/>
              </a:rPr>
              <a:t>timestamp</a:t>
            </a:r>
            <a:endParaRPr lang="en-US" sz="1200" dirty="0"/>
          </a:p>
          <a:p>
            <a:pPr marL="342900" indent="-342900">
              <a:spcAft>
                <a:spcPts val="300"/>
              </a:spcAft>
              <a:buSzPct val="100000"/>
              <a:buChar char="•"/>
            </a:pPr>
            <a:r>
              <a:rPr lang="en-US" sz="1200" dirty="0">
                <a:solidFill>
                  <a:srgbClr val="2B2422"/>
                </a:solidFill>
                <a:latin typeface="Calibri" pitchFamily="34" charset="0"/>
                <a:ea typeface="Calibri" pitchFamily="34" charset="-122"/>
                <a:cs typeface="Calibri" pitchFamily="34" charset="-120"/>
              </a:rPr>
              <a:t>name</a:t>
            </a:r>
            <a:endParaRPr lang="en-US" sz="1200" dirty="0"/>
          </a:p>
          <a:p>
            <a:pPr marL="342900" indent="-342900">
              <a:spcAft>
                <a:spcPts val="300"/>
              </a:spcAft>
              <a:buSzPct val="100000"/>
              <a:buChar char="•"/>
            </a:pPr>
            <a:r>
              <a:rPr lang="en-US" sz="1200" dirty="0">
                <a:solidFill>
                  <a:srgbClr val="2B2422"/>
                </a:solidFill>
                <a:latin typeface="Calibri" pitchFamily="34" charset="0"/>
                <a:ea typeface="Calibri" pitchFamily="34" charset="-122"/>
                <a:cs typeface="Calibri" pitchFamily="34" charset="-120"/>
              </a:rPr>
              <a:t>phone</a:t>
            </a:r>
            <a:endParaRPr lang="en-US" sz="1200" dirty="0"/>
          </a:p>
          <a:p>
            <a:pPr marL="342900" indent="-342900">
              <a:spcAft>
                <a:spcPts val="300"/>
              </a:spcAft>
              <a:buSzPct val="100000"/>
              <a:buChar char="•"/>
            </a:pPr>
            <a:r>
              <a:rPr lang="en-US" sz="1200" dirty="0">
                <a:solidFill>
                  <a:srgbClr val="2B2422"/>
                </a:solidFill>
                <a:latin typeface="Calibri" pitchFamily="34" charset="0"/>
                <a:ea typeface="Calibri" pitchFamily="34" charset="-122"/>
                <a:cs typeface="Calibri" pitchFamily="34" charset="-120"/>
              </a:rPr>
              <a:t>base</a:t>
            </a:r>
            <a:endParaRPr lang="en-US" sz="1200" dirty="0"/>
          </a:p>
          <a:p>
            <a:pPr marL="342900" indent="-342900">
              <a:spcAft>
                <a:spcPts val="300"/>
              </a:spcAft>
              <a:buSzPct val="100000"/>
              <a:buChar char="•"/>
            </a:pPr>
            <a:r>
              <a:rPr lang="en-US" sz="1200" dirty="0">
                <a:solidFill>
                  <a:srgbClr val="2B2422"/>
                </a:solidFill>
                <a:latin typeface="Calibri" pitchFamily="34" charset="0"/>
                <a:ea typeface="Calibri" pitchFamily="34" charset="-122"/>
                <a:cs typeface="Calibri" pitchFamily="34" charset="-120"/>
              </a:rPr>
              <a:t>pizza</a:t>
            </a:r>
            <a:endParaRPr lang="en-US" sz="1200" dirty="0"/>
          </a:p>
          <a:p>
            <a:pPr marL="342900" indent="-342900">
              <a:spcAft>
                <a:spcPts val="300"/>
              </a:spcAft>
              <a:buSzPct val="100000"/>
              <a:buChar char="•"/>
            </a:pPr>
            <a:r>
              <a:rPr lang="en-US" sz="1200" dirty="0">
                <a:solidFill>
                  <a:srgbClr val="2B2422"/>
                </a:solidFill>
                <a:latin typeface="Calibri" pitchFamily="34" charset="0"/>
                <a:ea typeface="Calibri" pitchFamily="34" charset="-122"/>
                <a:cs typeface="Calibri" pitchFamily="34" charset="-120"/>
              </a:rPr>
              <a:t>topping</a:t>
            </a:r>
            <a:endParaRPr lang="en-US" sz="1200" dirty="0"/>
          </a:p>
          <a:p>
            <a:pPr marL="342900" indent="-342900">
              <a:spcAft>
                <a:spcPts val="300"/>
              </a:spcAft>
              <a:buSzPct val="100000"/>
              <a:buChar char="•"/>
            </a:pPr>
            <a:r>
              <a:rPr lang="en-US" sz="1200" dirty="0">
                <a:solidFill>
                  <a:srgbClr val="2B2422"/>
                </a:solidFill>
                <a:latin typeface="Calibri" pitchFamily="34" charset="0"/>
                <a:ea typeface="Calibri" pitchFamily="34" charset="-122"/>
                <a:cs typeface="Calibri" pitchFamily="34" charset="-120"/>
              </a:rPr>
              <a:t>unit price</a:t>
            </a:r>
            <a:endParaRPr lang="en-US" sz="1200" dirty="0"/>
          </a:p>
          <a:p>
            <a:pPr marL="342900" indent="-342900">
              <a:spcAft>
                <a:spcPts val="300"/>
              </a:spcAft>
              <a:buSzPct val="100000"/>
              <a:buChar char="•"/>
            </a:pPr>
            <a:r>
              <a:rPr lang="en-US" sz="1200" dirty="0">
                <a:solidFill>
                  <a:srgbClr val="2B2422"/>
                </a:solidFill>
                <a:latin typeface="Calibri" pitchFamily="34" charset="0"/>
                <a:ea typeface="Calibri" pitchFamily="34" charset="-122"/>
                <a:cs typeface="Calibri" pitchFamily="34" charset="-120"/>
              </a:rPr>
              <a:t>quantity</a:t>
            </a:r>
            <a:endParaRPr lang="en-US" sz="1200" dirty="0"/>
          </a:p>
          <a:p>
            <a:pPr marL="342900" indent="-342900">
              <a:spcAft>
                <a:spcPts val="300"/>
              </a:spcAft>
              <a:buSzPct val="100000"/>
              <a:buChar char="•"/>
            </a:pPr>
            <a:r>
              <a:rPr lang="en-US" sz="1200" dirty="0">
                <a:solidFill>
                  <a:srgbClr val="2B2422"/>
                </a:solidFill>
                <a:latin typeface="Calibri" pitchFamily="34" charset="0"/>
                <a:ea typeface="Calibri" pitchFamily="34" charset="-122"/>
                <a:cs typeface="Calibri" pitchFamily="34" charset="-120"/>
              </a:rPr>
              <a:t>subtotal</a:t>
            </a:r>
            <a:endParaRPr lang="en-US" sz="1200" dirty="0"/>
          </a:p>
          <a:p>
            <a:pPr marL="342900" indent="-342900">
              <a:spcAft>
                <a:spcPts val="300"/>
              </a:spcAft>
              <a:buSzPct val="100000"/>
              <a:buChar char="•"/>
            </a:pPr>
            <a:r>
              <a:rPr lang="en-US" sz="1200" dirty="0">
                <a:solidFill>
                  <a:srgbClr val="2B2422"/>
                </a:solidFill>
                <a:latin typeface="Calibri" pitchFamily="34" charset="0"/>
                <a:ea typeface="Calibri" pitchFamily="34" charset="-122"/>
                <a:cs typeface="Calibri" pitchFamily="34" charset="-120"/>
              </a:rPr>
              <a:t>discount</a:t>
            </a:r>
            <a:endParaRPr lang="en-US" sz="1200" dirty="0"/>
          </a:p>
          <a:p>
            <a:pPr marL="342900" indent="-342900">
              <a:spcAft>
                <a:spcPts val="300"/>
              </a:spcAft>
              <a:buSzPct val="100000"/>
              <a:buChar char="•"/>
            </a:pPr>
            <a:r>
              <a:rPr lang="en-US" sz="1200" dirty="0">
                <a:solidFill>
                  <a:srgbClr val="2B2422"/>
                </a:solidFill>
                <a:latin typeface="Calibri" pitchFamily="34" charset="0"/>
                <a:ea typeface="Calibri" pitchFamily="34" charset="-122"/>
                <a:cs typeface="Calibri" pitchFamily="34" charset="-120"/>
              </a:rPr>
              <a:t>GST</a:t>
            </a:r>
            <a:endParaRPr lang="en-US" sz="1200" dirty="0"/>
          </a:p>
          <a:p>
            <a:pPr marL="342900" indent="-342900">
              <a:spcAft>
                <a:spcPts val="300"/>
              </a:spcAft>
              <a:buSzPct val="100000"/>
              <a:buChar char="•"/>
            </a:pPr>
            <a:r>
              <a:rPr lang="en-US" sz="1200" dirty="0">
                <a:solidFill>
                  <a:srgbClr val="2B2422"/>
                </a:solidFill>
                <a:latin typeface="Calibri" pitchFamily="34" charset="0"/>
                <a:ea typeface="Calibri" pitchFamily="34" charset="-122"/>
                <a:cs typeface="Calibri" pitchFamily="34" charset="-120"/>
              </a:rPr>
              <a:t>final total</a:t>
            </a:r>
            <a:endParaRPr lang="en-US" sz="1200" dirty="0"/>
          </a:p>
          <a:p>
            <a:pPr marL="342900" indent="-342900">
              <a:spcAft>
                <a:spcPts val="300"/>
              </a:spcAft>
              <a:buSzPct val="100000"/>
              <a:buChar char="•"/>
            </a:pPr>
            <a:r>
              <a:rPr lang="en-US" sz="1200" dirty="0">
                <a:solidFill>
                  <a:srgbClr val="2B2422"/>
                </a:solidFill>
                <a:latin typeface="Calibri" pitchFamily="34" charset="0"/>
                <a:ea typeface="Calibri" pitchFamily="34" charset="-122"/>
                <a:cs typeface="Calibri" pitchFamily="34" charset="-120"/>
              </a:rPr>
              <a:t>payment mode</a:t>
            </a:r>
            <a:endParaRPr lang="en-US" sz="1200" dirty="0"/>
          </a:p>
        </p:txBody>
      </p:sp>
      <p:sp>
        <p:nvSpPr>
          <p:cNvPr id="9" name="Shape 6"/>
          <p:cNvSpPr/>
          <p:nvPr/>
        </p:nvSpPr>
        <p:spPr>
          <a:xfrm>
            <a:off x="4892040" y="2103120"/>
            <a:ext cx="6766560" cy="3977640"/>
          </a:xfrm>
          <a:prstGeom prst="roundRect">
            <a:avLst>
              <a:gd name="adj" fmla="val 2299"/>
            </a:avLst>
          </a:prstGeom>
          <a:solidFill>
            <a:srgbClr val="26201D"/>
          </a:solidFill>
          <a:ln/>
          <a:effectLst>
            <a:outerShdw blurRad="88900" dist="38100" dir="5400000" algn="bl" rotWithShape="0">
              <a:srgbClr val="000000">
                <a:alpha val="16000"/>
              </a:srgbClr>
            </a:outerShdw>
          </a:effectLst>
        </p:spPr>
        <p:txBody>
          <a:bodyPr/>
          <a:lstStyle/>
          <a:p>
            <a:endParaRPr lang="en-IN"/>
          </a:p>
        </p:txBody>
      </p:sp>
      <p:sp>
        <p:nvSpPr>
          <p:cNvPr id="10" name="Shape 7"/>
          <p:cNvSpPr/>
          <p:nvPr/>
        </p:nvSpPr>
        <p:spPr>
          <a:xfrm>
            <a:off x="4892040" y="2103120"/>
            <a:ext cx="6766560" cy="384048"/>
          </a:xfrm>
          <a:prstGeom prst="rect">
            <a:avLst/>
          </a:prstGeom>
          <a:solidFill>
            <a:srgbClr val="342B26"/>
          </a:solidFill>
          <a:ln/>
        </p:spPr>
        <p:txBody>
          <a:bodyPr/>
          <a:lstStyle/>
          <a:p>
            <a:endParaRPr lang="en-IN"/>
          </a:p>
        </p:txBody>
      </p:sp>
      <p:sp>
        <p:nvSpPr>
          <p:cNvPr id="11" name="Shape 8"/>
          <p:cNvSpPr/>
          <p:nvPr/>
        </p:nvSpPr>
        <p:spPr>
          <a:xfrm>
            <a:off x="5074920" y="2231136"/>
            <a:ext cx="100584" cy="100584"/>
          </a:xfrm>
          <a:prstGeom prst="ellipse">
            <a:avLst/>
          </a:prstGeom>
          <a:solidFill>
            <a:srgbClr val="E06C5E"/>
          </a:solidFill>
          <a:ln/>
        </p:spPr>
        <p:txBody>
          <a:bodyPr/>
          <a:lstStyle/>
          <a:p>
            <a:endParaRPr lang="en-IN"/>
          </a:p>
        </p:txBody>
      </p:sp>
      <p:sp>
        <p:nvSpPr>
          <p:cNvPr id="12" name="Shape 9"/>
          <p:cNvSpPr/>
          <p:nvPr/>
        </p:nvSpPr>
        <p:spPr>
          <a:xfrm>
            <a:off x="5257800" y="2231136"/>
            <a:ext cx="100584" cy="100584"/>
          </a:xfrm>
          <a:prstGeom prst="ellipse">
            <a:avLst/>
          </a:prstGeom>
          <a:solidFill>
            <a:srgbClr val="E8C15A"/>
          </a:solidFill>
          <a:ln/>
        </p:spPr>
        <p:txBody>
          <a:bodyPr/>
          <a:lstStyle/>
          <a:p>
            <a:endParaRPr lang="en-IN"/>
          </a:p>
        </p:txBody>
      </p:sp>
      <p:sp>
        <p:nvSpPr>
          <p:cNvPr id="13" name="Shape 10"/>
          <p:cNvSpPr/>
          <p:nvPr/>
        </p:nvSpPr>
        <p:spPr>
          <a:xfrm>
            <a:off x="5440680" y="2231136"/>
            <a:ext cx="100584" cy="100584"/>
          </a:xfrm>
          <a:prstGeom prst="ellipse">
            <a:avLst/>
          </a:prstGeom>
          <a:solidFill>
            <a:srgbClr val="7FB98B"/>
          </a:solidFill>
          <a:ln/>
        </p:spPr>
        <p:txBody>
          <a:bodyPr/>
          <a:lstStyle/>
          <a:p>
            <a:endParaRPr lang="en-IN"/>
          </a:p>
        </p:txBody>
      </p:sp>
      <p:sp>
        <p:nvSpPr>
          <p:cNvPr id="14" name="Text 11"/>
          <p:cNvSpPr/>
          <p:nvPr/>
        </p:nvSpPr>
        <p:spPr>
          <a:xfrm>
            <a:off x="5715000" y="2103120"/>
            <a:ext cx="5852160" cy="384048"/>
          </a:xfrm>
          <a:prstGeom prst="rect">
            <a:avLst/>
          </a:prstGeom>
          <a:noFill/>
          <a:ln/>
        </p:spPr>
        <p:txBody>
          <a:bodyPr wrap="square" lIns="0" tIns="0" rIns="0" bIns="0" rtlCol="0" anchor="ctr"/>
          <a:lstStyle/>
          <a:p>
            <a:pPr marL="0" indent="0">
              <a:buNone/>
            </a:pPr>
            <a:r>
              <a:rPr lang="en-US" sz="1050" dirty="0">
                <a:solidFill>
                  <a:srgbClr val="F3EBE0"/>
                </a:solidFill>
                <a:latin typeface="Courier New" pitchFamily="34" charset="0"/>
                <a:ea typeface="Courier New" pitchFamily="34" charset="-122"/>
                <a:cs typeface="Courier New" pitchFamily="34" charset="-120"/>
              </a:rPr>
              <a:t>orders_log.txt</a:t>
            </a:r>
            <a:endParaRPr lang="en-US" sz="1050" dirty="0"/>
          </a:p>
        </p:txBody>
      </p:sp>
      <p:sp>
        <p:nvSpPr>
          <p:cNvPr id="15" name="Text 12"/>
          <p:cNvSpPr/>
          <p:nvPr/>
        </p:nvSpPr>
        <p:spPr>
          <a:xfrm>
            <a:off x="5212080" y="2697480"/>
            <a:ext cx="6217920" cy="3200400"/>
          </a:xfrm>
          <a:prstGeom prst="rect">
            <a:avLst/>
          </a:prstGeom>
          <a:noFill/>
          <a:ln/>
        </p:spPr>
        <p:txBody>
          <a:bodyPr wrap="square" lIns="0" tIns="0" rIns="0" bIns="0" rtlCol="0" anchor="ctr"/>
          <a:lstStyle/>
          <a:p>
            <a:pPr marL="0" indent="0">
              <a:lnSpc>
                <a:spcPct val="110000"/>
              </a:lnSpc>
              <a:buNone/>
            </a:pPr>
            <a:r>
              <a:rPr lang="en-US" sz="1200" dirty="0">
                <a:solidFill>
                  <a:srgbClr val="8FE3A8"/>
                </a:solidFill>
                <a:latin typeface="Courier New" pitchFamily="34" charset="0"/>
                <a:ea typeface="Courier New" pitchFamily="34" charset="-122"/>
                <a:cs typeface="Courier New" pitchFamily="34" charset="-120"/>
              </a:rPr>
              <a:t>SM-000027 | 2026-06-23 19:42:10 | Rajan Sharma | 9876543210 |</a:t>
            </a:r>
            <a:endParaRPr lang="en-US" sz="1200" dirty="0"/>
          </a:p>
          <a:p>
            <a:pPr marL="0" indent="0">
              <a:lnSpc>
                <a:spcPct val="110000"/>
              </a:lnSpc>
              <a:buNone/>
            </a:pPr>
            <a:r>
              <a:rPr lang="en-US" sz="1200" dirty="0">
                <a:solidFill>
                  <a:srgbClr val="8FE3A8"/>
                </a:solidFill>
                <a:latin typeface="Courier New" pitchFamily="34" charset="0"/>
                <a:ea typeface="Courier New" pitchFamily="34" charset="-122"/>
                <a:cs typeface="Courier New" pitchFamily="34" charset="-120"/>
              </a:rPr>
              <a:t>  Cheese Burst | BBQ Chicken | Extra Cheese |</a:t>
            </a:r>
            <a:endParaRPr lang="en-US" sz="1200" dirty="0"/>
          </a:p>
          <a:p>
            <a:pPr marL="0" indent="0">
              <a:lnSpc>
                <a:spcPct val="110000"/>
              </a:lnSpc>
              <a:buNone/>
            </a:pPr>
            <a:r>
              <a:rPr lang="en-US" sz="1200" dirty="0">
                <a:solidFill>
                  <a:srgbClr val="8FE3A8"/>
                </a:solidFill>
                <a:latin typeface="Courier New" pitchFamily="34" charset="0"/>
                <a:ea typeface="Courier New" pitchFamily="34" charset="-122"/>
                <a:cs typeface="Courier New" pitchFamily="34" charset="-120"/>
              </a:rPr>
              <a:t>  677.00 | 5 | 3385.00 | 338.50 | 548.37 |</a:t>
            </a:r>
            <a:endParaRPr lang="en-US" sz="1200" dirty="0"/>
          </a:p>
          <a:p>
            <a:pPr marL="0" indent="0">
              <a:lnSpc>
                <a:spcPct val="110000"/>
              </a:lnSpc>
              <a:buNone/>
            </a:pPr>
            <a:r>
              <a:rPr lang="en-US" sz="1200" dirty="0">
                <a:solidFill>
                  <a:srgbClr val="8FE3A8"/>
                </a:solidFill>
                <a:latin typeface="Courier New" pitchFamily="34" charset="0"/>
                <a:ea typeface="Courier New" pitchFamily="34" charset="-122"/>
                <a:cs typeface="Courier New" pitchFamily="34" charset="-120"/>
              </a:rPr>
              <a:t>  3594.87 | UPI</a:t>
            </a:r>
            <a:endParaRPr lang="en-US" sz="1200" dirty="0"/>
          </a:p>
          <a:p>
            <a:pPr marL="0" indent="0">
              <a:lnSpc>
                <a:spcPct val="110000"/>
              </a:lnSpc>
              <a:buNone/>
            </a:pPr>
            <a:r>
              <a:rPr lang="en-US" sz="1200" dirty="0">
                <a:solidFill>
                  <a:srgbClr val="F3EBE0"/>
                </a:solidFill>
                <a:latin typeface="Courier New" pitchFamily="34" charset="0"/>
                <a:ea typeface="Courier New" pitchFamily="34" charset="-122"/>
                <a:cs typeface="Courier New" pitchFamily="34" charset="-120"/>
              </a:rPr>
              <a:t> </a:t>
            </a:r>
            <a:endParaRPr lang="en-US" sz="1200" dirty="0"/>
          </a:p>
          <a:p>
            <a:pPr marL="0" indent="0">
              <a:lnSpc>
                <a:spcPct val="110000"/>
              </a:lnSpc>
              <a:buNone/>
            </a:pPr>
            <a:r>
              <a:rPr lang="en-US" sz="1200" dirty="0">
                <a:solidFill>
                  <a:srgbClr val="8FE3A8"/>
                </a:solidFill>
                <a:latin typeface="Courier New" pitchFamily="34" charset="0"/>
                <a:ea typeface="Courier New" pitchFamily="34" charset="-122"/>
                <a:cs typeface="Courier New" pitchFamily="34" charset="-120"/>
              </a:rPr>
              <a:t>SM-000026 | 2026-06-23 19:55:02 | Aman S | 8123456780 |</a:t>
            </a:r>
            <a:endParaRPr lang="en-US" sz="1200" dirty="0"/>
          </a:p>
          <a:p>
            <a:pPr marL="0" indent="0">
              <a:lnSpc>
                <a:spcPct val="110000"/>
              </a:lnSpc>
              <a:buNone/>
            </a:pPr>
            <a:r>
              <a:rPr lang="en-US" sz="1200" dirty="0">
                <a:solidFill>
                  <a:srgbClr val="8FE3A8"/>
                </a:solidFill>
                <a:latin typeface="Courier New" pitchFamily="34" charset="0"/>
                <a:ea typeface="Courier New" pitchFamily="34" charset="-122"/>
                <a:cs typeface="Courier New" pitchFamily="34" charset="-120"/>
              </a:rPr>
              <a:t>  Thin Crust | Margherita | Jalapenos |</a:t>
            </a:r>
            <a:endParaRPr lang="en-US" sz="1200" dirty="0"/>
          </a:p>
          <a:p>
            <a:pPr marL="0" indent="0">
              <a:lnSpc>
                <a:spcPct val="110000"/>
              </a:lnSpc>
              <a:buNone/>
            </a:pPr>
            <a:r>
              <a:rPr lang="en-US" sz="1200" dirty="0">
                <a:solidFill>
                  <a:srgbClr val="8FE3A8"/>
                </a:solidFill>
                <a:latin typeface="Courier New" pitchFamily="34" charset="0"/>
                <a:ea typeface="Courier New" pitchFamily="34" charset="-122"/>
                <a:cs typeface="Courier New" pitchFamily="34" charset="-120"/>
              </a:rPr>
              <a:t>  397.00 | 2 | 794.00 | 0.00 | 142.92 |</a:t>
            </a:r>
            <a:endParaRPr lang="en-US" sz="1200" dirty="0"/>
          </a:p>
          <a:p>
            <a:pPr marL="0" indent="0">
              <a:lnSpc>
                <a:spcPct val="110000"/>
              </a:lnSpc>
              <a:buNone/>
            </a:pPr>
            <a:r>
              <a:rPr lang="en-US" sz="1200" dirty="0">
                <a:solidFill>
                  <a:srgbClr val="8FE3A8"/>
                </a:solidFill>
                <a:latin typeface="Courier New" pitchFamily="34" charset="0"/>
                <a:ea typeface="Courier New" pitchFamily="34" charset="-122"/>
                <a:cs typeface="Courier New" pitchFamily="34" charset="-120"/>
              </a:rPr>
              <a:t>  936.92 | Cash</a:t>
            </a:r>
            <a:endParaRPr lang="en-US" sz="1200" dirty="0"/>
          </a:p>
        </p:txBody>
      </p:sp>
      <p:sp>
        <p:nvSpPr>
          <p:cNvPr id="16" name="Text 13"/>
          <p:cNvSpPr/>
          <p:nvPr/>
        </p:nvSpPr>
        <p:spPr>
          <a:xfrm>
            <a:off x="5212080" y="5715000"/>
            <a:ext cx="6217920" cy="274320"/>
          </a:xfrm>
          <a:prstGeom prst="rect">
            <a:avLst/>
          </a:prstGeom>
          <a:noFill/>
          <a:ln/>
        </p:spPr>
        <p:txBody>
          <a:bodyPr wrap="square" lIns="0" tIns="0" rIns="0" bIns="0" rtlCol="0" anchor="ctr"/>
          <a:lstStyle/>
          <a:p>
            <a:pPr marL="0" indent="0">
              <a:buNone/>
            </a:pPr>
            <a:r>
              <a:rPr lang="en-US" sz="1000" i="1" dirty="0">
                <a:solidFill>
                  <a:srgbClr val="E0A43B"/>
                </a:solidFill>
                <a:latin typeface="Calibri" pitchFamily="34" charset="0"/>
                <a:ea typeface="Calibri" pitchFamily="34" charset="-122"/>
                <a:cs typeface="Calibri" pitchFamily="34" charset="-120"/>
              </a:rPr>
              <a:t>Pipe-separated · one block per order · blank line between — machine-parseable.</a:t>
            </a:r>
            <a:endParaRPr lang="en-US" sz="1000" dirty="0"/>
          </a:p>
        </p:txBody>
      </p:sp>
      <p:sp>
        <p:nvSpPr>
          <p:cNvPr id="17" name="Text 14"/>
          <p:cNvSpPr/>
          <p:nvPr/>
        </p:nvSpPr>
        <p:spPr>
          <a:xfrm>
            <a:off x="502920" y="6473952"/>
            <a:ext cx="5486400" cy="274320"/>
          </a:xfrm>
          <a:prstGeom prst="rect">
            <a:avLst/>
          </a:prstGeom>
          <a:noFill/>
          <a:ln/>
        </p:spPr>
        <p:txBody>
          <a:bodyPr wrap="square" lIns="0" tIns="0" rIns="0" bIns="0" rtlCol="0" anchor="ctr"/>
          <a:lstStyle/>
          <a:p>
            <a:pPr marL="0" indent="0" algn="l">
              <a:buNone/>
            </a:pPr>
            <a:r>
              <a:rPr lang="en-US" sz="900" dirty="0">
                <a:solidFill>
                  <a:srgbClr val="8A7E76"/>
                </a:solidFill>
                <a:latin typeface="Calibri" pitchFamily="34" charset="0"/>
                <a:ea typeface="Calibri" pitchFamily="34" charset="-122"/>
                <a:cs typeface="Calibri" pitchFamily="34" charset="-120"/>
              </a:rPr>
              <a:t>SliceMatic · PizzaFlow MVP Demo</a:t>
            </a:r>
            <a:endParaRPr lang="en-US" sz="900" dirty="0"/>
          </a:p>
        </p:txBody>
      </p:sp>
      <p:sp>
        <p:nvSpPr>
          <p:cNvPr id="18" name="Text 15"/>
          <p:cNvSpPr/>
          <p:nvPr/>
        </p:nvSpPr>
        <p:spPr>
          <a:xfrm>
            <a:off x="11274552" y="6473952"/>
            <a:ext cx="411480" cy="274320"/>
          </a:xfrm>
          <a:prstGeom prst="rect">
            <a:avLst/>
          </a:prstGeom>
          <a:noFill/>
          <a:ln/>
        </p:spPr>
        <p:txBody>
          <a:bodyPr wrap="square" lIns="0" tIns="0" rIns="0" bIns="0" rtlCol="0" anchor="ctr"/>
          <a:lstStyle/>
          <a:p>
            <a:pPr marL="0" indent="0" algn="r">
              <a:buNone/>
            </a:pPr>
            <a:r>
              <a:rPr lang="en-US" sz="900" dirty="0">
                <a:solidFill>
                  <a:srgbClr val="8A7E76"/>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BF6EF"/>
        </a:solidFill>
        <a:effectLst/>
      </p:bgPr>
    </p:bg>
    <p:spTree>
      <p:nvGrpSpPr>
        <p:cNvPr id="1" name=""/>
        <p:cNvGrpSpPr/>
        <p:nvPr/>
      </p:nvGrpSpPr>
      <p:grpSpPr>
        <a:xfrm>
          <a:off x="0" y="0"/>
          <a:ext cx="0" cy="0"/>
          <a:chOff x="0" y="0"/>
          <a:chExt cx="0" cy="0"/>
        </a:xfrm>
      </p:grpSpPr>
      <p:sp>
        <p:nvSpPr>
          <p:cNvPr id="2" name="Text 0"/>
          <p:cNvSpPr/>
          <p:nvPr/>
        </p:nvSpPr>
        <p:spPr>
          <a:xfrm>
            <a:off x="502920" y="457200"/>
            <a:ext cx="8229600" cy="274320"/>
          </a:xfrm>
          <a:prstGeom prst="rect">
            <a:avLst/>
          </a:prstGeom>
          <a:noFill/>
          <a:ln/>
        </p:spPr>
        <p:txBody>
          <a:bodyPr wrap="square" lIns="0" tIns="0" rIns="0" bIns="0" rtlCol="0" anchor="ctr"/>
          <a:lstStyle/>
          <a:p>
            <a:pPr marL="0" indent="0">
              <a:buNone/>
            </a:pPr>
            <a:r>
              <a:rPr lang="en-US" sz="1200" b="1" kern="0" spc="300" dirty="0">
                <a:solidFill>
                  <a:srgbClr val="2E7D52"/>
                </a:solidFill>
                <a:latin typeface="Calibri" pitchFamily="34" charset="0"/>
                <a:ea typeface="Calibri" pitchFamily="34" charset="-122"/>
                <a:cs typeface="Calibri" pitchFamily="34" charset="-120"/>
              </a:rPr>
              <a:t>BEYOND THE MVP SCOPE · DELIVERED EARLY</a:t>
            </a:r>
            <a:endParaRPr lang="en-US" sz="1200" dirty="0"/>
          </a:p>
        </p:txBody>
      </p:sp>
      <p:sp>
        <p:nvSpPr>
          <p:cNvPr id="3" name="Text 1"/>
          <p:cNvSpPr/>
          <p:nvPr/>
        </p:nvSpPr>
        <p:spPr>
          <a:xfrm>
            <a:off x="475488" y="749808"/>
            <a:ext cx="10515600" cy="685800"/>
          </a:xfrm>
          <a:prstGeom prst="rect">
            <a:avLst/>
          </a:prstGeom>
          <a:noFill/>
          <a:ln/>
        </p:spPr>
        <p:txBody>
          <a:bodyPr wrap="square" lIns="0" tIns="0" rIns="0" bIns="0" rtlCol="0" anchor="ctr"/>
          <a:lstStyle/>
          <a:p>
            <a:pPr marL="0" indent="0">
              <a:buNone/>
            </a:pPr>
            <a:r>
              <a:rPr lang="en-US" sz="3300" b="1" dirty="0">
                <a:solidFill>
                  <a:srgbClr val="2B2422"/>
                </a:solidFill>
                <a:latin typeface="Cambria" pitchFamily="34" charset="0"/>
                <a:ea typeface="Cambria" pitchFamily="34" charset="-122"/>
                <a:cs typeface="Cambria" pitchFamily="34" charset="-120"/>
              </a:rPr>
              <a:t>The owner console — PIN-gated admin</a:t>
            </a:r>
            <a:endParaRPr lang="en-US" sz="3300" dirty="0"/>
          </a:p>
        </p:txBody>
      </p:sp>
      <p:sp>
        <p:nvSpPr>
          <p:cNvPr id="4" name="Text 2"/>
          <p:cNvSpPr/>
          <p:nvPr/>
        </p:nvSpPr>
        <p:spPr>
          <a:xfrm>
            <a:off x="502920" y="1371600"/>
            <a:ext cx="4800600" cy="1371600"/>
          </a:xfrm>
          <a:prstGeom prst="rect">
            <a:avLst/>
          </a:prstGeom>
          <a:noFill/>
          <a:ln/>
        </p:spPr>
        <p:txBody>
          <a:bodyPr wrap="square" lIns="0" tIns="0" rIns="0" bIns="0" rtlCol="0" anchor="ctr"/>
          <a:lstStyle/>
          <a:p>
            <a:pPr marL="0" indent="0">
              <a:buNone/>
            </a:pPr>
            <a:r>
              <a:rPr lang="en-US" sz="1300" dirty="0">
                <a:solidFill>
                  <a:srgbClr val="2B2422"/>
                </a:solidFill>
                <a:latin typeface="Calibri" pitchFamily="34" charset="0"/>
                <a:ea typeface="Calibri" pitchFamily="34" charset="-122"/>
                <a:cs typeface="Calibri" pitchFamily="34" charset="-120"/>
              </a:rPr>
              <a:t>The PRD parked admin for Stage 3. We shipped it now — a PIN-protected console behind the order screen's dropdown gives the owner full control and visibility.</a:t>
            </a:r>
            <a:endParaRPr lang="en-US" sz="1300" dirty="0"/>
          </a:p>
        </p:txBody>
      </p:sp>
      <p:sp>
        <p:nvSpPr>
          <p:cNvPr id="5" name="Shape 3"/>
          <p:cNvSpPr/>
          <p:nvPr/>
        </p:nvSpPr>
        <p:spPr>
          <a:xfrm>
            <a:off x="548640" y="2743200"/>
            <a:ext cx="548640" cy="548640"/>
          </a:xfrm>
          <a:prstGeom prst="ellipse">
            <a:avLst/>
          </a:prstGeom>
          <a:solidFill>
            <a:srgbClr val="26201D"/>
          </a:solidFill>
          <a:ln/>
        </p:spPr>
        <p:txBody>
          <a:bodyPr/>
          <a:lstStyle/>
          <a:p>
            <a:endParaRPr lang="en-IN"/>
          </a:p>
        </p:txBody>
      </p:sp>
      <p:pic>
        <p:nvPicPr>
          <p:cNvPr id="6" name="Image 0" descr="preencoded.png"/>
          <p:cNvPicPr>
            <a:picLocks noChangeAspect="1"/>
          </p:cNvPicPr>
          <p:nvPr/>
        </p:nvPicPr>
        <p:blipFill>
          <a:blip r:embed="rId3"/>
          <a:stretch>
            <a:fillRect/>
          </a:stretch>
        </p:blipFill>
        <p:spPr>
          <a:xfrm>
            <a:off x="704088" y="2898648"/>
            <a:ext cx="246888" cy="246888"/>
          </a:xfrm>
          <a:prstGeom prst="rect">
            <a:avLst/>
          </a:prstGeom>
        </p:spPr>
      </p:pic>
      <p:sp>
        <p:nvSpPr>
          <p:cNvPr id="7" name="Text 4"/>
          <p:cNvSpPr/>
          <p:nvPr/>
        </p:nvSpPr>
        <p:spPr>
          <a:xfrm>
            <a:off x="1234440" y="2715768"/>
            <a:ext cx="4023360" cy="603504"/>
          </a:xfrm>
          <a:prstGeom prst="rect">
            <a:avLst/>
          </a:prstGeom>
          <a:noFill/>
          <a:ln/>
        </p:spPr>
        <p:txBody>
          <a:bodyPr wrap="square" lIns="0" tIns="0" rIns="0" bIns="0" rtlCol="0" anchor="ctr"/>
          <a:lstStyle/>
          <a:p>
            <a:pPr marL="0" indent="0">
              <a:buNone/>
            </a:pPr>
            <a:r>
              <a:rPr lang="en-US" sz="1350" b="1" dirty="0">
                <a:solidFill>
                  <a:srgbClr val="2B2422"/>
                </a:solidFill>
                <a:latin typeface="Calibri" pitchFamily="34" charset="0"/>
                <a:ea typeface="Calibri" pitchFamily="34" charset="-122"/>
                <a:cs typeface="Calibri" pitchFamily="34" charset="-120"/>
              </a:rPr>
              <a:t>Menu control  </a:t>
            </a:r>
            <a:r>
              <a:rPr lang="en-US" sz="1350" dirty="0">
                <a:solidFill>
                  <a:srgbClr val="8A7E76"/>
                </a:solidFill>
                <a:latin typeface="Calibri" pitchFamily="34" charset="0"/>
                <a:ea typeface="Calibri" pitchFamily="34" charset="-122"/>
                <a:cs typeface="Calibri" pitchFamily="34" charset="-120"/>
              </a:rPr>
              <a:t>add / edit items &amp; prices</a:t>
            </a:r>
            <a:endParaRPr lang="en-US" sz="1350" dirty="0"/>
          </a:p>
        </p:txBody>
      </p:sp>
      <p:sp>
        <p:nvSpPr>
          <p:cNvPr id="8" name="Shape 5"/>
          <p:cNvSpPr/>
          <p:nvPr/>
        </p:nvSpPr>
        <p:spPr>
          <a:xfrm>
            <a:off x="548640" y="3529584"/>
            <a:ext cx="548640" cy="548640"/>
          </a:xfrm>
          <a:prstGeom prst="ellipse">
            <a:avLst/>
          </a:prstGeom>
          <a:solidFill>
            <a:srgbClr val="26201D"/>
          </a:solidFill>
          <a:ln/>
        </p:spPr>
        <p:txBody>
          <a:bodyPr/>
          <a:lstStyle/>
          <a:p>
            <a:endParaRPr lang="en-IN"/>
          </a:p>
        </p:txBody>
      </p:sp>
      <p:pic>
        <p:nvPicPr>
          <p:cNvPr id="9" name="Image 1" descr="preencoded.png"/>
          <p:cNvPicPr>
            <a:picLocks noChangeAspect="1"/>
          </p:cNvPicPr>
          <p:nvPr/>
        </p:nvPicPr>
        <p:blipFill>
          <a:blip r:embed="rId4"/>
          <a:stretch>
            <a:fillRect/>
          </a:stretch>
        </p:blipFill>
        <p:spPr>
          <a:xfrm>
            <a:off x="704088" y="3685032"/>
            <a:ext cx="246888" cy="246888"/>
          </a:xfrm>
          <a:prstGeom prst="rect">
            <a:avLst/>
          </a:prstGeom>
        </p:spPr>
      </p:pic>
      <p:sp>
        <p:nvSpPr>
          <p:cNvPr id="10" name="Text 6"/>
          <p:cNvSpPr/>
          <p:nvPr/>
        </p:nvSpPr>
        <p:spPr>
          <a:xfrm>
            <a:off x="1234440" y="3502152"/>
            <a:ext cx="4023360" cy="603504"/>
          </a:xfrm>
          <a:prstGeom prst="rect">
            <a:avLst/>
          </a:prstGeom>
          <a:noFill/>
          <a:ln/>
        </p:spPr>
        <p:txBody>
          <a:bodyPr wrap="square" lIns="0" tIns="0" rIns="0" bIns="0" rtlCol="0" anchor="ctr"/>
          <a:lstStyle/>
          <a:p>
            <a:pPr marL="0" indent="0">
              <a:buNone/>
            </a:pPr>
            <a:r>
              <a:rPr lang="en-US" sz="1350" b="1" dirty="0">
                <a:solidFill>
                  <a:srgbClr val="2B2422"/>
                </a:solidFill>
                <a:latin typeface="Calibri" pitchFamily="34" charset="0"/>
                <a:ea typeface="Calibri" pitchFamily="34" charset="-122"/>
                <a:cs typeface="Calibri" pitchFamily="34" charset="-120"/>
              </a:rPr>
              <a:t>Discount rules  </a:t>
            </a:r>
            <a:r>
              <a:rPr lang="en-US" sz="1350" dirty="0">
                <a:solidFill>
                  <a:srgbClr val="8A7E76"/>
                </a:solidFill>
                <a:latin typeface="Calibri" pitchFamily="34" charset="0"/>
                <a:ea typeface="Calibri" pitchFamily="34" charset="-122"/>
                <a:cs typeface="Calibri" pitchFamily="34" charset="-120"/>
              </a:rPr>
              <a:t>set % and the qty threshold</a:t>
            </a:r>
            <a:endParaRPr lang="en-US" sz="1350" dirty="0"/>
          </a:p>
        </p:txBody>
      </p:sp>
      <p:sp>
        <p:nvSpPr>
          <p:cNvPr id="11" name="Shape 7"/>
          <p:cNvSpPr/>
          <p:nvPr/>
        </p:nvSpPr>
        <p:spPr>
          <a:xfrm>
            <a:off x="548640" y="4315968"/>
            <a:ext cx="548640" cy="548640"/>
          </a:xfrm>
          <a:prstGeom prst="ellipse">
            <a:avLst/>
          </a:prstGeom>
          <a:solidFill>
            <a:srgbClr val="26201D"/>
          </a:solidFill>
          <a:ln/>
        </p:spPr>
        <p:txBody>
          <a:bodyPr/>
          <a:lstStyle/>
          <a:p>
            <a:endParaRPr lang="en-IN"/>
          </a:p>
        </p:txBody>
      </p:sp>
      <p:pic>
        <p:nvPicPr>
          <p:cNvPr id="12" name="Image 2" descr="preencoded.png"/>
          <p:cNvPicPr>
            <a:picLocks noChangeAspect="1"/>
          </p:cNvPicPr>
          <p:nvPr/>
        </p:nvPicPr>
        <p:blipFill>
          <a:blip r:embed="rId5"/>
          <a:stretch>
            <a:fillRect/>
          </a:stretch>
        </p:blipFill>
        <p:spPr>
          <a:xfrm>
            <a:off x="704088" y="4471416"/>
            <a:ext cx="246888" cy="246888"/>
          </a:xfrm>
          <a:prstGeom prst="rect">
            <a:avLst/>
          </a:prstGeom>
        </p:spPr>
      </p:pic>
      <p:sp>
        <p:nvSpPr>
          <p:cNvPr id="13" name="Text 8"/>
          <p:cNvSpPr/>
          <p:nvPr/>
        </p:nvSpPr>
        <p:spPr>
          <a:xfrm>
            <a:off x="1234440" y="4288536"/>
            <a:ext cx="4023360" cy="603504"/>
          </a:xfrm>
          <a:prstGeom prst="rect">
            <a:avLst/>
          </a:prstGeom>
          <a:noFill/>
          <a:ln/>
        </p:spPr>
        <p:txBody>
          <a:bodyPr wrap="square" lIns="0" tIns="0" rIns="0" bIns="0" rtlCol="0" anchor="ctr"/>
          <a:lstStyle/>
          <a:p>
            <a:pPr marL="0" indent="0">
              <a:buNone/>
            </a:pPr>
            <a:r>
              <a:rPr lang="en-US" sz="1350" b="1" dirty="0">
                <a:solidFill>
                  <a:srgbClr val="2B2422"/>
                </a:solidFill>
                <a:latin typeface="Calibri" pitchFamily="34" charset="0"/>
                <a:ea typeface="Calibri" pitchFamily="34" charset="-122"/>
                <a:cs typeface="Calibri" pitchFamily="34" charset="-120"/>
              </a:rPr>
              <a:t>Analytics dashboard  </a:t>
            </a:r>
            <a:r>
              <a:rPr lang="en-US" sz="1350" dirty="0">
                <a:solidFill>
                  <a:srgbClr val="8A7E76"/>
                </a:solidFill>
                <a:latin typeface="Calibri" pitchFamily="34" charset="0"/>
                <a:ea typeface="Calibri" pitchFamily="34" charset="-122"/>
                <a:cs typeface="Calibri" pitchFamily="34" charset="-120"/>
              </a:rPr>
              <a:t>top sellers &amp; combinations</a:t>
            </a:r>
            <a:endParaRPr lang="en-US" sz="1350" dirty="0"/>
          </a:p>
        </p:txBody>
      </p:sp>
      <p:sp>
        <p:nvSpPr>
          <p:cNvPr id="14" name="Shape 9"/>
          <p:cNvSpPr/>
          <p:nvPr/>
        </p:nvSpPr>
        <p:spPr>
          <a:xfrm>
            <a:off x="548640" y="5102352"/>
            <a:ext cx="548640" cy="548640"/>
          </a:xfrm>
          <a:prstGeom prst="ellipse">
            <a:avLst/>
          </a:prstGeom>
          <a:solidFill>
            <a:srgbClr val="26201D"/>
          </a:solidFill>
          <a:ln/>
        </p:spPr>
        <p:txBody>
          <a:bodyPr/>
          <a:lstStyle/>
          <a:p>
            <a:endParaRPr lang="en-IN"/>
          </a:p>
        </p:txBody>
      </p:sp>
      <p:pic>
        <p:nvPicPr>
          <p:cNvPr id="15" name="Image 3" descr="preencoded.png"/>
          <p:cNvPicPr>
            <a:picLocks noChangeAspect="1"/>
          </p:cNvPicPr>
          <p:nvPr/>
        </p:nvPicPr>
        <p:blipFill>
          <a:blip r:embed="rId6"/>
          <a:stretch>
            <a:fillRect/>
          </a:stretch>
        </p:blipFill>
        <p:spPr>
          <a:xfrm>
            <a:off x="704088" y="5257800"/>
            <a:ext cx="246888" cy="246888"/>
          </a:xfrm>
          <a:prstGeom prst="rect">
            <a:avLst/>
          </a:prstGeom>
        </p:spPr>
      </p:pic>
      <p:sp>
        <p:nvSpPr>
          <p:cNvPr id="16" name="Text 10"/>
          <p:cNvSpPr/>
          <p:nvPr/>
        </p:nvSpPr>
        <p:spPr>
          <a:xfrm>
            <a:off x="1234440" y="5074920"/>
            <a:ext cx="4023360" cy="603504"/>
          </a:xfrm>
          <a:prstGeom prst="rect">
            <a:avLst/>
          </a:prstGeom>
          <a:noFill/>
          <a:ln/>
        </p:spPr>
        <p:txBody>
          <a:bodyPr wrap="square" lIns="0" tIns="0" rIns="0" bIns="0" rtlCol="0" anchor="ctr"/>
          <a:lstStyle/>
          <a:p>
            <a:pPr marL="0" indent="0">
              <a:buNone/>
            </a:pPr>
            <a:r>
              <a:rPr lang="en-US" sz="1350" b="1" dirty="0">
                <a:solidFill>
                  <a:srgbClr val="2B2422"/>
                </a:solidFill>
                <a:latin typeface="Calibri" pitchFamily="34" charset="0"/>
                <a:ea typeface="Calibri" pitchFamily="34" charset="-122"/>
                <a:cs typeface="Calibri" pitchFamily="34" charset="-120"/>
              </a:rPr>
              <a:t>Order-log export  </a:t>
            </a:r>
            <a:r>
              <a:rPr lang="en-US" sz="1350" dirty="0">
                <a:solidFill>
                  <a:srgbClr val="8A7E76"/>
                </a:solidFill>
                <a:latin typeface="Calibri" pitchFamily="34" charset="0"/>
                <a:ea typeface="Calibri" pitchFamily="34" charset="-122"/>
                <a:cs typeface="Calibri" pitchFamily="34" charset="-120"/>
              </a:rPr>
              <a:t>full history, downloadable</a:t>
            </a:r>
            <a:endParaRPr lang="en-US" sz="1350" dirty="0"/>
          </a:p>
        </p:txBody>
      </p:sp>
      <p:sp>
        <p:nvSpPr>
          <p:cNvPr id="17" name="Shape 11"/>
          <p:cNvSpPr/>
          <p:nvPr/>
        </p:nvSpPr>
        <p:spPr>
          <a:xfrm>
            <a:off x="548640" y="5934456"/>
            <a:ext cx="4709160" cy="566928"/>
          </a:xfrm>
          <a:prstGeom prst="roundRect">
            <a:avLst>
              <a:gd name="adj" fmla="val 12903"/>
            </a:avLst>
          </a:prstGeom>
          <a:solidFill>
            <a:srgbClr val="F3EBE0"/>
          </a:solidFill>
          <a:ln/>
        </p:spPr>
        <p:txBody>
          <a:bodyPr/>
          <a:lstStyle/>
          <a:p>
            <a:endParaRPr lang="en-IN"/>
          </a:p>
        </p:txBody>
      </p:sp>
      <p:pic>
        <p:nvPicPr>
          <p:cNvPr id="18" name="Image 4" descr="preencoded.png"/>
          <p:cNvPicPr>
            <a:picLocks noChangeAspect="1"/>
          </p:cNvPicPr>
          <p:nvPr/>
        </p:nvPicPr>
        <p:blipFill>
          <a:blip r:embed="rId7"/>
          <a:stretch>
            <a:fillRect/>
          </a:stretch>
        </p:blipFill>
        <p:spPr>
          <a:xfrm>
            <a:off x="749808" y="6089904"/>
            <a:ext cx="256032" cy="256032"/>
          </a:xfrm>
          <a:prstGeom prst="rect">
            <a:avLst/>
          </a:prstGeom>
        </p:spPr>
      </p:pic>
      <p:sp>
        <p:nvSpPr>
          <p:cNvPr id="19" name="Text 12"/>
          <p:cNvSpPr/>
          <p:nvPr/>
        </p:nvSpPr>
        <p:spPr>
          <a:xfrm>
            <a:off x="1143000" y="5934456"/>
            <a:ext cx="4023360" cy="566928"/>
          </a:xfrm>
          <a:prstGeom prst="rect">
            <a:avLst/>
          </a:prstGeom>
          <a:noFill/>
          <a:ln/>
        </p:spPr>
        <p:txBody>
          <a:bodyPr wrap="square" lIns="0" tIns="0" rIns="0" bIns="0" rtlCol="0" anchor="ctr"/>
          <a:lstStyle/>
          <a:p>
            <a:pPr marL="0" indent="0">
              <a:buNone/>
            </a:pPr>
            <a:r>
              <a:rPr lang="en-US" sz="1200" b="1" dirty="0">
                <a:solidFill>
                  <a:srgbClr val="C1352B"/>
                </a:solidFill>
                <a:latin typeface="Calibri" pitchFamily="34" charset="0"/>
                <a:ea typeface="Calibri" pitchFamily="34" charset="-122"/>
                <a:cs typeface="Calibri" pitchFamily="34" charset="-120"/>
              </a:rPr>
              <a:t>PIN-gated  </a:t>
            </a:r>
            <a:r>
              <a:rPr lang="en-US" sz="1200" dirty="0">
                <a:solidFill>
                  <a:srgbClr val="2B2422"/>
                </a:solidFill>
                <a:latin typeface="Calibri" pitchFamily="34" charset="0"/>
                <a:ea typeface="Calibri" pitchFamily="34" charset="-122"/>
                <a:cs typeface="Calibri" pitchFamily="34" charset="-120"/>
              </a:rPr>
              <a:t>— owner enters a 6-digit PIN to enter the console.</a:t>
            </a:r>
            <a:endParaRPr lang="en-US" sz="1200" dirty="0"/>
          </a:p>
        </p:txBody>
      </p:sp>
      <p:sp>
        <p:nvSpPr>
          <p:cNvPr id="20" name="Shape 13"/>
          <p:cNvSpPr/>
          <p:nvPr/>
        </p:nvSpPr>
        <p:spPr>
          <a:xfrm>
            <a:off x="5577840" y="1783080"/>
            <a:ext cx="6080760" cy="4434840"/>
          </a:xfrm>
          <a:prstGeom prst="roundRect">
            <a:avLst>
              <a:gd name="adj" fmla="val 1856"/>
            </a:avLst>
          </a:prstGeom>
          <a:solidFill>
            <a:srgbClr val="FFFFFF"/>
          </a:solidFill>
          <a:ln w="12700">
            <a:solidFill>
              <a:srgbClr val="E7DCCD"/>
            </a:solidFill>
            <a:prstDash val="solid"/>
          </a:ln>
          <a:effectLst>
            <a:outerShdw blurRad="88900" dist="38100" dir="5400000" algn="bl" rotWithShape="0">
              <a:srgbClr val="000000">
                <a:alpha val="16000"/>
              </a:srgbClr>
            </a:outerShdw>
          </a:effectLst>
        </p:spPr>
        <p:txBody>
          <a:bodyPr/>
          <a:lstStyle/>
          <a:p>
            <a:endParaRPr lang="en-IN"/>
          </a:p>
        </p:txBody>
      </p:sp>
      <p:sp>
        <p:nvSpPr>
          <p:cNvPr id="21" name="Shape 14"/>
          <p:cNvSpPr/>
          <p:nvPr/>
        </p:nvSpPr>
        <p:spPr>
          <a:xfrm>
            <a:off x="5577840" y="1783080"/>
            <a:ext cx="6080760" cy="384048"/>
          </a:xfrm>
          <a:prstGeom prst="roundRect">
            <a:avLst>
              <a:gd name="adj" fmla="val 21429"/>
            </a:avLst>
          </a:prstGeom>
          <a:solidFill>
            <a:srgbClr val="F3EBE0"/>
          </a:solidFill>
          <a:ln/>
        </p:spPr>
        <p:txBody>
          <a:bodyPr/>
          <a:lstStyle/>
          <a:p>
            <a:endParaRPr lang="en-IN"/>
          </a:p>
        </p:txBody>
      </p:sp>
      <p:sp>
        <p:nvSpPr>
          <p:cNvPr id="22" name="Shape 15"/>
          <p:cNvSpPr/>
          <p:nvPr/>
        </p:nvSpPr>
        <p:spPr>
          <a:xfrm>
            <a:off x="5577840" y="2057400"/>
            <a:ext cx="6080760" cy="109728"/>
          </a:xfrm>
          <a:prstGeom prst="rect">
            <a:avLst/>
          </a:prstGeom>
          <a:solidFill>
            <a:srgbClr val="F3EBE0"/>
          </a:solidFill>
          <a:ln/>
        </p:spPr>
        <p:txBody>
          <a:bodyPr/>
          <a:lstStyle/>
          <a:p>
            <a:endParaRPr lang="en-IN"/>
          </a:p>
        </p:txBody>
      </p:sp>
      <p:sp>
        <p:nvSpPr>
          <p:cNvPr id="23" name="Shape 16"/>
          <p:cNvSpPr/>
          <p:nvPr/>
        </p:nvSpPr>
        <p:spPr>
          <a:xfrm>
            <a:off x="5724144" y="1933956"/>
            <a:ext cx="82296" cy="82296"/>
          </a:xfrm>
          <a:prstGeom prst="ellipse">
            <a:avLst/>
          </a:prstGeom>
          <a:solidFill>
            <a:srgbClr val="E06C5E"/>
          </a:solidFill>
          <a:ln/>
        </p:spPr>
        <p:txBody>
          <a:bodyPr/>
          <a:lstStyle/>
          <a:p>
            <a:endParaRPr lang="en-IN"/>
          </a:p>
        </p:txBody>
      </p:sp>
      <p:sp>
        <p:nvSpPr>
          <p:cNvPr id="24" name="Shape 17"/>
          <p:cNvSpPr/>
          <p:nvPr/>
        </p:nvSpPr>
        <p:spPr>
          <a:xfrm>
            <a:off x="5888736" y="1933956"/>
            <a:ext cx="82296" cy="82296"/>
          </a:xfrm>
          <a:prstGeom prst="ellipse">
            <a:avLst/>
          </a:prstGeom>
          <a:solidFill>
            <a:srgbClr val="E8C15A"/>
          </a:solidFill>
          <a:ln/>
        </p:spPr>
        <p:txBody>
          <a:bodyPr/>
          <a:lstStyle/>
          <a:p>
            <a:endParaRPr lang="en-IN"/>
          </a:p>
        </p:txBody>
      </p:sp>
      <p:sp>
        <p:nvSpPr>
          <p:cNvPr id="25" name="Shape 18"/>
          <p:cNvSpPr/>
          <p:nvPr/>
        </p:nvSpPr>
        <p:spPr>
          <a:xfrm>
            <a:off x="6053328" y="1933956"/>
            <a:ext cx="82296" cy="82296"/>
          </a:xfrm>
          <a:prstGeom prst="ellipse">
            <a:avLst/>
          </a:prstGeom>
          <a:solidFill>
            <a:srgbClr val="7FB98B"/>
          </a:solidFill>
          <a:ln/>
        </p:spPr>
        <p:txBody>
          <a:bodyPr/>
          <a:lstStyle/>
          <a:p>
            <a:endParaRPr lang="en-IN"/>
          </a:p>
        </p:txBody>
      </p:sp>
      <p:sp>
        <p:nvSpPr>
          <p:cNvPr id="26" name="Shape 19"/>
          <p:cNvSpPr/>
          <p:nvPr/>
        </p:nvSpPr>
        <p:spPr>
          <a:xfrm>
            <a:off x="6291072" y="1856232"/>
            <a:ext cx="5166360" cy="237744"/>
          </a:xfrm>
          <a:prstGeom prst="roundRect">
            <a:avLst>
              <a:gd name="adj" fmla="val 23077"/>
            </a:avLst>
          </a:prstGeom>
          <a:solidFill>
            <a:srgbClr val="FFFFFF"/>
          </a:solidFill>
          <a:ln w="9525">
            <a:solidFill>
              <a:srgbClr val="E7DCCD"/>
            </a:solidFill>
            <a:prstDash val="solid"/>
          </a:ln>
        </p:spPr>
        <p:txBody>
          <a:bodyPr/>
          <a:lstStyle/>
          <a:p>
            <a:endParaRPr lang="en-IN"/>
          </a:p>
        </p:txBody>
      </p:sp>
      <p:pic>
        <p:nvPicPr>
          <p:cNvPr id="27" name="Image 5" descr="preencoded.png"/>
          <p:cNvPicPr>
            <a:picLocks noChangeAspect="1"/>
          </p:cNvPicPr>
          <p:nvPr/>
        </p:nvPicPr>
        <p:blipFill>
          <a:blip r:embed="rId8"/>
          <a:stretch>
            <a:fillRect/>
          </a:stretch>
        </p:blipFill>
        <p:spPr>
          <a:xfrm>
            <a:off x="6382512" y="1920240"/>
            <a:ext cx="109728" cy="109728"/>
          </a:xfrm>
          <a:prstGeom prst="rect">
            <a:avLst/>
          </a:prstGeom>
        </p:spPr>
      </p:pic>
      <p:sp>
        <p:nvSpPr>
          <p:cNvPr id="28" name="Text 20"/>
          <p:cNvSpPr/>
          <p:nvPr/>
        </p:nvSpPr>
        <p:spPr>
          <a:xfrm>
            <a:off x="6547104" y="1856232"/>
            <a:ext cx="4846320" cy="237744"/>
          </a:xfrm>
          <a:prstGeom prst="rect">
            <a:avLst/>
          </a:prstGeom>
          <a:noFill/>
          <a:ln/>
        </p:spPr>
        <p:txBody>
          <a:bodyPr wrap="square" lIns="0" tIns="0" rIns="0" bIns="0" rtlCol="0" anchor="ctr"/>
          <a:lstStyle/>
          <a:p>
            <a:pPr marL="0" indent="0" algn="l">
              <a:buNone/>
            </a:pPr>
            <a:r>
              <a:rPr lang="en-US" sz="950" dirty="0">
                <a:solidFill>
                  <a:srgbClr val="8A7E76"/>
                </a:solidFill>
                <a:latin typeface="Calibri" pitchFamily="34" charset="0"/>
                <a:ea typeface="Calibri" pitchFamily="34" charset="-122"/>
                <a:cs typeface="Calibri" pitchFamily="34" charset="-120"/>
              </a:rPr>
              <a:t>moulsai2296-pizzaflow-v2.hf.space</a:t>
            </a:r>
            <a:endParaRPr lang="en-US" sz="950" dirty="0"/>
          </a:p>
        </p:txBody>
      </p:sp>
      <p:sp>
        <p:nvSpPr>
          <p:cNvPr id="29" name="Shape 21"/>
          <p:cNvSpPr/>
          <p:nvPr/>
        </p:nvSpPr>
        <p:spPr>
          <a:xfrm>
            <a:off x="5632704" y="2221992"/>
            <a:ext cx="5971032" cy="3941064"/>
          </a:xfrm>
          <a:prstGeom prst="rect">
            <a:avLst/>
          </a:prstGeom>
          <a:solidFill>
            <a:srgbClr val="FBF6EF"/>
          </a:solidFill>
          <a:ln/>
        </p:spPr>
        <p:txBody>
          <a:bodyPr/>
          <a:lstStyle/>
          <a:p>
            <a:endParaRPr lang="en-IN"/>
          </a:p>
        </p:txBody>
      </p:sp>
      <p:pic>
        <p:nvPicPr>
          <p:cNvPr id="30" name="Image 6" descr="preencoded.png"/>
          <p:cNvPicPr>
            <a:picLocks noChangeAspect="1"/>
          </p:cNvPicPr>
          <p:nvPr/>
        </p:nvPicPr>
        <p:blipFill>
          <a:blip r:embed="rId9">
            <a:alphaModFix amt="70000"/>
          </a:blip>
          <a:stretch>
            <a:fillRect/>
          </a:stretch>
        </p:blipFill>
        <p:spPr>
          <a:xfrm>
            <a:off x="8362188" y="3625596"/>
            <a:ext cx="512064" cy="512064"/>
          </a:xfrm>
          <a:prstGeom prst="rect">
            <a:avLst/>
          </a:prstGeom>
        </p:spPr>
      </p:pic>
      <p:sp>
        <p:nvSpPr>
          <p:cNvPr id="31" name="Text 22"/>
          <p:cNvSpPr/>
          <p:nvPr/>
        </p:nvSpPr>
        <p:spPr>
          <a:xfrm>
            <a:off x="5852160" y="4229100"/>
            <a:ext cx="5532120" cy="274320"/>
          </a:xfrm>
          <a:prstGeom prst="rect">
            <a:avLst/>
          </a:prstGeom>
          <a:noFill/>
          <a:ln/>
        </p:spPr>
        <p:txBody>
          <a:bodyPr wrap="square" lIns="0" tIns="0" rIns="0" bIns="0" rtlCol="0" anchor="ctr"/>
          <a:lstStyle/>
          <a:p>
            <a:pPr marL="0" indent="0" algn="ctr">
              <a:buNone/>
            </a:pPr>
            <a:r>
              <a:rPr lang="en-US" sz="1100" b="1" dirty="0">
                <a:solidFill>
                  <a:srgbClr val="C1352B"/>
                </a:solidFill>
                <a:latin typeface="Calibri" pitchFamily="34" charset="0"/>
                <a:ea typeface="Calibri" pitchFamily="34" charset="-122"/>
                <a:cs typeface="Calibri" pitchFamily="34" charset="-120"/>
              </a:rPr>
              <a:t>Screenshot</a:t>
            </a:r>
            <a:endParaRPr lang="en-US" sz="1100" dirty="0"/>
          </a:p>
        </p:txBody>
      </p:sp>
      <p:sp>
        <p:nvSpPr>
          <p:cNvPr id="32" name="Text 23"/>
          <p:cNvSpPr/>
          <p:nvPr/>
        </p:nvSpPr>
        <p:spPr>
          <a:xfrm>
            <a:off x="5852160" y="4485132"/>
            <a:ext cx="5532120" cy="457200"/>
          </a:xfrm>
          <a:prstGeom prst="rect">
            <a:avLst/>
          </a:prstGeom>
          <a:noFill/>
          <a:ln/>
        </p:spPr>
        <p:txBody>
          <a:bodyPr wrap="square" lIns="0" tIns="0" rIns="0" bIns="0" rtlCol="0" anchor="ctr"/>
          <a:lstStyle/>
          <a:p>
            <a:pPr marL="0" indent="0" algn="ctr">
              <a:buNone/>
            </a:pPr>
            <a:r>
              <a:rPr lang="en-US" sz="1000" i="1" dirty="0">
                <a:solidFill>
                  <a:srgbClr val="8A7E76"/>
                </a:solidFill>
                <a:latin typeface="Calibri" pitchFamily="34" charset="0"/>
                <a:ea typeface="Calibri" pitchFamily="34" charset="-122"/>
                <a:cs typeface="Calibri" pitchFamily="34" charset="-120"/>
              </a:rPr>
              <a:t>Admin dropdown + PIN entry screen</a:t>
            </a:r>
            <a:endParaRPr lang="en-US" sz="1000" dirty="0"/>
          </a:p>
        </p:txBody>
      </p:sp>
      <p:sp>
        <p:nvSpPr>
          <p:cNvPr id="33" name="Text 24"/>
          <p:cNvSpPr/>
          <p:nvPr/>
        </p:nvSpPr>
        <p:spPr>
          <a:xfrm>
            <a:off x="502920" y="6473952"/>
            <a:ext cx="5486400" cy="274320"/>
          </a:xfrm>
          <a:prstGeom prst="rect">
            <a:avLst/>
          </a:prstGeom>
          <a:noFill/>
          <a:ln/>
        </p:spPr>
        <p:txBody>
          <a:bodyPr wrap="square" lIns="0" tIns="0" rIns="0" bIns="0" rtlCol="0" anchor="ctr"/>
          <a:lstStyle/>
          <a:p>
            <a:pPr marL="0" indent="0" algn="l">
              <a:buNone/>
            </a:pPr>
            <a:r>
              <a:rPr lang="en-US" sz="900" dirty="0">
                <a:solidFill>
                  <a:srgbClr val="8A7E76"/>
                </a:solidFill>
                <a:latin typeface="Calibri" pitchFamily="34" charset="0"/>
                <a:ea typeface="Calibri" pitchFamily="34" charset="-122"/>
                <a:cs typeface="Calibri" pitchFamily="34" charset="-120"/>
              </a:rPr>
              <a:t>SliceMatic · PizzaFlow MVP Demo</a:t>
            </a:r>
            <a:endParaRPr lang="en-US" sz="900" dirty="0"/>
          </a:p>
        </p:txBody>
      </p:sp>
      <p:sp>
        <p:nvSpPr>
          <p:cNvPr id="34" name="Text 25"/>
          <p:cNvSpPr/>
          <p:nvPr/>
        </p:nvSpPr>
        <p:spPr>
          <a:xfrm>
            <a:off x="11274552" y="6473952"/>
            <a:ext cx="411480" cy="274320"/>
          </a:xfrm>
          <a:prstGeom prst="rect">
            <a:avLst/>
          </a:prstGeom>
          <a:noFill/>
          <a:ln/>
        </p:spPr>
        <p:txBody>
          <a:bodyPr wrap="square" lIns="0" tIns="0" rIns="0" bIns="0" rtlCol="0" anchor="ctr"/>
          <a:lstStyle/>
          <a:p>
            <a:pPr marL="0" indent="0" algn="r">
              <a:buNone/>
            </a:pPr>
            <a:r>
              <a:rPr lang="en-US" sz="900" dirty="0">
                <a:solidFill>
                  <a:srgbClr val="8A7E76"/>
                </a:solidFill>
                <a:latin typeface="Calibri" pitchFamily="34" charset="0"/>
                <a:ea typeface="Calibri" pitchFamily="34" charset="-122"/>
                <a:cs typeface="Calibri" pitchFamily="34" charset="-120"/>
              </a:rPr>
              <a:t>12</a:t>
            </a:r>
            <a:endParaRPr lang="en-US" sz="900" dirty="0"/>
          </a:p>
        </p:txBody>
      </p:sp>
      <p:pic>
        <p:nvPicPr>
          <p:cNvPr id="36" name="Picture 35">
            <a:extLst>
              <a:ext uri="{FF2B5EF4-FFF2-40B4-BE49-F238E27FC236}">
                <a16:creationId xmlns:a16="http://schemas.microsoft.com/office/drawing/2014/main" id="{38651D79-DFC8-FA27-6568-2FBF5C8F83F0}"/>
              </a:ext>
            </a:extLst>
          </p:cNvPr>
          <p:cNvPicPr>
            <a:picLocks noChangeAspect="1"/>
          </p:cNvPicPr>
          <p:nvPr/>
        </p:nvPicPr>
        <p:blipFill>
          <a:blip r:embed="rId10"/>
          <a:stretch>
            <a:fillRect/>
          </a:stretch>
        </p:blipFill>
        <p:spPr>
          <a:xfrm>
            <a:off x="5577840" y="2167128"/>
            <a:ext cx="6080760" cy="4050792"/>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BF6EF"/>
        </a:solidFill>
        <a:effectLst/>
      </p:bgPr>
    </p:bg>
    <p:spTree>
      <p:nvGrpSpPr>
        <p:cNvPr id="1" name=""/>
        <p:cNvGrpSpPr/>
        <p:nvPr/>
      </p:nvGrpSpPr>
      <p:grpSpPr>
        <a:xfrm>
          <a:off x="0" y="0"/>
          <a:ext cx="0" cy="0"/>
          <a:chOff x="0" y="0"/>
          <a:chExt cx="0" cy="0"/>
        </a:xfrm>
      </p:grpSpPr>
      <p:sp>
        <p:nvSpPr>
          <p:cNvPr id="2" name="Text 0"/>
          <p:cNvSpPr/>
          <p:nvPr/>
        </p:nvSpPr>
        <p:spPr>
          <a:xfrm>
            <a:off x="502920" y="457200"/>
            <a:ext cx="8229600" cy="274320"/>
          </a:xfrm>
          <a:prstGeom prst="rect">
            <a:avLst/>
          </a:prstGeom>
          <a:noFill/>
          <a:ln/>
        </p:spPr>
        <p:txBody>
          <a:bodyPr wrap="square" lIns="0" tIns="0" rIns="0" bIns="0" rtlCol="0" anchor="ctr"/>
          <a:lstStyle/>
          <a:p>
            <a:pPr marL="0" indent="0">
              <a:buNone/>
            </a:pPr>
            <a:r>
              <a:rPr lang="en-US" sz="1200" b="1" kern="0" spc="300" dirty="0">
                <a:solidFill>
                  <a:srgbClr val="C1352B"/>
                </a:solidFill>
                <a:latin typeface="Calibri" pitchFamily="34" charset="0"/>
                <a:ea typeface="Calibri" pitchFamily="34" charset="-122"/>
                <a:cs typeface="Calibri" pitchFamily="34" charset="-120"/>
              </a:rPr>
              <a:t>ADMIN · MENU &amp; PRICING</a:t>
            </a:r>
            <a:endParaRPr lang="en-US" sz="1200" dirty="0"/>
          </a:p>
        </p:txBody>
      </p:sp>
      <p:sp>
        <p:nvSpPr>
          <p:cNvPr id="3" name="Text 1"/>
          <p:cNvSpPr/>
          <p:nvPr/>
        </p:nvSpPr>
        <p:spPr>
          <a:xfrm>
            <a:off x="475488" y="749808"/>
            <a:ext cx="10515600" cy="685800"/>
          </a:xfrm>
          <a:prstGeom prst="rect">
            <a:avLst/>
          </a:prstGeom>
          <a:noFill/>
          <a:ln/>
        </p:spPr>
        <p:txBody>
          <a:bodyPr wrap="square" lIns="0" tIns="0" rIns="0" bIns="0" rtlCol="0" anchor="ctr"/>
          <a:lstStyle/>
          <a:p>
            <a:pPr marL="0" indent="0">
              <a:buNone/>
            </a:pPr>
            <a:r>
              <a:rPr lang="en-US" sz="3300" b="1" dirty="0">
                <a:solidFill>
                  <a:srgbClr val="2B2422"/>
                </a:solidFill>
                <a:latin typeface="Cambria" pitchFamily="34" charset="0"/>
                <a:ea typeface="Cambria" pitchFamily="34" charset="-122"/>
                <a:cs typeface="Cambria" pitchFamily="34" charset="-120"/>
              </a:rPr>
              <a:t>Owner controls the menu &amp; the discount</a:t>
            </a:r>
            <a:endParaRPr lang="en-US" sz="3300" dirty="0"/>
          </a:p>
        </p:txBody>
      </p:sp>
      <p:sp>
        <p:nvSpPr>
          <p:cNvPr id="4" name="Shape 2"/>
          <p:cNvSpPr/>
          <p:nvPr/>
        </p:nvSpPr>
        <p:spPr>
          <a:xfrm>
            <a:off x="548640" y="1874520"/>
            <a:ext cx="402336" cy="402336"/>
          </a:xfrm>
          <a:prstGeom prst="ellipse">
            <a:avLst/>
          </a:prstGeom>
          <a:solidFill>
            <a:srgbClr val="F3EBE0"/>
          </a:solidFill>
          <a:ln/>
        </p:spPr>
        <p:txBody>
          <a:bodyPr/>
          <a:lstStyle/>
          <a:p>
            <a:endParaRPr lang="en-IN"/>
          </a:p>
        </p:txBody>
      </p:sp>
      <p:pic>
        <p:nvPicPr>
          <p:cNvPr id="5" name="Image 0" descr="preencoded.png"/>
          <p:cNvPicPr>
            <a:picLocks noChangeAspect="1"/>
          </p:cNvPicPr>
          <p:nvPr/>
        </p:nvPicPr>
        <p:blipFill>
          <a:blip r:embed="rId3"/>
          <a:stretch>
            <a:fillRect/>
          </a:stretch>
        </p:blipFill>
        <p:spPr>
          <a:xfrm>
            <a:off x="649224" y="1975104"/>
            <a:ext cx="201168" cy="201168"/>
          </a:xfrm>
          <a:prstGeom prst="rect">
            <a:avLst/>
          </a:prstGeom>
        </p:spPr>
      </p:pic>
      <p:sp>
        <p:nvSpPr>
          <p:cNvPr id="6" name="Text 3"/>
          <p:cNvSpPr/>
          <p:nvPr/>
        </p:nvSpPr>
        <p:spPr>
          <a:xfrm>
            <a:off x="1060704" y="1819656"/>
            <a:ext cx="4114800" cy="731520"/>
          </a:xfrm>
          <a:prstGeom prst="rect">
            <a:avLst/>
          </a:prstGeom>
          <a:noFill/>
          <a:ln/>
        </p:spPr>
        <p:txBody>
          <a:bodyPr wrap="square" lIns="0" tIns="0" rIns="0" bIns="0" rtlCol="0" anchor="t"/>
          <a:lstStyle/>
          <a:p>
            <a:pPr marL="0" indent="0">
              <a:lnSpc>
                <a:spcPct val="102000"/>
              </a:lnSpc>
              <a:buNone/>
            </a:pPr>
            <a:r>
              <a:rPr lang="en-US" sz="1250" b="1" dirty="0">
                <a:solidFill>
                  <a:srgbClr val="2B2422"/>
                </a:solidFill>
                <a:latin typeface="Calibri" pitchFamily="34" charset="0"/>
                <a:ea typeface="Calibri" pitchFamily="34" charset="-122"/>
                <a:cs typeface="Calibri" pitchFamily="34" charset="-120"/>
              </a:rPr>
              <a:t>Edit the menu  </a:t>
            </a:r>
            <a:r>
              <a:rPr lang="en-US" sz="1250" dirty="0">
                <a:solidFill>
                  <a:srgbClr val="8A7E76"/>
                </a:solidFill>
                <a:latin typeface="Calibri" pitchFamily="34" charset="0"/>
                <a:ea typeface="Calibri" pitchFamily="34" charset="-122"/>
                <a:cs typeface="Calibri" pitchFamily="34" charset="-120"/>
              </a:rPr>
              <a:t>add, rename or re-price any base, pizza or topping — no developer, no redeploy.</a:t>
            </a:r>
            <a:endParaRPr lang="en-US" sz="1250" dirty="0"/>
          </a:p>
        </p:txBody>
      </p:sp>
      <p:sp>
        <p:nvSpPr>
          <p:cNvPr id="7" name="Shape 4"/>
          <p:cNvSpPr/>
          <p:nvPr/>
        </p:nvSpPr>
        <p:spPr>
          <a:xfrm>
            <a:off x="548640" y="2770632"/>
            <a:ext cx="402336" cy="402336"/>
          </a:xfrm>
          <a:prstGeom prst="ellipse">
            <a:avLst/>
          </a:prstGeom>
          <a:solidFill>
            <a:srgbClr val="F3EBE0"/>
          </a:solidFill>
          <a:ln/>
        </p:spPr>
        <p:txBody>
          <a:bodyPr/>
          <a:lstStyle/>
          <a:p>
            <a:endParaRPr lang="en-IN"/>
          </a:p>
        </p:txBody>
      </p:sp>
      <p:pic>
        <p:nvPicPr>
          <p:cNvPr id="8" name="Image 1" descr="preencoded.png"/>
          <p:cNvPicPr>
            <a:picLocks noChangeAspect="1"/>
          </p:cNvPicPr>
          <p:nvPr/>
        </p:nvPicPr>
        <p:blipFill>
          <a:blip r:embed="rId4"/>
          <a:stretch>
            <a:fillRect/>
          </a:stretch>
        </p:blipFill>
        <p:spPr>
          <a:xfrm>
            <a:off x="649224" y="2871216"/>
            <a:ext cx="201168" cy="201168"/>
          </a:xfrm>
          <a:prstGeom prst="rect">
            <a:avLst/>
          </a:prstGeom>
        </p:spPr>
      </p:pic>
      <p:sp>
        <p:nvSpPr>
          <p:cNvPr id="9" name="Text 5"/>
          <p:cNvSpPr/>
          <p:nvPr/>
        </p:nvSpPr>
        <p:spPr>
          <a:xfrm>
            <a:off x="1060704" y="2715768"/>
            <a:ext cx="4114800" cy="731520"/>
          </a:xfrm>
          <a:prstGeom prst="rect">
            <a:avLst/>
          </a:prstGeom>
          <a:noFill/>
          <a:ln/>
        </p:spPr>
        <p:txBody>
          <a:bodyPr wrap="square" lIns="0" tIns="0" rIns="0" bIns="0" rtlCol="0" anchor="t"/>
          <a:lstStyle/>
          <a:p>
            <a:pPr marL="0" indent="0">
              <a:lnSpc>
                <a:spcPct val="102000"/>
              </a:lnSpc>
              <a:buNone/>
            </a:pPr>
            <a:r>
              <a:rPr lang="en-US" sz="1250" b="1" dirty="0">
                <a:solidFill>
                  <a:srgbClr val="2B2422"/>
                </a:solidFill>
                <a:latin typeface="Calibri" pitchFamily="34" charset="0"/>
                <a:ea typeface="Calibri" pitchFamily="34" charset="-122"/>
                <a:cs typeface="Calibri" pitchFamily="34" charset="-120"/>
              </a:rPr>
              <a:t>Set the discount %  </a:t>
            </a:r>
            <a:r>
              <a:rPr lang="en-US" sz="1250" dirty="0">
                <a:solidFill>
                  <a:srgbClr val="8A7E76"/>
                </a:solidFill>
                <a:latin typeface="Calibri" pitchFamily="34" charset="0"/>
                <a:ea typeface="Calibri" pitchFamily="34" charset="-122"/>
                <a:cs typeface="Calibri" pitchFamily="34" charset="-120"/>
              </a:rPr>
              <a:t>the owner chooses the bulk-discount rate (e.g. 10%).</a:t>
            </a:r>
            <a:endParaRPr lang="en-US" sz="1250" dirty="0"/>
          </a:p>
        </p:txBody>
      </p:sp>
      <p:sp>
        <p:nvSpPr>
          <p:cNvPr id="10" name="Shape 6"/>
          <p:cNvSpPr/>
          <p:nvPr/>
        </p:nvSpPr>
        <p:spPr>
          <a:xfrm>
            <a:off x="548640" y="3666744"/>
            <a:ext cx="402336" cy="402336"/>
          </a:xfrm>
          <a:prstGeom prst="ellipse">
            <a:avLst/>
          </a:prstGeom>
          <a:solidFill>
            <a:srgbClr val="F3EBE0"/>
          </a:solidFill>
          <a:ln/>
        </p:spPr>
        <p:txBody>
          <a:bodyPr/>
          <a:lstStyle/>
          <a:p>
            <a:endParaRPr lang="en-IN"/>
          </a:p>
        </p:txBody>
      </p:sp>
      <p:pic>
        <p:nvPicPr>
          <p:cNvPr id="11" name="Image 2" descr="preencoded.png"/>
          <p:cNvPicPr>
            <a:picLocks noChangeAspect="1"/>
          </p:cNvPicPr>
          <p:nvPr/>
        </p:nvPicPr>
        <p:blipFill>
          <a:blip r:embed="rId5"/>
          <a:stretch>
            <a:fillRect/>
          </a:stretch>
        </p:blipFill>
        <p:spPr>
          <a:xfrm>
            <a:off x="649224" y="3767328"/>
            <a:ext cx="201168" cy="201168"/>
          </a:xfrm>
          <a:prstGeom prst="rect">
            <a:avLst/>
          </a:prstGeom>
        </p:spPr>
      </p:pic>
      <p:sp>
        <p:nvSpPr>
          <p:cNvPr id="12" name="Text 7"/>
          <p:cNvSpPr/>
          <p:nvPr/>
        </p:nvSpPr>
        <p:spPr>
          <a:xfrm>
            <a:off x="1060704" y="3611880"/>
            <a:ext cx="4114800" cy="731520"/>
          </a:xfrm>
          <a:prstGeom prst="rect">
            <a:avLst/>
          </a:prstGeom>
          <a:noFill/>
          <a:ln/>
        </p:spPr>
        <p:txBody>
          <a:bodyPr wrap="square" lIns="0" tIns="0" rIns="0" bIns="0" rtlCol="0" anchor="t"/>
          <a:lstStyle/>
          <a:p>
            <a:pPr marL="0" indent="0">
              <a:lnSpc>
                <a:spcPct val="102000"/>
              </a:lnSpc>
              <a:buNone/>
            </a:pPr>
            <a:r>
              <a:rPr lang="en-US" sz="1250" b="1" dirty="0">
                <a:solidFill>
                  <a:srgbClr val="2B2422"/>
                </a:solidFill>
                <a:latin typeface="Calibri" pitchFamily="34" charset="0"/>
                <a:ea typeface="Calibri" pitchFamily="34" charset="-122"/>
                <a:cs typeface="Calibri" pitchFamily="34" charset="-120"/>
              </a:rPr>
              <a:t>Set the threshold  </a:t>
            </a:r>
            <a:r>
              <a:rPr lang="en-US" sz="1250" dirty="0">
                <a:solidFill>
                  <a:srgbClr val="8A7E76"/>
                </a:solidFill>
                <a:latin typeface="Calibri" pitchFamily="34" charset="0"/>
                <a:ea typeface="Calibri" pitchFamily="34" charset="-122"/>
                <a:cs typeface="Calibri" pitchFamily="34" charset="-120"/>
              </a:rPr>
              <a:t>choose the quantity at which the discount kicks in (e.g. ≥ 5).</a:t>
            </a:r>
            <a:endParaRPr lang="en-US" sz="1250" dirty="0"/>
          </a:p>
        </p:txBody>
      </p:sp>
      <p:sp>
        <p:nvSpPr>
          <p:cNvPr id="13" name="Shape 8"/>
          <p:cNvSpPr/>
          <p:nvPr/>
        </p:nvSpPr>
        <p:spPr>
          <a:xfrm>
            <a:off x="548640" y="4562856"/>
            <a:ext cx="402336" cy="402336"/>
          </a:xfrm>
          <a:prstGeom prst="ellipse">
            <a:avLst/>
          </a:prstGeom>
          <a:solidFill>
            <a:srgbClr val="F3EBE0"/>
          </a:solidFill>
          <a:ln/>
        </p:spPr>
        <p:txBody>
          <a:bodyPr/>
          <a:lstStyle/>
          <a:p>
            <a:endParaRPr lang="en-IN"/>
          </a:p>
        </p:txBody>
      </p:sp>
      <p:pic>
        <p:nvPicPr>
          <p:cNvPr id="14" name="Image 3" descr="preencoded.png"/>
          <p:cNvPicPr>
            <a:picLocks noChangeAspect="1"/>
          </p:cNvPicPr>
          <p:nvPr/>
        </p:nvPicPr>
        <p:blipFill>
          <a:blip r:embed="rId6"/>
          <a:stretch>
            <a:fillRect/>
          </a:stretch>
        </p:blipFill>
        <p:spPr>
          <a:xfrm>
            <a:off x="649224" y="4663440"/>
            <a:ext cx="201168" cy="201168"/>
          </a:xfrm>
          <a:prstGeom prst="rect">
            <a:avLst/>
          </a:prstGeom>
        </p:spPr>
      </p:pic>
      <p:sp>
        <p:nvSpPr>
          <p:cNvPr id="15" name="Text 9"/>
          <p:cNvSpPr/>
          <p:nvPr/>
        </p:nvSpPr>
        <p:spPr>
          <a:xfrm>
            <a:off x="1060704" y="4507992"/>
            <a:ext cx="4114800" cy="731520"/>
          </a:xfrm>
          <a:prstGeom prst="rect">
            <a:avLst/>
          </a:prstGeom>
          <a:noFill/>
          <a:ln/>
        </p:spPr>
        <p:txBody>
          <a:bodyPr wrap="square" lIns="0" tIns="0" rIns="0" bIns="0" rtlCol="0" anchor="t"/>
          <a:lstStyle/>
          <a:p>
            <a:pPr marL="0" indent="0">
              <a:lnSpc>
                <a:spcPct val="102000"/>
              </a:lnSpc>
              <a:buNone/>
            </a:pPr>
            <a:r>
              <a:rPr lang="en-US" sz="1250" b="1" dirty="0">
                <a:solidFill>
                  <a:srgbClr val="2B2422"/>
                </a:solidFill>
                <a:latin typeface="Calibri" pitchFamily="34" charset="0"/>
                <a:ea typeface="Calibri" pitchFamily="34" charset="-122"/>
                <a:cs typeface="Calibri" pitchFamily="34" charset="-120"/>
              </a:rPr>
              <a:t>Engine stays deterministic  </a:t>
            </a:r>
            <a:r>
              <a:rPr lang="en-US" sz="1250" dirty="0">
                <a:solidFill>
                  <a:srgbClr val="8A7E76"/>
                </a:solidFill>
                <a:latin typeface="Calibri" pitchFamily="34" charset="0"/>
                <a:ea typeface="Calibri" pitchFamily="34" charset="-122"/>
                <a:cs typeface="Calibri" pitchFamily="34" charset="-120"/>
              </a:rPr>
              <a:t>changes flow straight into the same pricing engine.</a:t>
            </a:r>
            <a:endParaRPr lang="en-US" sz="1250" dirty="0"/>
          </a:p>
        </p:txBody>
      </p:sp>
      <p:sp>
        <p:nvSpPr>
          <p:cNvPr id="16" name="Shape 10"/>
          <p:cNvSpPr/>
          <p:nvPr/>
        </p:nvSpPr>
        <p:spPr>
          <a:xfrm>
            <a:off x="5577840" y="1783080"/>
            <a:ext cx="6080760" cy="4434840"/>
          </a:xfrm>
          <a:prstGeom prst="roundRect">
            <a:avLst>
              <a:gd name="adj" fmla="val 1856"/>
            </a:avLst>
          </a:prstGeom>
          <a:solidFill>
            <a:srgbClr val="FFFFFF"/>
          </a:solidFill>
          <a:ln w="12700">
            <a:solidFill>
              <a:srgbClr val="E7DCCD"/>
            </a:solidFill>
            <a:prstDash val="solid"/>
          </a:ln>
          <a:effectLst>
            <a:outerShdw blurRad="88900" dist="38100" dir="5400000" algn="bl" rotWithShape="0">
              <a:srgbClr val="000000">
                <a:alpha val="16000"/>
              </a:srgbClr>
            </a:outerShdw>
          </a:effectLst>
        </p:spPr>
        <p:txBody>
          <a:bodyPr/>
          <a:lstStyle/>
          <a:p>
            <a:endParaRPr lang="en-IN"/>
          </a:p>
        </p:txBody>
      </p:sp>
      <p:sp>
        <p:nvSpPr>
          <p:cNvPr id="17" name="Shape 11"/>
          <p:cNvSpPr/>
          <p:nvPr/>
        </p:nvSpPr>
        <p:spPr>
          <a:xfrm>
            <a:off x="5577840" y="1783080"/>
            <a:ext cx="6080760" cy="384048"/>
          </a:xfrm>
          <a:prstGeom prst="roundRect">
            <a:avLst>
              <a:gd name="adj" fmla="val 21429"/>
            </a:avLst>
          </a:prstGeom>
          <a:solidFill>
            <a:srgbClr val="F3EBE0"/>
          </a:solidFill>
          <a:ln/>
        </p:spPr>
        <p:txBody>
          <a:bodyPr/>
          <a:lstStyle/>
          <a:p>
            <a:endParaRPr lang="en-IN"/>
          </a:p>
        </p:txBody>
      </p:sp>
      <p:sp>
        <p:nvSpPr>
          <p:cNvPr id="18" name="Shape 12"/>
          <p:cNvSpPr/>
          <p:nvPr/>
        </p:nvSpPr>
        <p:spPr>
          <a:xfrm>
            <a:off x="5577840" y="2057400"/>
            <a:ext cx="6080760" cy="109728"/>
          </a:xfrm>
          <a:prstGeom prst="rect">
            <a:avLst/>
          </a:prstGeom>
          <a:solidFill>
            <a:srgbClr val="F3EBE0"/>
          </a:solidFill>
          <a:ln/>
        </p:spPr>
        <p:txBody>
          <a:bodyPr/>
          <a:lstStyle/>
          <a:p>
            <a:endParaRPr lang="en-IN"/>
          </a:p>
        </p:txBody>
      </p:sp>
      <p:sp>
        <p:nvSpPr>
          <p:cNvPr id="19" name="Shape 13"/>
          <p:cNvSpPr/>
          <p:nvPr/>
        </p:nvSpPr>
        <p:spPr>
          <a:xfrm>
            <a:off x="5724144" y="1933956"/>
            <a:ext cx="82296" cy="82296"/>
          </a:xfrm>
          <a:prstGeom prst="ellipse">
            <a:avLst/>
          </a:prstGeom>
          <a:solidFill>
            <a:srgbClr val="E06C5E"/>
          </a:solidFill>
          <a:ln/>
        </p:spPr>
        <p:txBody>
          <a:bodyPr/>
          <a:lstStyle/>
          <a:p>
            <a:endParaRPr lang="en-IN"/>
          </a:p>
        </p:txBody>
      </p:sp>
      <p:sp>
        <p:nvSpPr>
          <p:cNvPr id="20" name="Shape 14"/>
          <p:cNvSpPr/>
          <p:nvPr/>
        </p:nvSpPr>
        <p:spPr>
          <a:xfrm>
            <a:off x="5888736" y="1933956"/>
            <a:ext cx="82296" cy="82296"/>
          </a:xfrm>
          <a:prstGeom prst="ellipse">
            <a:avLst/>
          </a:prstGeom>
          <a:solidFill>
            <a:srgbClr val="E8C15A"/>
          </a:solidFill>
          <a:ln/>
        </p:spPr>
        <p:txBody>
          <a:bodyPr/>
          <a:lstStyle/>
          <a:p>
            <a:endParaRPr lang="en-IN"/>
          </a:p>
        </p:txBody>
      </p:sp>
      <p:sp>
        <p:nvSpPr>
          <p:cNvPr id="21" name="Shape 15"/>
          <p:cNvSpPr/>
          <p:nvPr/>
        </p:nvSpPr>
        <p:spPr>
          <a:xfrm>
            <a:off x="6053328" y="1933956"/>
            <a:ext cx="82296" cy="82296"/>
          </a:xfrm>
          <a:prstGeom prst="ellipse">
            <a:avLst/>
          </a:prstGeom>
          <a:solidFill>
            <a:srgbClr val="7FB98B"/>
          </a:solidFill>
          <a:ln/>
        </p:spPr>
        <p:txBody>
          <a:bodyPr/>
          <a:lstStyle/>
          <a:p>
            <a:endParaRPr lang="en-IN"/>
          </a:p>
        </p:txBody>
      </p:sp>
      <p:sp>
        <p:nvSpPr>
          <p:cNvPr id="22" name="Shape 16"/>
          <p:cNvSpPr/>
          <p:nvPr/>
        </p:nvSpPr>
        <p:spPr>
          <a:xfrm>
            <a:off x="6291072" y="1856232"/>
            <a:ext cx="5166360" cy="237744"/>
          </a:xfrm>
          <a:prstGeom prst="roundRect">
            <a:avLst>
              <a:gd name="adj" fmla="val 23077"/>
            </a:avLst>
          </a:prstGeom>
          <a:solidFill>
            <a:srgbClr val="FFFFFF"/>
          </a:solidFill>
          <a:ln w="9525">
            <a:solidFill>
              <a:srgbClr val="E7DCCD"/>
            </a:solidFill>
            <a:prstDash val="solid"/>
          </a:ln>
        </p:spPr>
        <p:txBody>
          <a:bodyPr/>
          <a:lstStyle/>
          <a:p>
            <a:endParaRPr lang="en-IN"/>
          </a:p>
        </p:txBody>
      </p:sp>
      <p:pic>
        <p:nvPicPr>
          <p:cNvPr id="23" name="Image 4" descr="preencoded.png"/>
          <p:cNvPicPr>
            <a:picLocks noChangeAspect="1"/>
          </p:cNvPicPr>
          <p:nvPr/>
        </p:nvPicPr>
        <p:blipFill>
          <a:blip r:embed="rId7"/>
          <a:stretch>
            <a:fillRect/>
          </a:stretch>
        </p:blipFill>
        <p:spPr>
          <a:xfrm>
            <a:off x="6382512" y="1920240"/>
            <a:ext cx="109728" cy="109728"/>
          </a:xfrm>
          <a:prstGeom prst="rect">
            <a:avLst/>
          </a:prstGeom>
        </p:spPr>
      </p:pic>
      <p:sp>
        <p:nvSpPr>
          <p:cNvPr id="24" name="Text 17"/>
          <p:cNvSpPr/>
          <p:nvPr/>
        </p:nvSpPr>
        <p:spPr>
          <a:xfrm>
            <a:off x="6547104" y="1856232"/>
            <a:ext cx="4846320" cy="237744"/>
          </a:xfrm>
          <a:prstGeom prst="rect">
            <a:avLst/>
          </a:prstGeom>
          <a:noFill/>
          <a:ln/>
        </p:spPr>
        <p:txBody>
          <a:bodyPr wrap="square" lIns="0" tIns="0" rIns="0" bIns="0" rtlCol="0" anchor="ctr"/>
          <a:lstStyle/>
          <a:p>
            <a:pPr marL="0" indent="0" algn="l">
              <a:buNone/>
            </a:pPr>
            <a:r>
              <a:rPr lang="en-US" sz="950" dirty="0">
                <a:solidFill>
                  <a:srgbClr val="8A7E76"/>
                </a:solidFill>
                <a:latin typeface="Calibri" pitchFamily="34" charset="0"/>
                <a:ea typeface="Calibri" pitchFamily="34" charset="-122"/>
                <a:cs typeface="Calibri" pitchFamily="34" charset="-120"/>
              </a:rPr>
              <a:t>moulsai2296-pizzaflow-v2.hf.space</a:t>
            </a:r>
            <a:endParaRPr lang="en-US" sz="950" dirty="0"/>
          </a:p>
        </p:txBody>
      </p:sp>
      <p:sp>
        <p:nvSpPr>
          <p:cNvPr id="27" name="Text 19"/>
          <p:cNvSpPr/>
          <p:nvPr/>
        </p:nvSpPr>
        <p:spPr>
          <a:xfrm>
            <a:off x="5852160" y="4229100"/>
            <a:ext cx="5532120" cy="274320"/>
          </a:xfrm>
          <a:prstGeom prst="rect">
            <a:avLst/>
          </a:prstGeom>
          <a:noFill/>
          <a:ln/>
        </p:spPr>
        <p:txBody>
          <a:bodyPr wrap="square" lIns="0" tIns="0" rIns="0" bIns="0" rtlCol="0" anchor="ctr"/>
          <a:lstStyle/>
          <a:p>
            <a:pPr marL="0" indent="0" algn="ctr">
              <a:buNone/>
            </a:pPr>
            <a:r>
              <a:rPr lang="en-US" sz="1100" b="1" dirty="0">
                <a:solidFill>
                  <a:srgbClr val="C1352B"/>
                </a:solidFill>
                <a:latin typeface="Calibri" pitchFamily="34" charset="0"/>
                <a:ea typeface="Calibri" pitchFamily="34" charset="-122"/>
                <a:cs typeface="Calibri" pitchFamily="34" charset="-120"/>
              </a:rPr>
              <a:t>Screenshot</a:t>
            </a:r>
            <a:endParaRPr lang="en-US" sz="1100" dirty="0"/>
          </a:p>
        </p:txBody>
      </p:sp>
      <p:sp>
        <p:nvSpPr>
          <p:cNvPr id="28" name="Text 20"/>
          <p:cNvSpPr/>
          <p:nvPr/>
        </p:nvSpPr>
        <p:spPr>
          <a:xfrm>
            <a:off x="5852160" y="4485132"/>
            <a:ext cx="5532120" cy="457200"/>
          </a:xfrm>
          <a:prstGeom prst="rect">
            <a:avLst/>
          </a:prstGeom>
          <a:noFill/>
          <a:ln/>
        </p:spPr>
        <p:txBody>
          <a:bodyPr wrap="square" lIns="0" tIns="0" rIns="0" bIns="0" rtlCol="0" anchor="ctr"/>
          <a:lstStyle/>
          <a:p>
            <a:pPr marL="0" indent="0" algn="ctr">
              <a:buNone/>
            </a:pPr>
            <a:r>
              <a:rPr lang="en-US" sz="1000" i="1" dirty="0">
                <a:solidFill>
                  <a:srgbClr val="8A7E76"/>
                </a:solidFill>
                <a:latin typeface="Calibri" pitchFamily="34" charset="0"/>
                <a:ea typeface="Calibri" pitchFamily="34" charset="-122"/>
                <a:cs typeface="Calibri" pitchFamily="34" charset="-120"/>
              </a:rPr>
              <a:t>Admin menu editor + discount % and quantity-threshold controls</a:t>
            </a:r>
            <a:endParaRPr lang="en-US" sz="1000" dirty="0"/>
          </a:p>
        </p:txBody>
      </p:sp>
      <p:sp>
        <p:nvSpPr>
          <p:cNvPr id="29" name="Text 21"/>
          <p:cNvSpPr/>
          <p:nvPr/>
        </p:nvSpPr>
        <p:spPr>
          <a:xfrm>
            <a:off x="502920" y="6473952"/>
            <a:ext cx="5486400" cy="274320"/>
          </a:xfrm>
          <a:prstGeom prst="rect">
            <a:avLst/>
          </a:prstGeom>
          <a:noFill/>
          <a:ln/>
        </p:spPr>
        <p:txBody>
          <a:bodyPr wrap="square" lIns="0" tIns="0" rIns="0" bIns="0" rtlCol="0" anchor="ctr"/>
          <a:lstStyle/>
          <a:p>
            <a:pPr marL="0" indent="0" algn="l">
              <a:buNone/>
            </a:pPr>
            <a:r>
              <a:rPr lang="en-US" sz="900" dirty="0">
                <a:solidFill>
                  <a:srgbClr val="8A7E76"/>
                </a:solidFill>
                <a:latin typeface="Calibri" pitchFamily="34" charset="0"/>
                <a:ea typeface="Calibri" pitchFamily="34" charset="-122"/>
                <a:cs typeface="Calibri" pitchFamily="34" charset="-120"/>
              </a:rPr>
              <a:t>SliceMatic · PizzaFlow MVP Demo</a:t>
            </a:r>
            <a:endParaRPr lang="en-US" sz="900" dirty="0"/>
          </a:p>
        </p:txBody>
      </p:sp>
      <p:sp>
        <p:nvSpPr>
          <p:cNvPr id="30" name="Text 22"/>
          <p:cNvSpPr/>
          <p:nvPr/>
        </p:nvSpPr>
        <p:spPr>
          <a:xfrm>
            <a:off x="11274552" y="6473952"/>
            <a:ext cx="411480" cy="274320"/>
          </a:xfrm>
          <a:prstGeom prst="rect">
            <a:avLst/>
          </a:prstGeom>
          <a:noFill/>
          <a:ln/>
        </p:spPr>
        <p:txBody>
          <a:bodyPr wrap="square" lIns="0" tIns="0" rIns="0" bIns="0" rtlCol="0" anchor="ctr"/>
          <a:lstStyle/>
          <a:p>
            <a:pPr marL="0" indent="0" algn="r">
              <a:buNone/>
            </a:pPr>
            <a:r>
              <a:rPr lang="en-US" sz="900" dirty="0">
                <a:solidFill>
                  <a:srgbClr val="8A7E76"/>
                </a:solidFill>
                <a:latin typeface="Calibri" pitchFamily="34" charset="0"/>
                <a:ea typeface="Calibri" pitchFamily="34" charset="-122"/>
                <a:cs typeface="Calibri" pitchFamily="34" charset="-120"/>
              </a:rPr>
              <a:t>13</a:t>
            </a:r>
            <a:endParaRPr lang="en-US" sz="900" dirty="0"/>
          </a:p>
        </p:txBody>
      </p:sp>
      <p:pic>
        <p:nvPicPr>
          <p:cNvPr id="36" name="Picture 35">
            <a:extLst>
              <a:ext uri="{FF2B5EF4-FFF2-40B4-BE49-F238E27FC236}">
                <a16:creationId xmlns:a16="http://schemas.microsoft.com/office/drawing/2014/main" id="{BAB35D66-5169-E4DE-6435-4003C309A6CA}"/>
              </a:ext>
            </a:extLst>
          </p:cNvPr>
          <p:cNvPicPr>
            <a:picLocks noChangeAspect="1"/>
          </p:cNvPicPr>
          <p:nvPr/>
        </p:nvPicPr>
        <p:blipFill>
          <a:blip r:embed="rId8"/>
          <a:stretch>
            <a:fillRect/>
          </a:stretch>
        </p:blipFill>
        <p:spPr>
          <a:xfrm>
            <a:off x="5632704" y="4160520"/>
            <a:ext cx="5971032" cy="1973489"/>
          </a:xfrm>
          <a:prstGeom prst="rect">
            <a:avLst/>
          </a:prstGeom>
        </p:spPr>
      </p:pic>
      <p:pic>
        <p:nvPicPr>
          <p:cNvPr id="38" name="Picture 37">
            <a:extLst>
              <a:ext uri="{FF2B5EF4-FFF2-40B4-BE49-F238E27FC236}">
                <a16:creationId xmlns:a16="http://schemas.microsoft.com/office/drawing/2014/main" id="{7D990A3A-453E-5A26-63DA-371447649D5F}"/>
              </a:ext>
            </a:extLst>
          </p:cNvPr>
          <p:cNvPicPr>
            <a:picLocks noChangeAspect="1"/>
          </p:cNvPicPr>
          <p:nvPr/>
        </p:nvPicPr>
        <p:blipFill>
          <a:blip r:embed="rId9"/>
          <a:stretch>
            <a:fillRect/>
          </a:stretch>
        </p:blipFill>
        <p:spPr>
          <a:xfrm>
            <a:off x="5632704" y="2148944"/>
            <a:ext cx="5971032" cy="1893783"/>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BF6EF"/>
        </a:solidFill>
        <a:effectLst/>
      </p:bgPr>
    </p:bg>
    <p:spTree>
      <p:nvGrpSpPr>
        <p:cNvPr id="1" name=""/>
        <p:cNvGrpSpPr/>
        <p:nvPr/>
      </p:nvGrpSpPr>
      <p:grpSpPr>
        <a:xfrm>
          <a:off x="0" y="0"/>
          <a:ext cx="0" cy="0"/>
          <a:chOff x="0" y="0"/>
          <a:chExt cx="0" cy="0"/>
        </a:xfrm>
      </p:grpSpPr>
      <p:sp>
        <p:nvSpPr>
          <p:cNvPr id="2" name="Text 0"/>
          <p:cNvSpPr/>
          <p:nvPr/>
        </p:nvSpPr>
        <p:spPr>
          <a:xfrm>
            <a:off x="502920" y="457200"/>
            <a:ext cx="8229600" cy="274320"/>
          </a:xfrm>
          <a:prstGeom prst="rect">
            <a:avLst/>
          </a:prstGeom>
          <a:noFill/>
          <a:ln/>
        </p:spPr>
        <p:txBody>
          <a:bodyPr wrap="square" lIns="0" tIns="0" rIns="0" bIns="0" rtlCol="0" anchor="ctr"/>
          <a:lstStyle/>
          <a:p>
            <a:pPr marL="0" indent="0">
              <a:buNone/>
            </a:pPr>
            <a:r>
              <a:rPr lang="en-US" sz="1200" b="1" kern="0" spc="300" dirty="0">
                <a:solidFill>
                  <a:srgbClr val="C1352B"/>
                </a:solidFill>
                <a:latin typeface="Calibri" pitchFamily="34" charset="0"/>
                <a:ea typeface="Calibri" pitchFamily="34" charset="-122"/>
                <a:cs typeface="Calibri" pitchFamily="34" charset="-120"/>
              </a:rPr>
              <a:t>ADMIN · ANALYTICS</a:t>
            </a:r>
            <a:endParaRPr lang="en-US" sz="1200" dirty="0"/>
          </a:p>
        </p:txBody>
      </p:sp>
      <p:sp>
        <p:nvSpPr>
          <p:cNvPr id="3" name="Text 1"/>
          <p:cNvSpPr/>
          <p:nvPr/>
        </p:nvSpPr>
        <p:spPr>
          <a:xfrm>
            <a:off x="475488" y="749808"/>
            <a:ext cx="10515600" cy="685800"/>
          </a:xfrm>
          <a:prstGeom prst="rect">
            <a:avLst/>
          </a:prstGeom>
          <a:noFill/>
          <a:ln/>
        </p:spPr>
        <p:txBody>
          <a:bodyPr wrap="square" lIns="0" tIns="0" rIns="0" bIns="0" rtlCol="0" anchor="ctr"/>
          <a:lstStyle/>
          <a:p>
            <a:pPr marL="0" indent="0">
              <a:buNone/>
            </a:pPr>
            <a:r>
              <a:rPr lang="en-US" sz="3300" b="1" dirty="0">
                <a:solidFill>
                  <a:srgbClr val="2B2422"/>
                </a:solidFill>
                <a:latin typeface="Cambria" pitchFamily="34" charset="0"/>
                <a:ea typeface="Cambria" pitchFamily="34" charset="-122"/>
                <a:cs typeface="Cambria" pitchFamily="34" charset="-120"/>
              </a:rPr>
              <a:t>The dashboard the owner never had</a:t>
            </a:r>
            <a:endParaRPr lang="en-US" sz="3300" dirty="0"/>
          </a:p>
        </p:txBody>
      </p:sp>
      <p:sp>
        <p:nvSpPr>
          <p:cNvPr id="4" name="Text 2"/>
          <p:cNvSpPr/>
          <p:nvPr/>
        </p:nvSpPr>
        <p:spPr>
          <a:xfrm>
            <a:off x="502920" y="1417320"/>
            <a:ext cx="11155680" cy="457200"/>
          </a:xfrm>
          <a:prstGeom prst="rect">
            <a:avLst/>
          </a:prstGeom>
          <a:noFill/>
          <a:ln/>
        </p:spPr>
        <p:txBody>
          <a:bodyPr wrap="square" lIns="0" tIns="0" rIns="0" bIns="0" rtlCol="0" anchor="ctr"/>
          <a:lstStyle/>
          <a:p>
            <a:pPr marL="0" indent="0">
              <a:buNone/>
            </a:pPr>
            <a:r>
              <a:rPr lang="en-US" sz="1350" dirty="0">
                <a:solidFill>
                  <a:srgbClr val="2B2422"/>
                </a:solidFill>
                <a:latin typeface="Calibri" pitchFamily="34" charset="0"/>
                <a:ea typeface="Calibri" pitchFamily="34" charset="-122"/>
                <a:cs typeface="Calibri" pitchFamily="34" charset="-120"/>
              </a:rPr>
              <a:t>The order log, turned into decisions — what sells, and what sells together.</a:t>
            </a:r>
            <a:endParaRPr lang="en-US" sz="1350" dirty="0"/>
          </a:p>
        </p:txBody>
      </p:sp>
      <p:sp>
        <p:nvSpPr>
          <p:cNvPr id="16" name="Text 12"/>
          <p:cNvSpPr/>
          <p:nvPr/>
        </p:nvSpPr>
        <p:spPr>
          <a:xfrm>
            <a:off x="822960" y="4046220"/>
            <a:ext cx="4800600" cy="274320"/>
          </a:xfrm>
          <a:prstGeom prst="rect">
            <a:avLst/>
          </a:prstGeom>
          <a:noFill/>
          <a:ln/>
        </p:spPr>
        <p:txBody>
          <a:bodyPr wrap="square" lIns="0" tIns="0" rIns="0" bIns="0" rtlCol="0" anchor="ctr"/>
          <a:lstStyle/>
          <a:p>
            <a:pPr marL="0" indent="0" algn="ctr">
              <a:buNone/>
            </a:pPr>
            <a:endParaRPr lang="en-US" sz="1100" dirty="0"/>
          </a:p>
        </p:txBody>
      </p:sp>
      <p:sp>
        <p:nvSpPr>
          <p:cNvPr id="17" name="Text 13"/>
          <p:cNvSpPr/>
          <p:nvPr/>
        </p:nvSpPr>
        <p:spPr>
          <a:xfrm>
            <a:off x="822960" y="4302252"/>
            <a:ext cx="4800600" cy="457200"/>
          </a:xfrm>
          <a:prstGeom prst="rect">
            <a:avLst/>
          </a:prstGeom>
          <a:noFill/>
          <a:ln/>
        </p:spPr>
        <p:txBody>
          <a:bodyPr wrap="square" lIns="0" tIns="0" rIns="0" bIns="0" rtlCol="0" anchor="ctr"/>
          <a:lstStyle/>
          <a:p>
            <a:pPr marL="0" indent="0" algn="ctr">
              <a:buNone/>
            </a:pPr>
            <a:endParaRPr lang="en-US" sz="1000" dirty="0"/>
          </a:p>
        </p:txBody>
      </p:sp>
      <p:sp>
        <p:nvSpPr>
          <p:cNvPr id="31" name="Text 25"/>
          <p:cNvSpPr/>
          <p:nvPr/>
        </p:nvSpPr>
        <p:spPr>
          <a:xfrm>
            <a:off x="548640" y="5568696"/>
            <a:ext cx="5349240" cy="548640"/>
          </a:xfrm>
          <a:prstGeom prst="rect">
            <a:avLst/>
          </a:prstGeom>
          <a:noFill/>
          <a:ln/>
        </p:spPr>
        <p:txBody>
          <a:bodyPr wrap="square" lIns="0" tIns="0" rIns="0" bIns="0" rtlCol="0" anchor="ctr"/>
          <a:lstStyle/>
          <a:p>
            <a:pPr marL="0" indent="0" algn="l">
              <a:buNone/>
            </a:pPr>
            <a:r>
              <a:rPr lang="en-US" sz="1100" b="1" dirty="0">
                <a:solidFill>
                  <a:srgbClr val="C1352B"/>
                </a:solidFill>
                <a:latin typeface="Calibri" pitchFamily="34" charset="0"/>
                <a:ea typeface="Calibri" pitchFamily="34" charset="-122"/>
                <a:cs typeface="Calibri" pitchFamily="34" charset="-120"/>
              </a:rPr>
              <a:t>Top-selling items  </a:t>
            </a:r>
            <a:r>
              <a:rPr lang="en-US" sz="1100" dirty="0">
                <a:solidFill>
                  <a:srgbClr val="8A7E76"/>
                </a:solidFill>
                <a:latin typeface="Calibri" pitchFamily="34" charset="0"/>
                <a:ea typeface="Calibri" pitchFamily="34" charset="-122"/>
                <a:cs typeface="Calibri" pitchFamily="34" charset="-120"/>
              </a:rPr>
              <a:t>— rank the menu by volume to promote winners and retire laggards.</a:t>
            </a:r>
            <a:endParaRPr lang="en-US" sz="1100" dirty="0"/>
          </a:p>
        </p:txBody>
      </p:sp>
      <p:sp>
        <p:nvSpPr>
          <p:cNvPr id="32" name="Text 26"/>
          <p:cNvSpPr/>
          <p:nvPr/>
        </p:nvSpPr>
        <p:spPr>
          <a:xfrm>
            <a:off x="6309360" y="5568696"/>
            <a:ext cx="5349240" cy="548640"/>
          </a:xfrm>
          <a:prstGeom prst="rect">
            <a:avLst/>
          </a:prstGeom>
          <a:noFill/>
          <a:ln/>
        </p:spPr>
        <p:txBody>
          <a:bodyPr wrap="square" lIns="0" tIns="0" rIns="0" bIns="0" rtlCol="0" anchor="ctr"/>
          <a:lstStyle/>
          <a:p>
            <a:pPr marL="0" indent="0" algn="l">
              <a:buNone/>
            </a:pPr>
            <a:r>
              <a:rPr lang="en-US" sz="1100" b="1" dirty="0">
                <a:solidFill>
                  <a:srgbClr val="C1352B"/>
                </a:solidFill>
                <a:latin typeface="Calibri" pitchFamily="34" charset="0"/>
                <a:ea typeface="Calibri" pitchFamily="34" charset="-122"/>
                <a:cs typeface="Calibri" pitchFamily="34" charset="-120"/>
              </a:rPr>
              <a:t>Top combinations  </a:t>
            </a:r>
            <a:r>
              <a:rPr lang="en-US" sz="1100" dirty="0">
                <a:solidFill>
                  <a:srgbClr val="8A7E76"/>
                </a:solidFill>
                <a:latin typeface="Calibri" pitchFamily="34" charset="0"/>
                <a:ea typeface="Calibri" pitchFamily="34" charset="-122"/>
                <a:cs typeface="Calibri" pitchFamily="34" charset="-120"/>
              </a:rPr>
              <a:t>— the base+pizza+topping baskets that drive AOV; fuels upsell prompts.</a:t>
            </a:r>
            <a:endParaRPr lang="en-US" sz="1100" dirty="0"/>
          </a:p>
        </p:txBody>
      </p:sp>
      <p:sp>
        <p:nvSpPr>
          <p:cNvPr id="33" name="Text 27"/>
          <p:cNvSpPr/>
          <p:nvPr/>
        </p:nvSpPr>
        <p:spPr>
          <a:xfrm>
            <a:off x="502920" y="6473952"/>
            <a:ext cx="5486400" cy="274320"/>
          </a:xfrm>
          <a:prstGeom prst="rect">
            <a:avLst/>
          </a:prstGeom>
          <a:noFill/>
          <a:ln/>
        </p:spPr>
        <p:txBody>
          <a:bodyPr wrap="square" lIns="0" tIns="0" rIns="0" bIns="0" rtlCol="0" anchor="ctr"/>
          <a:lstStyle/>
          <a:p>
            <a:pPr marL="0" indent="0" algn="l">
              <a:buNone/>
            </a:pPr>
            <a:r>
              <a:rPr lang="en-US" sz="900" dirty="0">
                <a:solidFill>
                  <a:srgbClr val="8A7E76"/>
                </a:solidFill>
                <a:latin typeface="Calibri" pitchFamily="34" charset="0"/>
                <a:ea typeface="Calibri" pitchFamily="34" charset="-122"/>
                <a:cs typeface="Calibri" pitchFamily="34" charset="-120"/>
              </a:rPr>
              <a:t>SliceMatic · PizzaFlow MVP Demo</a:t>
            </a:r>
            <a:endParaRPr lang="en-US" sz="900" dirty="0"/>
          </a:p>
        </p:txBody>
      </p:sp>
      <p:sp>
        <p:nvSpPr>
          <p:cNvPr id="34" name="Text 28"/>
          <p:cNvSpPr/>
          <p:nvPr/>
        </p:nvSpPr>
        <p:spPr>
          <a:xfrm>
            <a:off x="11274552" y="6473952"/>
            <a:ext cx="411480" cy="274320"/>
          </a:xfrm>
          <a:prstGeom prst="rect">
            <a:avLst/>
          </a:prstGeom>
          <a:noFill/>
          <a:ln/>
        </p:spPr>
        <p:txBody>
          <a:bodyPr wrap="square" lIns="0" tIns="0" rIns="0" bIns="0" rtlCol="0" anchor="ctr"/>
          <a:lstStyle/>
          <a:p>
            <a:pPr marL="0" indent="0" algn="r">
              <a:buNone/>
            </a:pPr>
            <a:r>
              <a:rPr lang="en-US" sz="900" dirty="0">
                <a:solidFill>
                  <a:srgbClr val="8A7E76"/>
                </a:solidFill>
                <a:latin typeface="Calibri" pitchFamily="34" charset="0"/>
                <a:ea typeface="Calibri" pitchFamily="34" charset="-122"/>
                <a:cs typeface="Calibri" pitchFamily="34" charset="-120"/>
              </a:rPr>
              <a:t>14</a:t>
            </a:r>
            <a:endParaRPr lang="en-US" sz="900" dirty="0"/>
          </a:p>
        </p:txBody>
      </p:sp>
      <p:pic>
        <p:nvPicPr>
          <p:cNvPr id="37" name="Picture 36">
            <a:extLst>
              <a:ext uri="{FF2B5EF4-FFF2-40B4-BE49-F238E27FC236}">
                <a16:creationId xmlns:a16="http://schemas.microsoft.com/office/drawing/2014/main" id="{A0110E0E-7A4E-5F8B-88C3-67013370A246}"/>
              </a:ext>
            </a:extLst>
          </p:cNvPr>
          <p:cNvPicPr>
            <a:picLocks noChangeAspect="1"/>
          </p:cNvPicPr>
          <p:nvPr/>
        </p:nvPicPr>
        <p:blipFill>
          <a:blip r:embed="rId3"/>
          <a:stretch>
            <a:fillRect/>
          </a:stretch>
        </p:blipFill>
        <p:spPr>
          <a:xfrm>
            <a:off x="475489" y="2232307"/>
            <a:ext cx="4976406" cy="3087639"/>
          </a:xfrm>
          <a:prstGeom prst="rect">
            <a:avLst/>
          </a:prstGeom>
        </p:spPr>
      </p:pic>
      <p:pic>
        <p:nvPicPr>
          <p:cNvPr id="39" name="Picture 38">
            <a:extLst>
              <a:ext uri="{FF2B5EF4-FFF2-40B4-BE49-F238E27FC236}">
                <a16:creationId xmlns:a16="http://schemas.microsoft.com/office/drawing/2014/main" id="{B9480194-6FE8-E5FD-4FB9-6260A563780E}"/>
              </a:ext>
            </a:extLst>
          </p:cNvPr>
          <p:cNvPicPr>
            <a:picLocks noChangeAspect="1"/>
          </p:cNvPicPr>
          <p:nvPr/>
        </p:nvPicPr>
        <p:blipFill>
          <a:blip r:embed="rId4"/>
          <a:stretch>
            <a:fillRect/>
          </a:stretch>
        </p:blipFill>
        <p:spPr>
          <a:xfrm>
            <a:off x="6392634" y="2231136"/>
            <a:ext cx="4976406" cy="308881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BF6EF"/>
        </a:solidFill>
        <a:effectLst/>
      </p:bgPr>
    </p:bg>
    <p:spTree>
      <p:nvGrpSpPr>
        <p:cNvPr id="1" name=""/>
        <p:cNvGrpSpPr/>
        <p:nvPr/>
      </p:nvGrpSpPr>
      <p:grpSpPr>
        <a:xfrm>
          <a:off x="0" y="0"/>
          <a:ext cx="0" cy="0"/>
          <a:chOff x="0" y="0"/>
          <a:chExt cx="0" cy="0"/>
        </a:xfrm>
      </p:grpSpPr>
      <p:sp>
        <p:nvSpPr>
          <p:cNvPr id="2" name="Text 0"/>
          <p:cNvSpPr/>
          <p:nvPr/>
        </p:nvSpPr>
        <p:spPr>
          <a:xfrm>
            <a:off x="502920" y="457200"/>
            <a:ext cx="8229600" cy="274320"/>
          </a:xfrm>
          <a:prstGeom prst="rect">
            <a:avLst/>
          </a:prstGeom>
          <a:noFill/>
          <a:ln/>
        </p:spPr>
        <p:txBody>
          <a:bodyPr wrap="square" lIns="0" tIns="0" rIns="0" bIns="0" rtlCol="0" anchor="ctr"/>
          <a:lstStyle/>
          <a:p>
            <a:pPr marL="0" indent="0">
              <a:buNone/>
            </a:pPr>
            <a:r>
              <a:rPr lang="en-US" sz="1200" b="1" kern="0" spc="300" dirty="0">
                <a:solidFill>
                  <a:srgbClr val="C1352B"/>
                </a:solidFill>
                <a:latin typeface="Calibri" pitchFamily="34" charset="0"/>
                <a:ea typeface="Calibri" pitchFamily="34" charset="-122"/>
                <a:cs typeface="Calibri" pitchFamily="34" charset="-120"/>
              </a:rPr>
              <a:t>ADMIN · ORDER LOG</a:t>
            </a:r>
            <a:endParaRPr lang="en-US" sz="1200" dirty="0"/>
          </a:p>
        </p:txBody>
      </p:sp>
      <p:sp>
        <p:nvSpPr>
          <p:cNvPr id="3" name="Text 1"/>
          <p:cNvSpPr/>
          <p:nvPr/>
        </p:nvSpPr>
        <p:spPr>
          <a:xfrm>
            <a:off x="475488" y="749808"/>
            <a:ext cx="10515600" cy="685800"/>
          </a:xfrm>
          <a:prstGeom prst="rect">
            <a:avLst/>
          </a:prstGeom>
          <a:noFill/>
          <a:ln/>
        </p:spPr>
        <p:txBody>
          <a:bodyPr wrap="square" lIns="0" tIns="0" rIns="0" bIns="0" rtlCol="0" anchor="ctr"/>
          <a:lstStyle/>
          <a:p>
            <a:pPr marL="0" indent="0">
              <a:buNone/>
            </a:pPr>
            <a:r>
              <a:rPr lang="en-US" sz="3300" b="1" dirty="0">
                <a:solidFill>
                  <a:srgbClr val="2B2422"/>
                </a:solidFill>
                <a:latin typeface="Cambria" pitchFamily="34" charset="0"/>
                <a:ea typeface="Cambria" pitchFamily="34" charset="-122"/>
                <a:cs typeface="Cambria" pitchFamily="34" charset="-120"/>
              </a:rPr>
              <a:t>Every order — viewable &amp; downloadable</a:t>
            </a:r>
            <a:endParaRPr lang="en-US" sz="3300" dirty="0"/>
          </a:p>
        </p:txBody>
      </p:sp>
      <p:sp>
        <p:nvSpPr>
          <p:cNvPr id="4" name="Shape 2"/>
          <p:cNvSpPr/>
          <p:nvPr/>
        </p:nvSpPr>
        <p:spPr>
          <a:xfrm>
            <a:off x="548640" y="1874520"/>
            <a:ext cx="402336" cy="402336"/>
          </a:xfrm>
          <a:prstGeom prst="ellipse">
            <a:avLst/>
          </a:prstGeom>
          <a:solidFill>
            <a:srgbClr val="F3EBE0"/>
          </a:solidFill>
          <a:ln/>
        </p:spPr>
        <p:txBody>
          <a:bodyPr/>
          <a:lstStyle/>
          <a:p>
            <a:endParaRPr lang="en-IN"/>
          </a:p>
        </p:txBody>
      </p:sp>
      <p:pic>
        <p:nvPicPr>
          <p:cNvPr id="5" name="Image 0" descr="preencoded.png"/>
          <p:cNvPicPr>
            <a:picLocks noChangeAspect="1"/>
          </p:cNvPicPr>
          <p:nvPr/>
        </p:nvPicPr>
        <p:blipFill>
          <a:blip r:embed="rId3"/>
          <a:stretch>
            <a:fillRect/>
          </a:stretch>
        </p:blipFill>
        <p:spPr>
          <a:xfrm>
            <a:off x="649224" y="1975104"/>
            <a:ext cx="201168" cy="201168"/>
          </a:xfrm>
          <a:prstGeom prst="rect">
            <a:avLst/>
          </a:prstGeom>
        </p:spPr>
      </p:pic>
      <p:sp>
        <p:nvSpPr>
          <p:cNvPr id="6" name="Text 3"/>
          <p:cNvSpPr/>
          <p:nvPr/>
        </p:nvSpPr>
        <p:spPr>
          <a:xfrm>
            <a:off x="1060704" y="1819656"/>
            <a:ext cx="4114800" cy="731520"/>
          </a:xfrm>
          <a:prstGeom prst="rect">
            <a:avLst/>
          </a:prstGeom>
          <a:noFill/>
          <a:ln/>
        </p:spPr>
        <p:txBody>
          <a:bodyPr wrap="square" lIns="0" tIns="0" rIns="0" bIns="0" rtlCol="0" anchor="t"/>
          <a:lstStyle/>
          <a:p>
            <a:pPr marL="0" indent="0">
              <a:lnSpc>
                <a:spcPct val="102000"/>
              </a:lnSpc>
              <a:buNone/>
            </a:pPr>
            <a:r>
              <a:rPr lang="en-US" sz="1250" b="1" dirty="0">
                <a:solidFill>
                  <a:srgbClr val="2B2422"/>
                </a:solidFill>
                <a:latin typeface="Calibri" pitchFamily="34" charset="0"/>
                <a:ea typeface="Calibri" pitchFamily="34" charset="-122"/>
                <a:cs typeface="Calibri" pitchFamily="34" charset="-120"/>
              </a:rPr>
              <a:t>Full order history  </a:t>
            </a:r>
            <a:r>
              <a:rPr lang="en-US" sz="1250" dirty="0">
                <a:solidFill>
                  <a:srgbClr val="8A7E76"/>
                </a:solidFill>
                <a:latin typeface="Calibri" pitchFamily="34" charset="0"/>
                <a:ea typeface="Calibri" pitchFamily="34" charset="-122"/>
                <a:cs typeface="Calibri" pitchFamily="34" charset="-120"/>
              </a:rPr>
              <a:t>the complete log rendered as a clean table in the console.</a:t>
            </a:r>
            <a:endParaRPr lang="en-US" sz="1250" dirty="0"/>
          </a:p>
        </p:txBody>
      </p:sp>
      <p:sp>
        <p:nvSpPr>
          <p:cNvPr id="7" name="Shape 4"/>
          <p:cNvSpPr/>
          <p:nvPr/>
        </p:nvSpPr>
        <p:spPr>
          <a:xfrm>
            <a:off x="548640" y="2770632"/>
            <a:ext cx="402336" cy="402336"/>
          </a:xfrm>
          <a:prstGeom prst="ellipse">
            <a:avLst/>
          </a:prstGeom>
          <a:solidFill>
            <a:srgbClr val="F3EBE0"/>
          </a:solidFill>
          <a:ln/>
        </p:spPr>
        <p:txBody>
          <a:bodyPr/>
          <a:lstStyle/>
          <a:p>
            <a:endParaRPr lang="en-IN"/>
          </a:p>
        </p:txBody>
      </p:sp>
      <p:pic>
        <p:nvPicPr>
          <p:cNvPr id="8" name="Image 1" descr="preencoded.png"/>
          <p:cNvPicPr>
            <a:picLocks noChangeAspect="1"/>
          </p:cNvPicPr>
          <p:nvPr/>
        </p:nvPicPr>
        <p:blipFill>
          <a:blip r:embed="rId4"/>
          <a:stretch>
            <a:fillRect/>
          </a:stretch>
        </p:blipFill>
        <p:spPr>
          <a:xfrm>
            <a:off x="649224" y="2871216"/>
            <a:ext cx="201168" cy="201168"/>
          </a:xfrm>
          <a:prstGeom prst="rect">
            <a:avLst/>
          </a:prstGeom>
        </p:spPr>
      </p:pic>
      <p:sp>
        <p:nvSpPr>
          <p:cNvPr id="9" name="Text 5"/>
          <p:cNvSpPr/>
          <p:nvPr/>
        </p:nvSpPr>
        <p:spPr>
          <a:xfrm>
            <a:off x="1060704" y="2715768"/>
            <a:ext cx="4114800" cy="731520"/>
          </a:xfrm>
          <a:prstGeom prst="rect">
            <a:avLst/>
          </a:prstGeom>
          <a:noFill/>
          <a:ln/>
        </p:spPr>
        <p:txBody>
          <a:bodyPr wrap="square" lIns="0" tIns="0" rIns="0" bIns="0" rtlCol="0" anchor="t"/>
          <a:lstStyle/>
          <a:p>
            <a:pPr marL="0" indent="0">
              <a:lnSpc>
                <a:spcPct val="102000"/>
              </a:lnSpc>
              <a:buNone/>
            </a:pPr>
            <a:r>
              <a:rPr lang="en-US" sz="1250" b="1" dirty="0">
                <a:solidFill>
                  <a:srgbClr val="2B2422"/>
                </a:solidFill>
                <a:latin typeface="Calibri" pitchFamily="34" charset="0"/>
                <a:ea typeface="Calibri" pitchFamily="34" charset="-122"/>
                <a:cs typeface="Calibri" pitchFamily="34" charset="-120"/>
              </a:rPr>
              <a:t>One-click download  </a:t>
            </a:r>
            <a:r>
              <a:rPr lang="en-US" sz="1250" dirty="0">
                <a:solidFill>
                  <a:srgbClr val="8A7E76"/>
                </a:solidFill>
                <a:latin typeface="Calibri" pitchFamily="34" charset="0"/>
                <a:ea typeface="Calibri" pitchFamily="34" charset="-122"/>
                <a:cs typeface="Calibri" pitchFamily="34" charset="-120"/>
              </a:rPr>
              <a:t>export the orders for accounting, GST filing or analysis.</a:t>
            </a:r>
            <a:endParaRPr lang="en-US" sz="1250" dirty="0"/>
          </a:p>
        </p:txBody>
      </p:sp>
      <p:sp>
        <p:nvSpPr>
          <p:cNvPr id="10" name="Shape 6"/>
          <p:cNvSpPr/>
          <p:nvPr/>
        </p:nvSpPr>
        <p:spPr>
          <a:xfrm>
            <a:off x="548640" y="3666744"/>
            <a:ext cx="402336" cy="402336"/>
          </a:xfrm>
          <a:prstGeom prst="ellipse">
            <a:avLst/>
          </a:prstGeom>
          <a:solidFill>
            <a:srgbClr val="F3EBE0"/>
          </a:solidFill>
          <a:ln/>
        </p:spPr>
        <p:txBody>
          <a:bodyPr/>
          <a:lstStyle/>
          <a:p>
            <a:endParaRPr lang="en-IN"/>
          </a:p>
        </p:txBody>
      </p:sp>
      <p:pic>
        <p:nvPicPr>
          <p:cNvPr id="11" name="Image 2" descr="preencoded.png"/>
          <p:cNvPicPr>
            <a:picLocks noChangeAspect="1"/>
          </p:cNvPicPr>
          <p:nvPr/>
        </p:nvPicPr>
        <p:blipFill>
          <a:blip r:embed="rId5"/>
          <a:stretch>
            <a:fillRect/>
          </a:stretch>
        </p:blipFill>
        <p:spPr>
          <a:xfrm>
            <a:off x="649224" y="3767328"/>
            <a:ext cx="201168" cy="201168"/>
          </a:xfrm>
          <a:prstGeom prst="rect">
            <a:avLst/>
          </a:prstGeom>
        </p:spPr>
      </p:pic>
      <p:sp>
        <p:nvSpPr>
          <p:cNvPr id="12" name="Text 7"/>
          <p:cNvSpPr/>
          <p:nvPr/>
        </p:nvSpPr>
        <p:spPr>
          <a:xfrm>
            <a:off x="1060704" y="3611880"/>
            <a:ext cx="4114800" cy="731520"/>
          </a:xfrm>
          <a:prstGeom prst="rect">
            <a:avLst/>
          </a:prstGeom>
          <a:noFill/>
          <a:ln/>
        </p:spPr>
        <p:txBody>
          <a:bodyPr wrap="square" lIns="0" tIns="0" rIns="0" bIns="0" rtlCol="0" anchor="t"/>
          <a:lstStyle/>
          <a:p>
            <a:pPr marL="0" indent="0">
              <a:lnSpc>
                <a:spcPct val="102000"/>
              </a:lnSpc>
              <a:buNone/>
            </a:pPr>
            <a:r>
              <a:rPr lang="en-US" sz="1250" b="1" dirty="0">
                <a:solidFill>
                  <a:srgbClr val="2B2422"/>
                </a:solidFill>
                <a:latin typeface="Calibri" pitchFamily="34" charset="0"/>
                <a:ea typeface="Calibri" pitchFamily="34" charset="-122"/>
                <a:cs typeface="Calibri" pitchFamily="34" charset="-120"/>
              </a:rPr>
              <a:t>Owner-only  </a:t>
            </a:r>
            <a:r>
              <a:rPr lang="en-US" sz="1250" dirty="0">
                <a:solidFill>
                  <a:srgbClr val="8A7E76"/>
                </a:solidFill>
                <a:latin typeface="Calibri" pitchFamily="34" charset="0"/>
                <a:ea typeface="Calibri" pitchFamily="34" charset="-122"/>
                <a:cs typeface="Calibri" pitchFamily="34" charset="-120"/>
              </a:rPr>
              <a:t>behind the PIN — customers never see it.</a:t>
            </a:r>
            <a:endParaRPr lang="en-US" sz="1250" dirty="0"/>
          </a:p>
        </p:txBody>
      </p:sp>
      <p:sp>
        <p:nvSpPr>
          <p:cNvPr id="13" name="Shape 8"/>
          <p:cNvSpPr/>
          <p:nvPr/>
        </p:nvSpPr>
        <p:spPr>
          <a:xfrm>
            <a:off x="548640" y="4562856"/>
            <a:ext cx="402336" cy="402336"/>
          </a:xfrm>
          <a:prstGeom prst="ellipse">
            <a:avLst/>
          </a:prstGeom>
          <a:solidFill>
            <a:srgbClr val="F3EBE0"/>
          </a:solidFill>
          <a:ln/>
        </p:spPr>
        <p:txBody>
          <a:bodyPr/>
          <a:lstStyle/>
          <a:p>
            <a:endParaRPr lang="en-IN"/>
          </a:p>
        </p:txBody>
      </p:sp>
      <p:pic>
        <p:nvPicPr>
          <p:cNvPr id="14" name="Image 3" descr="preencoded.png"/>
          <p:cNvPicPr>
            <a:picLocks noChangeAspect="1"/>
          </p:cNvPicPr>
          <p:nvPr/>
        </p:nvPicPr>
        <p:blipFill>
          <a:blip r:embed="rId6"/>
          <a:stretch>
            <a:fillRect/>
          </a:stretch>
        </p:blipFill>
        <p:spPr>
          <a:xfrm>
            <a:off x="649224" y="4663440"/>
            <a:ext cx="201168" cy="201168"/>
          </a:xfrm>
          <a:prstGeom prst="rect">
            <a:avLst/>
          </a:prstGeom>
        </p:spPr>
      </p:pic>
      <p:sp>
        <p:nvSpPr>
          <p:cNvPr id="15" name="Text 9"/>
          <p:cNvSpPr/>
          <p:nvPr/>
        </p:nvSpPr>
        <p:spPr>
          <a:xfrm>
            <a:off x="1060704" y="4507992"/>
            <a:ext cx="4114800" cy="731520"/>
          </a:xfrm>
          <a:prstGeom prst="rect">
            <a:avLst/>
          </a:prstGeom>
          <a:noFill/>
          <a:ln/>
        </p:spPr>
        <p:txBody>
          <a:bodyPr wrap="square" lIns="0" tIns="0" rIns="0" bIns="0" rtlCol="0" anchor="t"/>
          <a:lstStyle/>
          <a:p>
            <a:pPr marL="0" indent="0">
              <a:lnSpc>
                <a:spcPct val="102000"/>
              </a:lnSpc>
              <a:buNone/>
            </a:pPr>
            <a:r>
              <a:rPr lang="en-US" sz="1250" b="1" dirty="0">
                <a:solidFill>
                  <a:srgbClr val="2B2422"/>
                </a:solidFill>
                <a:latin typeface="Calibri" pitchFamily="34" charset="0"/>
                <a:ea typeface="Calibri" pitchFamily="34" charset="-122"/>
                <a:cs typeface="Calibri" pitchFamily="34" charset="-120"/>
              </a:rPr>
              <a:t>Decision-ready  </a:t>
            </a:r>
            <a:r>
              <a:rPr lang="en-US" sz="1250" dirty="0">
                <a:solidFill>
                  <a:srgbClr val="8A7E76"/>
                </a:solidFill>
                <a:latin typeface="Calibri" pitchFamily="34" charset="0"/>
                <a:ea typeface="Calibri" pitchFamily="34" charset="-122"/>
                <a:cs typeface="Calibri" pitchFamily="34" charset="-120"/>
              </a:rPr>
              <a:t>the same data behind every Part B metric.</a:t>
            </a:r>
            <a:endParaRPr lang="en-US" sz="1250" dirty="0"/>
          </a:p>
        </p:txBody>
      </p:sp>
      <p:sp>
        <p:nvSpPr>
          <p:cNvPr id="16" name="Shape 10"/>
          <p:cNvSpPr/>
          <p:nvPr/>
        </p:nvSpPr>
        <p:spPr>
          <a:xfrm>
            <a:off x="5577840" y="1783080"/>
            <a:ext cx="6080760" cy="4434840"/>
          </a:xfrm>
          <a:prstGeom prst="roundRect">
            <a:avLst>
              <a:gd name="adj" fmla="val 1856"/>
            </a:avLst>
          </a:prstGeom>
          <a:solidFill>
            <a:srgbClr val="FFFFFF"/>
          </a:solidFill>
          <a:ln w="12700">
            <a:solidFill>
              <a:srgbClr val="E7DCCD"/>
            </a:solidFill>
            <a:prstDash val="solid"/>
          </a:ln>
          <a:effectLst>
            <a:outerShdw blurRad="88900" dist="38100" dir="5400000" algn="bl" rotWithShape="0">
              <a:srgbClr val="000000">
                <a:alpha val="16000"/>
              </a:srgbClr>
            </a:outerShdw>
          </a:effectLst>
        </p:spPr>
        <p:txBody>
          <a:bodyPr/>
          <a:lstStyle/>
          <a:p>
            <a:endParaRPr lang="en-IN"/>
          </a:p>
        </p:txBody>
      </p:sp>
      <p:sp>
        <p:nvSpPr>
          <p:cNvPr id="17" name="Shape 11"/>
          <p:cNvSpPr/>
          <p:nvPr/>
        </p:nvSpPr>
        <p:spPr>
          <a:xfrm>
            <a:off x="5577840" y="1783080"/>
            <a:ext cx="6080760" cy="384048"/>
          </a:xfrm>
          <a:prstGeom prst="roundRect">
            <a:avLst>
              <a:gd name="adj" fmla="val 21429"/>
            </a:avLst>
          </a:prstGeom>
          <a:solidFill>
            <a:srgbClr val="F3EBE0"/>
          </a:solidFill>
          <a:ln/>
        </p:spPr>
        <p:txBody>
          <a:bodyPr/>
          <a:lstStyle/>
          <a:p>
            <a:endParaRPr lang="en-IN"/>
          </a:p>
        </p:txBody>
      </p:sp>
      <p:sp>
        <p:nvSpPr>
          <p:cNvPr id="18" name="Shape 12"/>
          <p:cNvSpPr/>
          <p:nvPr/>
        </p:nvSpPr>
        <p:spPr>
          <a:xfrm>
            <a:off x="5577840" y="2057400"/>
            <a:ext cx="6080760" cy="109728"/>
          </a:xfrm>
          <a:prstGeom prst="rect">
            <a:avLst/>
          </a:prstGeom>
          <a:solidFill>
            <a:srgbClr val="F3EBE0"/>
          </a:solidFill>
          <a:ln/>
        </p:spPr>
        <p:txBody>
          <a:bodyPr/>
          <a:lstStyle/>
          <a:p>
            <a:endParaRPr lang="en-IN"/>
          </a:p>
        </p:txBody>
      </p:sp>
      <p:sp>
        <p:nvSpPr>
          <p:cNvPr id="19" name="Shape 13"/>
          <p:cNvSpPr/>
          <p:nvPr/>
        </p:nvSpPr>
        <p:spPr>
          <a:xfrm>
            <a:off x="5724144" y="1933956"/>
            <a:ext cx="82296" cy="82296"/>
          </a:xfrm>
          <a:prstGeom prst="ellipse">
            <a:avLst/>
          </a:prstGeom>
          <a:solidFill>
            <a:srgbClr val="E06C5E"/>
          </a:solidFill>
          <a:ln/>
        </p:spPr>
        <p:txBody>
          <a:bodyPr/>
          <a:lstStyle/>
          <a:p>
            <a:endParaRPr lang="en-IN"/>
          </a:p>
        </p:txBody>
      </p:sp>
      <p:sp>
        <p:nvSpPr>
          <p:cNvPr id="20" name="Shape 14"/>
          <p:cNvSpPr/>
          <p:nvPr/>
        </p:nvSpPr>
        <p:spPr>
          <a:xfrm>
            <a:off x="5888736" y="1933956"/>
            <a:ext cx="82296" cy="82296"/>
          </a:xfrm>
          <a:prstGeom prst="ellipse">
            <a:avLst/>
          </a:prstGeom>
          <a:solidFill>
            <a:srgbClr val="E8C15A"/>
          </a:solidFill>
          <a:ln/>
        </p:spPr>
        <p:txBody>
          <a:bodyPr/>
          <a:lstStyle/>
          <a:p>
            <a:endParaRPr lang="en-IN"/>
          </a:p>
        </p:txBody>
      </p:sp>
      <p:sp>
        <p:nvSpPr>
          <p:cNvPr id="21" name="Shape 15"/>
          <p:cNvSpPr/>
          <p:nvPr/>
        </p:nvSpPr>
        <p:spPr>
          <a:xfrm>
            <a:off x="6053328" y="1933956"/>
            <a:ext cx="82296" cy="82296"/>
          </a:xfrm>
          <a:prstGeom prst="ellipse">
            <a:avLst/>
          </a:prstGeom>
          <a:solidFill>
            <a:srgbClr val="7FB98B"/>
          </a:solidFill>
          <a:ln/>
        </p:spPr>
        <p:txBody>
          <a:bodyPr/>
          <a:lstStyle/>
          <a:p>
            <a:endParaRPr lang="en-IN"/>
          </a:p>
        </p:txBody>
      </p:sp>
      <p:sp>
        <p:nvSpPr>
          <p:cNvPr id="22" name="Shape 16"/>
          <p:cNvSpPr/>
          <p:nvPr/>
        </p:nvSpPr>
        <p:spPr>
          <a:xfrm>
            <a:off x="6291072" y="1856232"/>
            <a:ext cx="5166360" cy="237744"/>
          </a:xfrm>
          <a:prstGeom prst="roundRect">
            <a:avLst>
              <a:gd name="adj" fmla="val 23077"/>
            </a:avLst>
          </a:prstGeom>
          <a:solidFill>
            <a:srgbClr val="FFFFFF"/>
          </a:solidFill>
          <a:ln w="9525">
            <a:solidFill>
              <a:srgbClr val="E7DCCD"/>
            </a:solidFill>
            <a:prstDash val="solid"/>
          </a:ln>
        </p:spPr>
        <p:txBody>
          <a:bodyPr/>
          <a:lstStyle/>
          <a:p>
            <a:endParaRPr lang="en-IN"/>
          </a:p>
        </p:txBody>
      </p:sp>
      <p:pic>
        <p:nvPicPr>
          <p:cNvPr id="23" name="Image 4" descr="preencoded.png"/>
          <p:cNvPicPr>
            <a:picLocks noChangeAspect="1"/>
          </p:cNvPicPr>
          <p:nvPr/>
        </p:nvPicPr>
        <p:blipFill>
          <a:blip r:embed="rId7"/>
          <a:stretch>
            <a:fillRect/>
          </a:stretch>
        </p:blipFill>
        <p:spPr>
          <a:xfrm>
            <a:off x="6382512" y="1920240"/>
            <a:ext cx="109728" cy="109728"/>
          </a:xfrm>
          <a:prstGeom prst="rect">
            <a:avLst/>
          </a:prstGeom>
        </p:spPr>
      </p:pic>
      <p:sp>
        <p:nvSpPr>
          <p:cNvPr id="24" name="Text 17"/>
          <p:cNvSpPr/>
          <p:nvPr/>
        </p:nvSpPr>
        <p:spPr>
          <a:xfrm>
            <a:off x="6547104" y="1856232"/>
            <a:ext cx="4846320" cy="237744"/>
          </a:xfrm>
          <a:prstGeom prst="rect">
            <a:avLst/>
          </a:prstGeom>
          <a:noFill/>
          <a:ln/>
        </p:spPr>
        <p:txBody>
          <a:bodyPr wrap="square" lIns="0" tIns="0" rIns="0" bIns="0" rtlCol="0" anchor="ctr"/>
          <a:lstStyle/>
          <a:p>
            <a:pPr marL="0" indent="0" algn="l">
              <a:buNone/>
            </a:pPr>
            <a:r>
              <a:rPr lang="en-US" sz="950" dirty="0">
                <a:solidFill>
                  <a:srgbClr val="8A7E76"/>
                </a:solidFill>
                <a:latin typeface="Calibri" pitchFamily="34" charset="0"/>
                <a:ea typeface="Calibri" pitchFamily="34" charset="-122"/>
                <a:cs typeface="Calibri" pitchFamily="34" charset="-120"/>
              </a:rPr>
              <a:t>moulsai2296-pizzaflow-v2.hf.space</a:t>
            </a:r>
            <a:endParaRPr lang="en-US" sz="950" dirty="0"/>
          </a:p>
        </p:txBody>
      </p:sp>
      <p:sp>
        <p:nvSpPr>
          <p:cNvPr id="25" name="Shape 18"/>
          <p:cNvSpPr/>
          <p:nvPr/>
        </p:nvSpPr>
        <p:spPr>
          <a:xfrm>
            <a:off x="5632704" y="2221992"/>
            <a:ext cx="5971032" cy="3941064"/>
          </a:xfrm>
          <a:prstGeom prst="rect">
            <a:avLst/>
          </a:prstGeom>
          <a:solidFill>
            <a:srgbClr val="FBF6EF"/>
          </a:solidFill>
          <a:ln/>
        </p:spPr>
        <p:txBody>
          <a:bodyPr/>
          <a:lstStyle/>
          <a:p>
            <a:endParaRPr lang="en-IN"/>
          </a:p>
        </p:txBody>
      </p:sp>
      <p:pic>
        <p:nvPicPr>
          <p:cNvPr id="26" name="Image 5" descr="preencoded.png"/>
          <p:cNvPicPr>
            <a:picLocks noChangeAspect="1"/>
          </p:cNvPicPr>
          <p:nvPr/>
        </p:nvPicPr>
        <p:blipFill>
          <a:blip r:embed="rId8">
            <a:alphaModFix amt="70000"/>
          </a:blip>
          <a:stretch>
            <a:fillRect/>
          </a:stretch>
        </p:blipFill>
        <p:spPr>
          <a:xfrm>
            <a:off x="8362188" y="3625596"/>
            <a:ext cx="512064" cy="512064"/>
          </a:xfrm>
          <a:prstGeom prst="rect">
            <a:avLst/>
          </a:prstGeom>
        </p:spPr>
      </p:pic>
      <p:sp>
        <p:nvSpPr>
          <p:cNvPr id="27" name="Text 19"/>
          <p:cNvSpPr/>
          <p:nvPr/>
        </p:nvSpPr>
        <p:spPr>
          <a:xfrm>
            <a:off x="5852160" y="4229100"/>
            <a:ext cx="5532120" cy="274320"/>
          </a:xfrm>
          <a:prstGeom prst="rect">
            <a:avLst/>
          </a:prstGeom>
          <a:noFill/>
          <a:ln/>
        </p:spPr>
        <p:txBody>
          <a:bodyPr wrap="square" lIns="0" tIns="0" rIns="0" bIns="0" rtlCol="0" anchor="ctr"/>
          <a:lstStyle/>
          <a:p>
            <a:pPr marL="0" indent="0" algn="ctr">
              <a:buNone/>
            </a:pPr>
            <a:r>
              <a:rPr lang="en-US" sz="1100" b="1" dirty="0">
                <a:solidFill>
                  <a:srgbClr val="C1352B"/>
                </a:solidFill>
                <a:latin typeface="Calibri" pitchFamily="34" charset="0"/>
                <a:ea typeface="Calibri" pitchFamily="34" charset="-122"/>
                <a:cs typeface="Calibri" pitchFamily="34" charset="-120"/>
              </a:rPr>
              <a:t>Screenshot</a:t>
            </a:r>
            <a:endParaRPr lang="en-US" sz="1100" dirty="0"/>
          </a:p>
        </p:txBody>
      </p:sp>
      <p:sp>
        <p:nvSpPr>
          <p:cNvPr id="28" name="Text 20"/>
          <p:cNvSpPr/>
          <p:nvPr/>
        </p:nvSpPr>
        <p:spPr>
          <a:xfrm>
            <a:off x="5852160" y="4485132"/>
            <a:ext cx="5532120" cy="457200"/>
          </a:xfrm>
          <a:prstGeom prst="rect">
            <a:avLst/>
          </a:prstGeom>
          <a:noFill/>
          <a:ln/>
        </p:spPr>
        <p:txBody>
          <a:bodyPr wrap="square" lIns="0" tIns="0" rIns="0" bIns="0" rtlCol="0" anchor="ctr"/>
          <a:lstStyle/>
          <a:p>
            <a:pPr marL="0" indent="0" algn="ctr">
              <a:buNone/>
            </a:pPr>
            <a:r>
              <a:rPr lang="en-US" sz="1000" i="1" dirty="0">
                <a:solidFill>
                  <a:srgbClr val="8A7E76"/>
                </a:solidFill>
                <a:latin typeface="Calibri" pitchFamily="34" charset="0"/>
                <a:ea typeface="Calibri" pitchFamily="34" charset="-122"/>
                <a:cs typeface="Calibri" pitchFamily="34" charset="-120"/>
              </a:rPr>
              <a:t>Admin order-log table with the download button</a:t>
            </a:r>
            <a:endParaRPr lang="en-US" sz="1000" dirty="0"/>
          </a:p>
        </p:txBody>
      </p:sp>
      <p:sp>
        <p:nvSpPr>
          <p:cNvPr id="29" name="Text 21"/>
          <p:cNvSpPr/>
          <p:nvPr/>
        </p:nvSpPr>
        <p:spPr>
          <a:xfrm>
            <a:off x="502920" y="6473952"/>
            <a:ext cx="5486400" cy="274320"/>
          </a:xfrm>
          <a:prstGeom prst="rect">
            <a:avLst/>
          </a:prstGeom>
          <a:noFill/>
          <a:ln/>
        </p:spPr>
        <p:txBody>
          <a:bodyPr wrap="square" lIns="0" tIns="0" rIns="0" bIns="0" rtlCol="0" anchor="ctr"/>
          <a:lstStyle/>
          <a:p>
            <a:pPr marL="0" indent="0" algn="l">
              <a:buNone/>
            </a:pPr>
            <a:r>
              <a:rPr lang="en-US" sz="900" dirty="0">
                <a:solidFill>
                  <a:srgbClr val="8A7E76"/>
                </a:solidFill>
                <a:latin typeface="Calibri" pitchFamily="34" charset="0"/>
                <a:ea typeface="Calibri" pitchFamily="34" charset="-122"/>
                <a:cs typeface="Calibri" pitchFamily="34" charset="-120"/>
              </a:rPr>
              <a:t>SliceMatic · PizzaFlow MVP Demo</a:t>
            </a:r>
            <a:endParaRPr lang="en-US" sz="900" dirty="0"/>
          </a:p>
        </p:txBody>
      </p:sp>
      <p:sp>
        <p:nvSpPr>
          <p:cNvPr id="30" name="Text 22"/>
          <p:cNvSpPr/>
          <p:nvPr/>
        </p:nvSpPr>
        <p:spPr>
          <a:xfrm>
            <a:off x="11274552" y="6473952"/>
            <a:ext cx="411480" cy="274320"/>
          </a:xfrm>
          <a:prstGeom prst="rect">
            <a:avLst/>
          </a:prstGeom>
          <a:noFill/>
          <a:ln/>
        </p:spPr>
        <p:txBody>
          <a:bodyPr wrap="square" lIns="0" tIns="0" rIns="0" bIns="0" rtlCol="0" anchor="ctr"/>
          <a:lstStyle/>
          <a:p>
            <a:pPr marL="0" indent="0" algn="r">
              <a:buNone/>
            </a:pPr>
            <a:r>
              <a:rPr lang="en-US" sz="900" dirty="0">
                <a:solidFill>
                  <a:srgbClr val="8A7E76"/>
                </a:solidFill>
                <a:latin typeface="Calibri" pitchFamily="34" charset="0"/>
                <a:ea typeface="Calibri" pitchFamily="34" charset="-122"/>
                <a:cs typeface="Calibri" pitchFamily="34" charset="-120"/>
              </a:rPr>
              <a:t>15</a:t>
            </a:r>
            <a:endParaRPr lang="en-US" sz="900" dirty="0"/>
          </a:p>
        </p:txBody>
      </p:sp>
      <p:pic>
        <p:nvPicPr>
          <p:cNvPr id="32" name="Picture 31">
            <a:extLst>
              <a:ext uri="{FF2B5EF4-FFF2-40B4-BE49-F238E27FC236}">
                <a16:creationId xmlns:a16="http://schemas.microsoft.com/office/drawing/2014/main" id="{E3CCE56B-263E-F253-1A45-101502C454DE}"/>
              </a:ext>
            </a:extLst>
          </p:cNvPr>
          <p:cNvPicPr>
            <a:picLocks noChangeAspect="1"/>
          </p:cNvPicPr>
          <p:nvPr/>
        </p:nvPicPr>
        <p:blipFill>
          <a:blip r:embed="rId9"/>
          <a:stretch>
            <a:fillRect/>
          </a:stretch>
        </p:blipFill>
        <p:spPr>
          <a:xfrm>
            <a:off x="5595262" y="2194560"/>
            <a:ext cx="6048098" cy="3991011"/>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26201D"/>
        </a:solidFill>
        <a:effectLst/>
      </p:bgPr>
    </p:bg>
    <p:spTree>
      <p:nvGrpSpPr>
        <p:cNvPr id="1" name=""/>
        <p:cNvGrpSpPr/>
        <p:nvPr/>
      </p:nvGrpSpPr>
      <p:grpSpPr>
        <a:xfrm>
          <a:off x="0" y="0"/>
          <a:ext cx="0" cy="0"/>
          <a:chOff x="0" y="0"/>
          <a:chExt cx="0" cy="0"/>
        </a:xfrm>
      </p:grpSpPr>
      <p:sp>
        <p:nvSpPr>
          <p:cNvPr id="2" name="Text 0"/>
          <p:cNvSpPr/>
          <p:nvPr/>
        </p:nvSpPr>
        <p:spPr>
          <a:xfrm>
            <a:off x="502920" y="457200"/>
            <a:ext cx="8229600" cy="274320"/>
          </a:xfrm>
          <a:prstGeom prst="rect">
            <a:avLst/>
          </a:prstGeom>
          <a:noFill/>
          <a:ln/>
        </p:spPr>
        <p:txBody>
          <a:bodyPr wrap="square" lIns="0" tIns="0" rIns="0" bIns="0" rtlCol="0" anchor="ctr"/>
          <a:lstStyle/>
          <a:p>
            <a:pPr marL="0" indent="0">
              <a:buNone/>
            </a:pPr>
            <a:r>
              <a:rPr lang="en-US" sz="1200" b="1" kern="0" spc="300" dirty="0">
                <a:solidFill>
                  <a:srgbClr val="E0A43B"/>
                </a:solidFill>
                <a:latin typeface="Calibri" pitchFamily="34" charset="0"/>
                <a:ea typeface="Calibri" pitchFamily="34" charset="-122"/>
                <a:cs typeface="Calibri" pitchFamily="34" charset="-120"/>
              </a:rPr>
              <a:t>WHY THE NUMBERS ARE TRUSTWORTHY</a:t>
            </a:r>
            <a:endParaRPr lang="en-US" sz="1200" dirty="0"/>
          </a:p>
        </p:txBody>
      </p:sp>
      <p:sp>
        <p:nvSpPr>
          <p:cNvPr id="3" name="Text 1"/>
          <p:cNvSpPr/>
          <p:nvPr/>
        </p:nvSpPr>
        <p:spPr>
          <a:xfrm>
            <a:off x="475488" y="749808"/>
            <a:ext cx="10515600" cy="685800"/>
          </a:xfrm>
          <a:prstGeom prst="rect">
            <a:avLst/>
          </a:prstGeom>
          <a:noFill/>
          <a:ln/>
        </p:spPr>
        <p:txBody>
          <a:bodyPr wrap="square" lIns="0" tIns="0" rIns="0" bIns="0" rtlCol="0" anchor="ctr"/>
          <a:lstStyle/>
          <a:p>
            <a:pPr marL="0" indent="0">
              <a:buNone/>
            </a:pPr>
            <a:r>
              <a:rPr lang="en-US" sz="3100" b="1" dirty="0">
                <a:solidFill>
                  <a:srgbClr val="FFFFFF"/>
                </a:solidFill>
                <a:latin typeface="Cambria" pitchFamily="34" charset="0"/>
                <a:ea typeface="Cambria" pitchFamily="34" charset="-122"/>
                <a:cs typeface="Cambria" pitchFamily="34" charset="-120"/>
              </a:rPr>
              <a:t>Pricing engine — the worked example, verified</a:t>
            </a:r>
            <a:endParaRPr lang="en-US" sz="3100" dirty="0"/>
          </a:p>
        </p:txBody>
      </p:sp>
      <p:sp>
        <p:nvSpPr>
          <p:cNvPr id="4" name="Text 2"/>
          <p:cNvSpPr/>
          <p:nvPr/>
        </p:nvSpPr>
        <p:spPr>
          <a:xfrm>
            <a:off x="502920" y="1481328"/>
            <a:ext cx="11155680" cy="457200"/>
          </a:xfrm>
          <a:prstGeom prst="rect">
            <a:avLst/>
          </a:prstGeom>
          <a:noFill/>
          <a:ln/>
        </p:spPr>
        <p:txBody>
          <a:bodyPr wrap="square" lIns="0" tIns="0" rIns="0" bIns="0" rtlCol="0" anchor="ctr"/>
          <a:lstStyle/>
          <a:p>
            <a:pPr marL="0" indent="0">
              <a:buNone/>
            </a:pPr>
            <a:r>
              <a:rPr lang="en-US" sz="1350" dirty="0">
                <a:solidFill>
                  <a:srgbClr val="F3EBE0"/>
                </a:solidFill>
                <a:latin typeface="Calibri" pitchFamily="34" charset="0"/>
                <a:ea typeface="Calibri" pitchFamily="34" charset="-122"/>
                <a:cs typeface="Calibri" pitchFamily="34" charset="-120"/>
              </a:rPr>
              <a:t>One deterministic path, six steps, same result every time. This is the client's reference order — the app reproduces it to the paisa.</a:t>
            </a:r>
            <a:endParaRPr lang="en-US" sz="1350" dirty="0"/>
          </a:p>
        </p:txBody>
      </p:sp>
      <p:sp>
        <p:nvSpPr>
          <p:cNvPr id="5" name="Shape 3"/>
          <p:cNvSpPr/>
          <p:nvPr/>
        </p:nvSpPr>
        <p:spPr>
          <a:xfrm>
            <a:off x="548640" y="2240280"/>
            <a:ext cx="5943600" cy="384048"/>
          </a:xfrm>
          <a:prstGeom prst="rect">
            <a:avLst/>
          </a:prstGeom>
          <a:solidFill>
            <a:srgbClr val="342B26"/>
          </a:solidFill>
          <a:ln/>
        </p:spPr>
        <p:txBody>
          <a:bodyPr/>
          <a:lstStyle/>
          <a:p>
            <a:endParaRPr lang="en-IN"/>
          </a:p>
        </p:txBody>
      </p:sp>
      <p:sp>
        <p:nvSpPr>
          <p:cNvPr id="6" name="Text 4"/>
          <p:cNvSpPr/>
          <p:nvPr/>
        </p:nvSpPr>
        <p:spPr>
          <a:xfrm>
            <a:off x="777240" y="2240280"/>
            <a:ext cx="4114800" cy="384048"/>
          </a:xfrm>
          <a:prstGeom prst="rect">
            <a:avLst/>
          </a:prstGeom>
          <a:noFill/>
          <a:ln/>
        </p:spPr>
        <p:txBody>
          <a:bodyPr wrap="square" lIns="0" tIns="0" rIns="0" bIns="0" rtlCol="0" anchor="ctr"/>
          <a:lstStyle/>
          <a:p>
            <a:pPr marL="0" indent="0">
              <a:buNone/>
            </a:pPr>
            <a:r>
              <a:rPr lang="en-US" sz="1250" dirty="0">
                <a:solidFill>
                  <a:srgbClr val="FBF6EF"/>
                </a:solidFill>
                <a:latin typeface="Calibri" pitchFamily="34" charset="0"/>
                <a:ea typeface="Calibri" pitchFamily="34" charset="-122"/>
                <a:cs typeface="Calibri" pitchFamily="34" charset="-120"/>
              </a:rPr>
              <a:t>Base — Cheese Burst</a:t>
            </a:r>
            <a:endParaRPr lang="en-US" sz="1250" dirty="0"/>
          </a:p>
        </p:txBody>
      </p:sp>
      <p:sp>
        <p:nvSpPr>
          <p:cNvPr id="7" name="Text 5"/>
          <p:cNvSpPr/>
          <p:nvPr/>
        </p:nvSpPr>
        <p:spPr>
          <a:xfrm>
            <a:off x="4663440" y="2240280"/>
            <a:ext cx="1645920" cy="384048"/>
          </a:xfrm>
          <a:prstGeom prst="rect">
            <a:avLst/>
          </a:prstGeom>
          <a:noFill/>
          <a:ln/>
        </p:spPr>
        <p:txBody>
          <a:bodyPr wrap="square" lIns="0" tIns="0" rIns="0" bIns="0" rtlCol="0" anchor="ctr"/>
          <a:lstStyle/>
          <a:p>
            <a:pPr marL="0" indent="0" algn="r">
              <a:buNone/>
            </a:pPr>
            <a:r>
              <a:rPr lang="en-US" sz="1250" dirty="0">
                <a:solidFill>
                  <a:srgbClr val="FBF6EF"/>
                </a:solidFill>
                <a:latin typeface="Courier New" pitchFamily="34" charset="0"/>
                <a:ea typeface="Courier New" pitchFamily="34" charset="-122"/>
                <a:cs typeface="Courier New" pitchFamily="34" charset="-120"/>
              </a:rPr>
              <a:t>₹229.00</a:t>
            </a:r>
            <a:endParaRPr lang="en-US" sz="1250" dirty="0"/>
          </a:p>
        </p:txBody>
      </p:sp>
      <p:sp>
        <p:nvSpPr>
          <p:cNvPr id="8" name="Text 6"/>
          <p:cNvSpPr/>
          <p:nvPr/>
        </p:nvSpPr>
        <p:spPr>
          <a:xfrm>
            <a:off x="777240" y="2624328"/>
            <a:ext cx="4114800" cy="384048"/>
          </a:xfrm>
          <a:prstGeom prst="rect">
            <a:avLst/>
          </a:prstGeom>
          <a:noFill/>
          <a:ln/>
        </p:spPr>
        <p:txBody>
          <a:bodyPr wrap="square" lIns="0" tIns="0" rIns="0" bIns="0" rtlCol="0" anchor="ctr"/>
          <a:lstStyle/>
          <a:p>
            <a:pPr marL="0" indent="0">
              <a:buNone/>
            </a:pPr>
            <a:r>
              <a:rPr lang="en-US" sz="1250" dirty="0">
                <a:solidFill>
                  <a:srgbClr val="FBF6EF"/>
                </a:solidFill>
                <a:latin typeface="Calibri" pitchFamily="34" charset="0"/>
                <a:ea typeface="Calibri" pitchFamily="34" charset="-122"/>
                <a:cs typeface="Calibri" pitchFamily="34" charset="-120"/>
              </a:rPr>
              <a:t>Pizza — BBQ Chicken</a:t>
            </a:r>
            <a:endParaRPr lang="en-US" sz="1250" dirty="0"/>
          </a:p>
        </p:txBody>
      </p:sp>
      <p:sp>
        <p:nvSpPr>
          <p:cNvPr id="9" name="Text 7"/>
          <p:cNvSpPr/>
          <p:nvPr/>
        </p:nvSpPr>
        <p:spPr>
          <a:xfrm>
            <a:off x="4663440" y="2624328"/>
            <a:ext cx="1645920" cy="384048"/>
          </a:xfrm>
          <a:prstGeom prst="rect">
            <a:avLst/>
          </a:prstGeom>
          <a:noFill/>
          <a:ln/>
        </p:spPr>
        <p:txBody>
          <a:bodyPr wrap="square" lIns="0" tIns="0" rIns="0" bIns="0" rtlCol="0" anchor="ctr"/>
          <a:lstStyle/>
          <a:p>
            <a:pPr marL="0" indent="0" algn="r">
              <a:buNone/>
            </a:pPr>
            <a:r>
              <a:rPr lang="en-US" sz="1250" dirty="0">
                <a:solidFill>
                  <a:srgbClr val="FBF6EF"/>
                </a:solidFill>
                <a:latin typeface="Courier New" pitchFamily="34" charset="0"/>
                <a:ea typeface="Courier New" pitchFamily="34" charset="-122"/>
                <a:cs typeface="Courier New" pitchFamily="34" charset="-120"/>
              </a:rPr>
              <a:t>₹379.00</a:t>
            </a:r>
            <a:endParaRPr lang="en-US" sz="1250" dirty="0"/>
          </a:p>
        </p:txBody>
      </p:sp>
      <p:sp>
        <p:nvSpPr>
          <p:cNvPr id="10" name="Shape 8"/>
          <p:cNvSpPr/>
          <p:nvPr/>
        </p:nvSpPr>
        <p:spPr>
          <a:xfrm>
            <a:off x="548640" y="3008376"/>
            <a:ext cx="5943600" cy="384048"/>
          </a:xfrm>
          <a:prstGeom prst="rect">
            <a:avLst/>
          </a:prstGeom>
          <a:solidFill>
            <a:srgbClr val="342B26"/>
          </a:solidFill>
          <a:ln/>
        </p:spPr>
        <p:txBody>
          <a:bodyPr/>
          <a:lstStyle/>
          <a:p>
            <a:endParaRPr lang="en-IN"/>
          </a:p>
        </p:txBody>
      </p:sp>
      <p:sp>
        <p:nvSpPr>
          <p:cNvPr id="11" name="Text 9"/>
          <p:cNvSpPr/>
          <p:nvPr/>
        </p:nvSpPr>
        <p:spPr>
          <a:xfrm>
            <a:off x="777240" y="3008376"/>
            <a:ext cx="4114800" cy="384048"/>
          </a:xfrm>
          <a:prstGeom prst="rect">
            <a:avLst/>
          </a:prstGeom>
          <a:noFill/>
          <a:ln/>
        </p:spPr>
        <p:txBody>
          <a:bodyPr wrap="square" lIns="0" tIns="0" rIns="0" bIns="0" rtlCol="0" anchor="ctr"/>
          <a:lstStyle/>
          <a:p>
            <a:pPr marL="0" indent="0">
              <a:buNone/>
            </a:pPr>
            <a:r>
              <a:rPr lang="en-US" sz="1250" dirty="0">
                <a:solidFill>
                  <a:srgbClr val="FBF6EF"/>
                </a:solidFill>
                <a:latin typeface="Calibri" pitchFamily="34" charset="0"/>
                <a:ea typeface="Calibri" pitchFamily="34" charset="-122"/>
                <a:cs typeface="Calibri" pitchFamily="34" charset="-120"/>
              </a:rPr>
              <a:t>Topping — Extra Cheese</a:t>
            </a:r>
            <a:endParaRPr lang="en-US" sz="1250" dirty="0"/>
          </a:p>
        </p:txBody>
      </p:sp>
      <p:sp>
        <p:nvSpPr>
          <p:cNvPr id="12" name="Text 10"/>
          <p:cNvSpPr/>
          <p:nvPr/>
        </p:nvSpPr>
        <p:spPr>
          <a:xfrm>
            <a:off x="4663440" y="3008376"/>
            <a:ext cx="1645920" cy="384048"/>
          </a:xfrm>
          <a:prstGeom prst="rect">
            <a:avLst/>
          </a:prstGeom>
          <a:noFill/>
          <a:ln/>
        </p:spPr>
        <p:txBody>
          <a:bodyPr wrap="square" lIns="0" tIns="0" rIns="0" bIns="0" rtlCol="0" anchor="ctr"/>
          <a:lstStyle/>
          <a:p>
            <a:pPr marL="0" indent="0" algn="r">
              <a:buNone/>
            </a:pPr>
            <a:r>
              <a:rPr lang="en-US" sz="1250" dirty="0">
                <a:solidFill>
                  <a:srgbClr val="FBF6EF"/>
                </a:solidFill>
                <a:latin typeface="Courier New" pitchFamily="34" charset="0"/>
                <a:ea typeface="Courier New" pitchFamily="34" charset="-122"/>
                <a:cs typeface="Courier New" pitchFamily="34" charset="-120"/>
              </a:rPr>
              <a:t>₹69.00</a:t>
            </a:r>
            <a:endParaRPr lang="en-US" sz="1250" dirty="0"/>
          </a:p>
        </p:txBody>
      </p:sp>
      <p:sp>
        <p:nvSpPr>
          <p:cNvPr id="13" name="Text 11"/>
          <p:cNvSpPr/>
          <p:nvPr/>
        </p:nvSpPr>
        <p:spPr>
          <a:xfrm>
            <a:off x="777240" y="3392424"/>
            <a:ext cx="4114800" cy="384048"/>
          </a:xfrm>
          <a:prstGeom prst="rect">
            <a:avLst/>
          </a:prstGeom>
          <a:noFill/>
          <a:ln/>
        </p:spPr>
        <p:txBody>
          <a:bodyPr wrap="square" lIns="0" tIns="0" rIns="0" bIns="0" rtlCol="0" anchor="ctr"/>
          <a:lstStyle/>
          <a:p>
            <a:pPr marL="0" indent="0">
              <a:buNone/>
            </a:pPr>
            <a:r>
              <a:rPr lang="en-US" sz="1250" b="1" dirty="0">
                <a:solidFill>
                  <a:srgbClr val="E0A43B"/>
                </a:solidFill>
                <a:latin typeface="Calibri" pitchFamily="34" charset="0"/>
                <a:ea typeface="Calibri" pitchFamily="34" charset="-122"/>
                <a:cs typeface="Calibri" pitchFamily="34" charset="-120"/>
              </a:rPr>
              <a:t>Unit price</a:t>
            </a:r>
            <a:endParaRPr lang="en-US" sz="1250" dirty="0"/>
          </a:p>
        </p:txBody>
      </p:sp>
      <p:sp>
        <p:nvSpPr>
          <p:cNvPr id="14" name="Text 12"/>
          <p:cNvSpPr/>
          <p:nvPr/>
        </p:nvSpPr>
        <p:spPr>
          <a:xfrm>
            <a:off x="4663440" y="3392424"/>
            <a:ext cx="1645920" cy="384048"/>
          </a:xfrm>
          <a:prstGeom prst="rect">
            <a:avLst/>
          </a:prstGeom>
          <a:noFill/>
          <a:ln/>
        </p:spPr>
        <p:txBody>
          <a:bodyPr wrap="square" lIns="0" tIns="0" rIns="0" bIns="0" rtlCol="0" anchor="ctr"/>
          <a:lstStyle/>
          <a:p>
            <a:pPr marL="0" indent="0" algn="r">
              <a:buNone/>
            </a:pPr>
            <a:r>
              <a:rPr lang="en-US" sz="1250" b="1" dirty="0">
                <a:solidFill>
                  <a:srgbClr val="E0A43B"/>
                </a:solidFill>
                <a:latin typeface="Courier New" pitchFamily="34" charset="0"/>
                <a:ea typeface="Courier New" pitchFamily="34" charset="-122"/>
                <a:cs typeface="Courier New" pitchFamily="34" charset="-120"/>
              </a:rPr>
              <a:t>₹677.00</a:t>
            </a:r>
            <a:endParaRPr lang="en-US" sz="1250" dirty="0"/>
          </a:p>
        </p:txBody>
      </p:sp>
      <p:sp>
        <p:nvSpPr>
          <p:cNvPr id="15" name="Shape 13"/>
          <p:cNvSpPr/>
          <p:nvPr/>
        </p:nvSpPr>
        <p:spPr>
          <a:xfrm>
            <a:off x="548640" y="3776472"/>
            <a:ext cx="5943600" cy="384048"/>
          </a:xfrm>
          <a:prstGeom prst="rect">
            <a:avLst/>
          </a:prstGeom>
          <a:solidFill>
            <a:srgbClr val="342B26"/>
          </a:solidFill>
          <a:ln/>
        </p:spPr>
        <p:txBody>
          <a:bodyPr/>
          <a:lstStyle/>
          <a:p>
            <a:endParaRPr lang="en-IN"/>
          </a:p>
        </p:txBody>
      </p:sp>
      <p:sp>
        <p:nvSpPr>
          <p:cNvPr id="16" name="Text 14"/>
          <p:cNvSpPr/>
          <p:nvPr/>
        </p:nvSpPr>
        <p:spPr>
          <a:xfrm>
            <a:off x="777240" y="3776472"/>
            <a:ext cx="4114800" cy="384048"/>
          </a:xfrm>
          <a:prstGeom prst="rect">
            <a:avLst/>
          </a:prstGeom>
          <a:noFill/>
          <a:ln/>
        </p:spPr>
        <p:txBody>
          <a:bodyPr wrap="square" lIns="0" tIns="0" rIns="0" bIns="0" rtlCol="0" anchor="ctr"/>
          <a:lstStyle/>
          <a:p>
            <a:pPr marL="0" indent="0">
              <a:buNone/>
            </a:pPr>
            <a:r>
              <a:rPr lang="en-US" sz="1250" dirty="0">
                <a:solidFill>
                  <a:srgbClr val="FBF6EF"/>
                </a:solidFill>
                <a:latin typeface="Calibri" pitchFamily="34" charset="0"/>
                <a:ea typeface="Calibri" pitchFamily="34" charset="-122"/>
                <a:cs typeface="Calibri" pitchFamily="34" charset="-120"/>
              </a:rPr>
              <a:t>Subtotal (× qty 5)</a:t>
            </a:r>
            <a:endParaRPr lang="en-US" sz="1250" dirty="0"/>
          </a:p>
        </p:txBody>
      </p:sp>
      <p:sp>
        <p:nvSpPr>
          <p:cNvPr id="17" name="Text 15"/>
          <p:cNvSpPr/>
          <p:nvPr/>
        </p:nvSpPr>
        <p:spPr>
          <a:xfrm>
            <a:off x="4663440" y="3776472"/>
            <a:ext cx="1645920" cy="384048"/>
          </a:xfrm>
          <a:prstGeom prst="rect">
            <a:avLst/>
          </a:prstGeom>
          <a:noFill/>
          <a:ln/>
        </p:spPr>
        <p:txBody>
          <a:bodyPr wrap="square" lIns="0" tIns="0" rIns="0" bIns="0" rtlCol="0" anchor="ctr"/>
          <a:lstStyle/>
          <a:p>
            <a:pPr marL="0" indent="0" algn="r">
              <a:buNone/>
            </a:pPr>
            <a:r>
              <a:rPr lang="en-US" sz="1250" dirty="0">
                <a:solidFill>
                  <a:srgbClr val="FBF6EF"/>
                </a:solidFill>
                <a:latin typeface="Courier New" pitchFamily="34" charset="0"/>
                <a:ea typeface="Courier New" pitchFamily="34" charset="-122"/>
                <a:cs typeface="Courier New" pitchFamily="34" charset="-120"/>
              </a:rPr>
              <a:t>₹3,385.00</a:t>
            </a:r>
            <a:endParaRPr lang="en-US" sz="1250" dirty="0"/>
          </a:p>
        </p:txBody>
      </p:sp>
      <p:sp>
        <p:nvSpPr>
          <p:cNvPr id="18" name="Text 16"/>
          <p:cNvSpPr/>
          <p:nvPr/>
        </p:nvSpPr>
        <p:spPr>
          <a:xfrm>
            <a:off x="777240" y="4160520"/>
            <a:ext cx="4114800" cy="384048"/>
          </a:xfrm>
          <a:prstGeom prst="rect">
            <a:avLst/>
          </a:prstGeom>
          <a:noFill/>
          <a:ln/>
        </p:spPr>
        <p:txBody>
          <a:bodyPr wrap="square" lIns="0" tIns="0" rIns="0" bIns="0" rtlCol="0" anchor="ctr"/>
          <a:lstStyle/>
          <a:p>
            <a:pPr marL="0" indent="0">
              <a:buNone/>
            </a:pPr>
            <a:r>
              <a:rPr lang="en-US" sz="1250" dirty="0">
                <a:solidFill>
                  <a:srgbClr val="FBF6EF"/>
                </a:solidFill>
                <a:latin typeface="Calibri" pitchFamily="34" charset="0"/>
                <a:ea typeface="Calibri" pitchFamily="34" charset="-122"/>
                <a:cs typeface="Calibri" pitchFamily="34" charset="-120"/>
              </a:rPr>
              <a:t>Discount — 10% (qty ≥ 5)</a:t>
            </a:r>
            <a:endParaRPr lang="en-US" sz="1250" dirty="0"/>
          </a:p>
        </p:txBody>
      </p:sp>
      <p:sp>
        <p:nvSpPr>
          <p:cNvPr id="19" name="Text 17"/>
          <p:cNvSpPr/>
          <p:nvPr/>
        </p:nvSpPr>
        <p:spPr>
          <a:xfrm>
            <a:off x="4663440" y="4160520"/>
            <a:ext cx="1645920" cy="384048"/>
          </a:xfrm>
          <a:prstGeom prst="rect">
            <a:avLst/>
          </a:prstGeom>
          <a:noFill/>
          <a:ln/>
        </p:spPr>
        <p:txBody>
          <a:bodyPr wrap="square" lIns="0" tIns="0" rIns="0" bIns="0" rtlCol="0" anchor="ctr"/>
          <a:lstStyle/>
          <a:p>
            <a:pPr marL="0" indent="0" algn="r">
              <a:buNone/>
            </a:pPr>
            <a:r>
              <a:rPr lang="en-US" sz="1250" dirty="0">
                <a:solidFill>
                  <a:srgbClr val="FBF6EF"/>
                </a:solidFill>
                <a:latin typeface="Courier New" pitchFamily="34" charset="0"/>
                <a:ea typeface="Courier New" pitchFamily="34" charset="-122"/>
                <a:cs typeface="Courier New" pitchFamily="34" charset="-120"/>
              </a:rPr>
              <a:t>− ₹338.50</a:t>
            </a:r>
            <a:endParaRPr lang="en-US" sz="1250" dirty="0"/>
          </a:p>
        </p:txBody>
      </p:sp>
      <p:sp>
        <p:nvSpPr>
          <p:cNvPr id="20" name="Shape 18"/>
          <p:cNvSpPr/>
          <p:nvPr/>
        </p:nvSpPr>
        <p:spPr>
          <a:xfrm>
            <a:off x="548640" y="4544568"/>
            <a:ext cx="5943600" cy="384048"/>
          </a:xfrm>
          <a:prstGeom prst="rect">
            <a:avLst/>
          </a:prstGeom>
          <a:solidFill>
            <a:srgbClr val="342B26"/>
          </a:solidFill>
          <a:ln/>
        </p:spPr>
        <p:txBody>
          <a:bodyPr/>
          <a:lstStyle/>
          <a:p>
            <a:endParaRPr lang="en-IN"/>
          </a:p>
        </p:txBody>
      </p:sp>
      <p:sp>
        <p:nvSpPr>
          <p:cNvPr id="21" name="Text 19"/>
          <p:cNvSpPr/>
          <p:nvPr/>
        </p:nvSpPr>
        <p:spPr>
          <a:xfrm>
            <a:off x="777240" y="4544568"/>
            <a:ext cx="4114800" cy="384048"/>
          </a:xfrm>
          <a:prstGeom prst="rect">
            <a:avLst/>
          </a:prstGeom>
          <a:noFill/>
          <a:ln/>
        </p:spPr>
        <p:txBody>
          <a:bodyPr wrap="square" lIns="0" tIns="0" rIns="0" bIns="0" rtlCol="0" anchor="ctr"/>
          <a:lstStyle/>
          <a:p>
            <a:pPr marL="0" indent="0">
              <a:buNone/>
            </a:pPr>
            <a:r>
              <a:rPr lang="en-US" sz="1250" b="1" dirty="0">
                <a:solidFill>
                  <a:srgbClr val="E0A43B"/>
                </a:solidFill>
                <a:latin typeface="Calibri" pitchFamily="34" charset="0"/>
                <a:ea typeface="Calibri" pitchFamily="34" charset="-122"/>
                <a:cs typeface="Calibri" pitchFamily="34" charset="-120"/>
              </a:rPr>
              <a:t>Taxable amount</a:t>
            </a:r>
            <a:endParaRPr lang="en-US" sz="1250" dirty="0"/>
          </a:p>
        </p:txBody>
      </p:sp>
      <p:sp>
        <p:nvSpPr>
          <p:cNvPr id="22" name="Text 20"/>
          <p:cNvSpPr/>
          <p:nvPr/>
        </p:nvSpPr>
        <p:spPr>
          <a:xfrm>
            <a:off x="4663440" y="4544568"/>
            <a:ext cx="1645920" cy="384048"/>
          </a:xfrm>
          <a:prstGeom prst="rect">
            <a:avLst/>
          </a:prstGeom>
          <a:noFill/>
          <a:ln/>
        </p:spPr>
        <p:txBody>
          <a:bodyPr wrap="square" lIns="0" tIns="0" rIns="0" bIns="0" rtlCol="0" anchor="ctr"/>
          <a:lstStyle/>
          <a:p>
            <a:pPr marL="0" indent="0" algn="r">
              <a:buNone/>
            </a:pPr>
            <a:r>
              <a:rPr lang="en-US" sz="1250" b="1" dirty="0">
                <a:solidFill>
                  <a:srgbClr val="E0A43B"/>
                </a:solidFill>
                <a:latin typeface="Courier New" pitchFamily="34" charset="0"/>
                <a:ea typeface="Courier New" pitchFamily="34" charset="-122"/>
                <a:cs typeface="Courier New" pitchFamily="34" charset="-120"/>
              </a:rPr>
              <a:t>₹3,046.50</a:t>
            </a:r>
            <a:endParaRPr lang="en-US" sz="1250" dirty="0"/>
          </a:p>
        </p:txBody>
      </p:sp>
      <p:sp>
        <p:nvSpPr>
          <p:cNvPr id="23" name="Text 21"/>
          <p:cNvSpPr/>
          <p:nvPr/>
        </p:nvSpPr>
        <p:spPr>
          <a:xfrm>
            <a:off x="777240" y="4928616"/>
            <a:ext cx="4114800" cy="384048"/>
          </a:xfrm>
          <a:prstGeom prst="rect">
            <a:avLst/>
          </a:prstGeom>
          <a:noFill/>
          <a:ln/>
        </p:spPr>
        <p:txBody>
          <a:bodyPr wrap="square" lIns="0" tIns="0" rIns="0" bIns="0" rtlCol="0" anchor="ctr"/>
          <a:lstStyle/>
          <a:p>
            <a:pPr marL="0" indent="0">
              <a:buNone/>
            </a:pPr>
            <a:r>
              <a:rPr lang="en-US" sz="1250" dirty="0">
                <a:solidFill>
                  <a:srgbClr val="FBF6EF"/>
                </a:solidFill>
                <a:latin typeface="Calibri" pitchFamily="34" charset="0"/>
                <a:ea typeface="Calibri" pitchFamily="34" charset="-122"/>
                <a:cs typeface="Calibri" pitchFamily="34" charset="-120"/>
              </a:rPr>
              <a:t>GST @ 18%</a:t>
            </a:r>
            <a:endParaRPr lang="en-US" sz="1250" dirty="0"/>
          </a:p>
        </p:txBody>
      </p:sp>
      <p:sp>
        <p:nvSpPr>
          <p:cNvPr id="24" name="Text 22"/>
          <p:cNvSpPr/>
          <p:nvPr/>
        </p:nvSpPr>
        <p:spPr>
          <a:xfrm>
            <a:off x="4663440" y="4928616"/>
            <a:ext cx="1645920" cy="384048"/>
          </a:xfrm>
          <a:prstGeom prst="rect">
            <a:avLst/>
          </a:prstGeom>
          <a:noFill/>
          <a:ln/>
        </p:spPr>
        <p:txBody>
          <a:bodyPr wrap="square" lIns="0" tIns="0" rIns="0" bIns="0" rtlCol="0" anchor="ctr"/>
          <a:lstStyle/>
          <a:p>
            <a:pPr marL="0" indent="0" algn="r">
              <a:buNone/>
            </a:pPr>
            <a:r>
              <a:rPr lang="en-US" sz="1250" dirty="0">
                <a:solidFill>
                  <a:srgbClr val="FBF6EF"/>
                </a:solidFill>
                <a:latin typeface="Courier New" pitchFamily="34" charset="0"/>
                <a:ea typeface="Courier New" pitchFamily="34" charset="-122"/>
                <a:cs typeface="Courier New" pitchFamily="34" charset="-120"/>
              </a:rPr>
              <a:t>₹548.37</a:t>
            </a:r>
            <a:endParaRPr lang="en-US" sz="1250" dirty="0"/>
          </a:p>
        </p:txBody>
      </p:sp>
      <p:sp>
        <p:nvSpPr>
          <p:cNvPr id="25" name="Shape 23"/>
          <p:cNvSpPr/>
          <p:nvPr/>
        </p:nvSpPr>
        <p:spPr>
          <a:xfrm>
            <a:off x="548640" y="5404104"/>
            <a:ext cx="5943600" cy="566928"/>
          </a:xfrm>
          <a:prstGeom prst="roundRect">
            <a:avLst>
              <a:gd name="adj" fmla="val 12903"/>
            </a:avLst>
          </a:prstGeom>
          <a:solidFill>
            <a:srgbClr val="C1352B"/>
          </a:solidFill>
          <a:ln/>
        </p:spPr>
        <p:txBody>
          <a:bodyPr/>
          <a:lstStyle/>
          <a:p>
            <a:endParaRPr lang="en-IN"/>
          </a:p>
        </p:txBody>
      </p:sp>
      <p:sp>
        <p:nvSpPr>
          <p:cNvPr id="26" name="Text 24"/>
          <p:cNvSpPr/>
          <p:nvPr/>
        </p:nvSpPr>
        <p:spPr>
          <a:xfrm>
            <a:off x="777240" y="5404104"/>
            <a:ext cx="3931920" cy="566928"/>
          </a:xfrm>
          <a:prstGeom prst="rect">
            <a:avLst/>
          </a:prstGeom>
          <a:noFill/>
          <a:ln/>
        </p:spPr>
        <p:txBody>
          <a:bodyPr wrap="square" lIns="0" tIns="0" rIns="0" bIns="0" rtlCol="0" anchor="ctr"/>
          <a:lstStyle/>
          <a:p>
            <a:pPr marL="0" indent="0">
              <a:buNone/>
            </a:pPr>
            <a:r>
              <a:rPr lang="en-US" sz="1500" b="1" dirty="0">
                <a:solidFill>
                  <a:srgbClr val="FFFFFF"/>
                </a:solidFill>
                <a:latin typeface="Calibri" pitchFamily="34" charset="0"/>
                <a:ea typeface="Calibri" pitchFamily="34" charset="-122"/>
                <a:cs typeface="Calibri" pitchFamily="34" charset="-120"/>
              </a:rPr>
              <a:t>Total payable</a:t>
            </a:r>
            <a:endParaRPr lang="en-US" sz="1500" dirty="0"/>
          </a:p>
        </p:txBody>
      </p:sp>
      <p:sp>
        <p:nvSpPr>
          <p:cNvPr id="27" name="Text 25"/>
          <p:cNvSpPr/>
          <p:nvPr/>
        </p:nvSpPr>
        <p:spPr>
          <a:xfrm>
            <a:off x="4480560" y="5404104"/>
            <a:ext cx="1828800" cy="566928"/>
          </a:xfrm>
          <a:prstGeom prst="rect">
            <a:avLst/>
          </a:prstGeom>
          <a:noFill/>
          <a:ln/>
        </p:spPr>
        <p:txBody>
          <a:bodyPr wrap="square" lIns="0" tIns="0" rIns="0" bIns="0" rtlCol="0" anchor="ctr"/>
          <a:lstStyle/>
          <a:p>
            <a:pPr marL="0" indent="0" algn="r">
              <a:buNone/>
            </a:pPr>
            <a:r>
              <a:rPr lang="en-US" sz="1700" b="1" dirty="0">
                <a:solidFill>
                  <a:srgbClr val="FFFFFF"/>
                </a:solidFill>
                <a:latin typeface="Courier New" pitchFamily="34" charset="0"/>
                <a:ea typeface="Courier New" pitchFamily="34" charset="-122"/>
                <a:cs typeface="Courier New" pitchFamily="34" charset="-120"/>
              </a:rPr>
              <a:t>₹3,594.87</a:t>
            </a:r>
            <a:endParaRPr lang="en-US" sz="1700" dirty="0"/>
          </a:p>
        </p:txBody>
      </p:sp>
      <p:sp>
        <p:nvSpPr>
          <p:cNvPr id="28" name="Text 26"/>
          <p:cNvSpPr/>
          <p:nvPr/>
        </p:nvSpPr>
        <p:spPr>
          <a:xfrm>
            <a:off x="6903720" y="2148840"/>
            <a:ext cx="4754880" cy="274320"/>
          </a:xfrm>
          <a:prstGeom prst="rect">
            <a:avLst/>
          </a:prstGeom>
          <a:noFill/>
          <a:ln/>
        </p:spPr>
        <p:txBody>
          <a:bodyPr wrap="square" lIns="0" tIns="0" rIns="0" bIns="0" rtlCol="0" anchor="ctr"/>
          <a:lstStyle/>
          <a:p>
            <a:pPr marL="0" indent="0">
              <a:buNone/>
            </a:pPr>
            <a:r>
              <a:rPr lang="en-US" sz="1200" b="1" kern="0" spc="200" dirty="0">
                <a:solidFill>
                  <a:srgbClr val="E0A43B"/>
                </a:solidFill>
                <a:latin typeface="Calibri" pitchFamily="34" charset="0"/>
                <a:ea typeface="Calibri" pitchFamily="34" charset="-122"/>
                <a:cs typeface="Calibri" pitchFamily="34" charset="-120"/>
              </a:rPr>
              <a:t>THE SIX STEPS</a:t>
            </a:r>
            <a:endParaRPr lang="en-US" sz="1200" dirty="0"/>
          </a:p>
        </p:txBody>
      </p:sp>
      <p:sp>
        <p:nvSpPr>
          <p:cNvPr id="29" name="Shape 27"/>
          <p:cNvSpPr/>
          <p:nvPr/>
        </p:nvSpPr>
        <p:spPr>
          <a:xfrm>
            <a:off x="6903720" y="2542032"/>
            <a:ext cx="402336" cy="402336"/>
          </a:xfrm>
          <a:prstGeom prst="ellipse">
            <a:avLst/>
          </a:prstGeom>
          <a:solidFill>
            <a:srgbClr val="E0A43B"/>
          </a:solidFill>
          <a:ln/>
        </p:spPr>
        <p:txBody>
          <a:bodyPr/>
          <a:lstStyle/>
          <a:p>
            <a:endParaRPr lang="en-IN"/>
          </a:p>
        </p:txBody>
      </p:sp>
      <p:sp>
        <p:nvSpPr>
          <p:cNvPr id="30" name="Text 28"/>
          <p:cNvSpPr/>
          <p:nvPr/>
        </p:nvSpPr>
        <p:spPr>
          <a:xfrm>
            <a:off x="6903720" y="2551176"/>
            <a:ext cx="402336" cy="384048"/>
          </a:xfrm>
          <a:prstGeom prst="rect">
            <a:avLst/>
          </a:prstGeom>
          <a:noFill/>
          <a:ln/>
        </p:spPr>
        <p:txBody>
          <a:bodyPr wrap="square" lIns="0" tIns="0" rIns="0" bIns="0" rtlCol="0" anchor="ctr"/>
          <a:lstStyle/>
          <a:p>
            <a:pPr marL="0" indent="0" algn="ctr">
              <a:buNone/>
            </a:pPr>
            <a:r>
              <a:rPr lang="en-US" sz="1600" b="1" dirty="0">
                <a:solidFill>
                  <a:srgbClr val="26201D"/>
                </a:solidFill>
                <a:latin typeface="Cambria" pitchFamily="34" charset="0"/>
                <a:ea typeface="Cambria" pitchFamily="34" charset="-122"/>
                <a:cs typeface="Cambria" pitchFamily="34" charset="-120"/>
              </a:rPr>
              <a:t>1</a:t>
            </a:r>
            <a:endParaRPr lang="en-US" sz="1600" dirty="0"/>
          </a:p>
        </p:txBody>
      </p:sp>
      <p:sp>
        <p:nvSpPr>
          <p:cNvPr id="31" name="Text 29"/>
          <p:cNvSpPr/>
          <p:nvPr/>
        </p:nvSpPr>
        <p:spPr>
          <a:xfrm>
            <a:off x="7452360" y="2505456"/>
            <a:ext cx="4206240" cy="457200"/>
          </a:xfrm>
          <a:prstGeom prst="rect">
            <a:avLst/>
          </a:prstGeom>
          <a:noFill/>
          <a:ln/>
        </p:spPr>
        <p:txBody>
          <a:bodyPr wrap="square" lIns="0" tIns="0" rIns="0" bIns="0" rtlCol="0" anchor="ctr"/>
          <a:lstStyle/>
          <a:p>
            <a:pPr marL="0" indent="0">
              <a:buNone/>
            </a:pPr>
            <a:r>
              <a:rPr lang="en-US" sz="1250" dirty="0">
                <a:solidFill>
                  <a:srgbClr val="FBF6EF"/>
                </a:solidFill>
                <a:latin typeface="Calibri" pitchFamily="34" charset="0"/>
                <a:ea typeface="Calibri" pitchFamily="34" charset="-122"/>
                <a:cs typeface="Calibri" pitchFamily="34" charset="-120"/>
              </a:rPr>
              <a:t>Unit price = Base + Pizza + Topping</a:t>
            </a:r>
            <a:endParaRPr lang="en-US" sz="1250" dirty="0"/>
          </a:p>
        </p:txBody>
      </p:sp>
      <p:sp>
        <p:nvSpPr>
          <p:cNvPr id="32" name="Shape 30"/>
          <p:cNvSpPr/>
          <p:nvPr/>
        </p:nvSpPr>
        <p:spPr>
          <a:xfrm>
            <a:off x="6903720" y="3108960"/>
            <a:ext cx="402336" cy="402336"/>
          </a:xfrm>
          <a:prstGeom prst="ellipse">
            <a:avLst/>
          </a:prstGeom>
          <a:solidFill>
            <a:srgbClr val="E0A43B"/>
          </a:solidFill>
          <a:ln/>
        </p:spPr>
        <p:txBody>
          <a:bodyPr/>
          <a:lstStyle/>
          <a:p>
            <a:endParaRPr lang="en-IN"/>
          </a:p>
        </p:txBody>
      </p:sp>
      <p:sp>
        <p:nvSpPr>
          <p:cNvPr id="33" name="Text 31"/>
          <p:cNvSpPr/>
          <p:nvPr/>
        </p:nvSpPr>
        <p:spPr>
          <a:xfrm>
            <a:off x="6903720" y="3118104"/>
            <a:ext cx="402336" cy="384048"/>
          </a:xfrm>
          <a:prstGeom prst="rect">
            <a:avLst/>
          </a:prstGeom>
          <a:noFill/>
          <a:ln/>
        </p:spPr>
        <p:txBody>
          <a:bodyPr wrap="square" lIns="0" tIns="0" rIns="0" bIns="0" rtlCol="0" anchor="ctr"/>
          <a:lstStyle/>
          <a:p>
            <a:pPr marL="0" indent="0" algn="ctr">
              <a:buNone/>
            </a:pPr>
            <a:r>
              <a:rPr lang="en-US" sz="1600" b="1" dirty="0">
                <a:solidFill>
                  <a:srgbClr val="26201D"/>
                </a:solidFill>
                <a:latin typeface="Cambria" pitchFamily="34" charset="0"/>
                <a:ea typeface="Cambria" pitchFamily="34" charset="-122"/>
                <a:cs typeface="Cambria" pitchFamily="34" charset="-120"/>
              </a:rPr>
              <a:t>2</a:t>
            </a:r>
            <a:endParaRPr lang="en-US" sz="1600" dirty="0"/>
          </a:p>
        </p:txBody>
      </p:sp>
      <p:sp>
        <p:nvSpPr>
          <p:cNvPr id="34" name="Text 32"/>
          <p:cNvSpPr/>
          <p:nvPr/>
        </p:nvSpPr>
        <p:spPr>
          <a:xfrm>
            <a:off x="7452360" y="3072384"/>
            <a:ext cx="4206240" cy="457200"/>
          </a:xfrm>
          <a:prstGeom prst="rect">
            <a:avLst/>
          </a:prstGeom>
          <a:noFill/>
          <a:ln/>
        </p:spPr>
        <p:txBody>
          <a:bodyPr wrap="square" lIns="0" tIns="0" rIns="0" bIns="0" rtlCol="0" anchor="ctr"/>
          <a:lstStyle/>
          <a:p>
            <a:pPr marL="0" indent="0">
              <a:buNone/>
            </a:pPr>
            <a:r>
              <a:rPr lang="en-US" sz="1250" dirty="0">
                <a:solidFill>
                  <a:srgbClr val="FBF6EF"/>
                </a:solidFill>
                <a:latin typeface="Calibri" pitchFamily="34" charset="0"/>
                <a:ea typeface="Calibri" pitchFamily="34" charset="-122"/>
                <a:cs typeface="Calibri" pitchFamily="34" charset="-120"/>
              </a:rPr>
              <a:t>Subtotal = Unit price × Quantity</a:t>
            </a:r>
            <a:endParaRPr lang="en-US" sz="1250" dirty="0"/>
          </a:p>
        </p:txBody>
      </p:sp>
      <p:sp>
        <p:nvSpPr>
          <p:cNvPr id="35" name="Shape 33"/>
          <p:cNvSpPr/>
          <p:nvPr/>
        </p:nvSpPr>
        <p:spPr>
          <a:xfrm>
            <a:off x="6903720" y="3675888"/>
            <a:ext cx="402336" cy="402336"/>
          </a:xfrm>
          <a:prstGeom prst="ellipse">
            <a:avLst/>
          </a:prstGeom>
          <a:solidFill>
            <a:srgbClr val="E0A43B"/>
          </a:solidFill>
          <a:ln/>
        </p:spPr>
        <p:txBody>
          <a:bodyPr/>
          <a:lstStyle/>
          <a:p>
            <a:endParaRPr lang="en-IN"/>
          </a:p>
        </p:txBody>
      </p:sp>
      <p:sp>
        <p:nvSpPr>
          <p:cNvPr id="36" name="Text 34"/>
          <p:cNvSpPr/>
          <p:nvPr/>
        </p:nvSpPr>
        <p:spPr>
          <a:xfrm>
            <a:off x="6903720" y="3685032"/>
            <a:ext cx="402336" cy="384048"/>
          </a:xfrm>
          <a:prstGeom prst="rect">
            <a:avLst/>
          </a:prstGeom>
          <a:noFill/>
          <a:ln/>
        </p:spPr>
        <p:txBody>
          <a:bodyPr wrap="square" lIns="0" tIns="0" rIns="0" bIns="0" rtlCol="0" anchor="ctr"/>
          <a:lstStyle/>
          <a:p>
            <a:pPr marL="0" indent="0" algn="ctr">
              <a:buNone/>
            </a:pPr>
            <a:r>
              <a:rPr lang="en-US" sz="1600" b="1" dirty="0">
                <a:solidFill>
                  <a:srgbClr val="26201D"/>
                </a:solidFill>
                <a:latin typeface="Cambria" pitchFamily="34" charset="0"/>
                <a:ea typeface="Cambria" pitchFamily="34" charset="-122"/>
                <a:cs typeface="Cambria" pitchFamily="34" charset="-120"/>
              </a:rPr>
              <a:t>3</a:t>
            </a:r>
            <a:endParaRPr lang="en-US" sz="1600" dirty="0"/>
          </a:p>
        </p:txBody>
      </p:sp>
      <p:sp>
        <p:nvSpPr>
          <p:cNvPr id="37" name="Text 35"/>
          <p:cNvSpPr/>
          <p:nvPr/>
        </p:nvSpPr>
        <p:spPr>
          <a:xfrm>
            <a:off x="7452360" y="3639312"/>
            <a:ext cx="4206240" cy="457200"/>
          </a:xfrm>
          <a:prstGeom prst="rect">
            <a:avLst/>
          </a:prstGeom>
          <a:noFill/>
          <a:ln/>
        </p:spPr>
        <p:txBody>
          <a:bodyPr wrap="square" lIns="0" tIns="0" rIns="0" bIns="0" rtlCol="0" anchor="ctr"/>
          <a:lstStyle/>
          <a:p>
            <a:pPr marL="0" indent="0">
              <a:buNone/>
            </a:pPr>
            <a:r>
              <a:rPr lang="en-US" sz="1250" dirty="0">
                <a:solidFill>
                  <a:srgbClr val="FBF6EF"/>
                </a:solidFill>
                <a:latin typeface="Calibri" pitchFamily="34" charset="0"/>
                <a:ea typeface="Calibri" pitchFamily="34" charset="-122"/>
                <a:cs typeface="Calibri" pitchFamily="34" charset="-120"/>
              </a:rPr>
              <a:t>Discount = 10% if Qty ≥ 5, else ₹0</a:t>
            </a:r>
            <a:endParaRPr lang="en-US" sz="1250" dirty="0"/>
          </a:p>
        </p:txBody>
      </p:sp>
      <p:sp>
        <p:nvSpPr>
          <p:cNvPr id="38" name="Shape 36"/>
          <p:cNvSpPr/>
          <p:nvPr/>
        </p:nvSpPr>
        <p:spPr>
          <a:xfrm>
            <a:off x="6903720" y="4242816"/>
            <a:ext cx="402336" cy="402336"/>
          </a:xfrm>
          <a:prstGeom prst="ellipse">
            <a:avLst/>
          </a:prstGeom>
          <a:solidFill>
            <a:srgbClr val="E0A43B"/>
          </a:solidFill>
          <a:ln/>
        </p:spPr>
        <p:txBody>
          <a:bodyPr/>
          <a:lstStyle/>
          <a:p>
            <a:endParaRPr lang="en-IN"/>
          </a:p>
        </p:txBody>
      </p:sp>
      <p:sp>
        <p:nvSpPr>
          <p:cNvPr id="39" name="Text 37"/>
          <p:cNvSpPr/>
          <p:nvPr/>
        </p:nvSpPr>
        <p:spPr>
          <a:xfrm>
            <a:off x="6903720" y="4251960"/>
            <a:ext cx="402336" cy="384048"/>
          </a:xfrm>
          <a:prstGeom prst="rect">
            <a:avLst/>
          </a:prstGeom>
          <a:noFill/>
          <a:ln/>
        </p:spPr>
        <p:txBody>
          <a:bodyPr wrap="square" lIns="0" tIns="0" rIns="0" bIns="0" rtlCol="0" anchor="ctr"/>
          <a:lstStyle/>
          <a:p>
            <a:pPr marL="0" indent="0" algn="ctr">
              <a:buNone/>
            </a:pPr>
            <a:r>
              <a:rPr lang="en-US" sz="1600" b="1" dirty="0">
                <a:solidFill>
                  <a:srgbClr val="26201D"/>
                </a:solidFill>
                <a:latin typeface="Cambria" pitchFamily="34" charset="0"/>
                <a:ea typeface="Cambria" pitchFamily="34" charset="-122"/>
                <a:cs typeface="Cambria" pitchFamily="34" charset="-120"/>
              </a:rPr>
              <a:t>4</a:t>
            </a:r>
            <a:endParaRPr lang="en-US" sz="1600" dirty="0"/>
          </a:p>
        </p:txBody>
      </p:sp>
      <p:sp>
        <p:nvSpPr>
          <p:cNvPr id="40" name="Text 38"/>
          <p:cNvSpPr/>
          <p:nvPr/>
        </p:nvSpPr>
        <p:spPr>
          <a:xfrm>
            <a:off x="7452360" y="4206240"/>
            <a:ext cx="4206240" cy="457200"/>
          </a:xfrm>
          <a:prstGeom prst="rect">
            <a:avLst/>
          </a:prstGeom>
          <a:noFill/>
          <a:ln/>
        </p:spPr>
        <p:txBody>
          <a:bodyPr wrap="square" lIns="0" tIns="0" rIns="0" bIns="0" rtlCol="0" anchor="ctr"/>
          <a:lstStyle/>
          <a:p>
            <a:pPr marL="0" indent="0">
              <a:buNone/>
            </a:pPr>
            <a:r>
              <a:rPr lang="en-US" sz="1250" dirty="0">
                <a:solidFill>
                  <a:srgbClr val="FBF6EF"/>
                </a:solidFill>
                <a:latin typeface="Calibri" pitchFamily="34" charset="0"/>
                <a:ea typeface="Calibri" pitchFamily="34" charset="-122"/>
                <a:cs typeface="Calibri" pitchFamily="34" charset="-120"/>
              </a:rPr>
              <a:t>Taxable = Subtotal − Discount</a:t>
            </a:r>
            <a:endParaRPr lang="en-US" sz="1250" dirty="0"/>
          </a:p>
        </p:txBody>
      </p:sp>
      <p:sp>
        <p:nvSpPr>
          <p:cNvPr id="41" name="Shape 39"/>
          <p:cNvSpPr/>
          <p:nvPr/>
        </p:nvSpPr>
        <p:spPr>
          <a:xfrm>
            <a:off x="6903720" y="4809744"/>
            <a:ext cx="402336" cy="402336"/>
          </a:xfrm>
          <a:prstGeom prst="ellipse">
            <a:avLst/>
          </a:prstGeom>
          <a:solidFill>
            <a:srgbClr val="E0A43B"/>
          </a:solidFill>
          <a:ln/>
        </p:spPr>
        <p:txBody>
          <a:bodyPr/>
          <a:lstStyle/>
          <a:p>
            <a:endParaRPr lang="en-IN"/>
          </a:p>
        </p:txBody>
      </p:sp>
      <p:sp>
        <p:nvSpPr>
          <p:cNvPr id="42" name="Text 40"/>
          <p:cNvSpPr/>
          <p:nvPr/>
        </p:nvSpPr>
        <p:spPr>
          <a:xfrm>
            <a:off x="6903720" y="4818888"/>
            <a:ext cx="402336" cy="384048"/>
          </a:xfrm>
          <a:prstGeom prst="rect">
            <a:avLst/>
          </a:prstGeom>
          <a:noFill/>
          <a:ln/>
        </p:spPr>
        <p:txBody>
          <a:bodyPr wrap="square" lIns="0" tIns="0" rIns="0" bIns="0" rtlCol="0" anchor="ctr"/>
          <a:lstStyle/>
          <a:p>
            <a:pPr marL="0" indent="0" algn="ctr">
              <a:buNone/>
            </a:pPr>
            <a:r>
              <a:rPr lang="en-US" sz="1600" b="1" dirty="0">
                <a:solidFill>
                  <a:srgbClr val="26201D"/>
                </a:solidFill>
                <a:latin typeface="Cambria" pitchFamily="34" charset="0"/>
                <a:ea typeface="Cambria" pitchFamily="34" charset="-122"/>
                <a:cs typeface="Cambria" pitchFamily="34" charset="-120"/>
              </a:rPr>
              <a:t>5</a:t>
            </a:r>
            <a:endParaRPr lang="en-US" sz="1600" dirty="0"/>
          </a:p>
        </p:txBody>
      </p:sp>
      <p:sp>
        <p:nvSpPr>
          <p:cNvPr id="43" name="Text 41"/>
          <p:cNvSpPr/>
          <p:nvPr/>
        </p:nvSpPr>
        <p:spPr>
          <a:xfrm>
            <a:off x="7452360" y="4773168"/>
            <a:ext cx="4206240" cy="457200"/>
          </a:xfrm>
          <a:prstGeom prst="rect">
            <a:avLst/>
          </a:prstGeom>
          <a:noFill/>
          <a:ln/>
        </p:spPr>
        <p:txBody>
          <a:bodyPr wrap="square" lIns="0" tIns="0" rIns="0" bIns="0" rtlCol="0" anchor="ctr"/>
          <a:lstStyle/>
          <a:p>
            <a:pPr marL="0" indent="0">
              <a:buNone/>
            </a:pPr>
            <a:r>
              <a:rPr lang="en-US" sz="1250" dirty="0">
                <a:solidFill>
                  <a:srgbClr val="FBF6EF"/>
                </a:solidFill>
                <a:latin typeface="Calibri" pitchFamily="34" charset="0"/>
                <a:ea typeface="Calibri" pitchFamily="34" charset="-122"/>
                <a:cs typeface="Calibri" pitchFamily="34" charset="-120"/>
              </a:rPr>
              <a:t>GST = 18% of Taxable amount</a:t>
            </a:r>
            <a:endParaRPr lang="en-US" sz="1250" dirty="0"/>
          </a:p>
        </p:txBody>
      </p:sp>
      <p:sp>
        <p:nvSpPr>
          <p:cNvPr id="44" name="Shape 42"/>
          <p:cNvSpPr/>
          <p:nvPr/>
        </p:nvSpPr>
        <p:spPr>
          <a:xfrm>
            <a:off x="6903720" y="5376672"/>
            <a:ext cx="402336" cy="402336"/>
          </a:xfrm>
          <a:prstGeom prst="ellipse">
            <a:avLst/>
          </a:prstGeom>
          <a:solidFill>
            <a:srgbClr val="E0A43B"/>
          </a:solidFill>
          <a:ln/>
        </p:spPr>
        <p:txBody>
          <a:bodyPr/>
          <a:lstStyle/>
          <a:p>
            <a:endParaRPr lang="en-IN"/>
          </a:p>
        </p:txBody>
      </p:sp>
      <p:sp>
        <p:nvSpPr>
          <p:cNvPr id="45" name="Text 43"/>
          <p:cNvSpPr/>
          <p:nvPr/>
        </p:nvSpPr>
        <p:spPr>
          <a:xfrm>
            <a:off x="6903720" y="5385816"/>
            <a:ext cx="402336" cy="384048"/>
          </a:xfrm>
          <a:prstGeom prst="rect">
            <a:avLst/>
          </a:prstGeom>
          <a:noFill/>
          <a:ln/>
        </p:spPr>
        <p:txBody>
          <a:bodyPr wrap="square" lIns="0" tIns="0" rIns="0" bIns="0" rtlCol="0" anchor="ctr"/>
          <a:lstStyle/>
          <a:p>
            <a:pPr marL="0" indent="0" algn="ctr">
              <a:buNone/>
            </a:pPr>
            <a:r>
              <a:rPr lang="en-US" sz="1600" b="1" dirty="0">
                <a:solidFill>
                  <a:srgbClr val="26201D"/>
                </a:solidFill>
                <a:latin typeface="Cambria" pitchFamily="34" charset="0"/>
                <a:ea typeface="Cambria" pitchFamily="34" charset="-122"/>
                <a:cs typeface="Cambria" pitchFamily="34" charset="-120"/>
              </a:rPr>
              <a:t>6</a:t>
            </a:r>
            <a:endParaRPr lang="en-US" sz="1600" dirty="0"/>
          </a:p>
        </p:txBody>
      </p:sp>
      <p:sp>
        <p:nvSpPr>
          <p:cNvPr id="46" name="Text 44"/>
          <p:cNvSpPr/>
          <p:nvPr/>
        </p:nvSpPr>
        <p:spPr>
          <a:xfrm>
            <a:off x="7452360" y="5340096"/>
            <a:ext cx="4206240" cy="457200"/>
          </a:xfrm>
          <a:prstGeom prst="rect">
            <a:avLst/>
          </a:prstGeom>
          <a:noFill/>
          <a:ln/>
        </p:spPr>
        <p:txBody>
          <a:bodyPr wrap="square" lIns="0" tIns="0" rIns="0" bIns="0" rtlCol="0" anchor="ctr"/>
          <a:lstStyle/>
          <a:p>
            <a:pPr marL="0" indent="0">
              <a:buNone/>
            </a:pPr>
            <a:r>
              <a:rPr lang="en-US" sz="1250" dirty="0">
                <a:solidFill>
                  <a:srgbClr val="FBF6EF"/>
                </a:solidFill>
                <a:latin typeface="Calibri" pitchFamily="34" charset="0"/>
                <a:ea typeface="Calibri" pitchFamily="34" charset="-122"/>
                <a:cs typeface="Calibri" pitchFamily="34" charset="-120"/>
              </a:rPr>
              <a:t>Total = Taxable + GST</a:t>
            </a:r>
            <a:endParaRPr lang="en-US" sz="1250" dirty="0"/>
          </a:p>
        </p:txBody>
      </p:sp>
      <p:sp>
        <p:nvSpPr>
          <p:cNvPr id="47" name="Text 45"/>
          <p:cNvSpPr/>
          <p:nvPr/>
        </p:nvSpPr>
        <p:spPr>
          <a:xfrm>
            <a:off x="502920" y="6473952"/>
            <a:ext cx="5486400" cy="274320"/>
          </a:xfrm>
          <a:prstGeom prst="rect">
            <a:avLst/>
          </a:prstGeom>
          <a:noFill/>
          <a:ln/>
        </p:spPr>
        <p:txBody>
          <a:bodyPr wrap="square" lIns="0" tIns="0" rIns="0" bIns="0" rtlCol="0" anchor="ctr"/>
          <a:lstStyle/>
          <a:p>
            <a:pPr marL="0" indent="0" algn="l">
              <a:buNone/>
            </a:pPr>
            <a:r>
              <a:rPr lang="en-US" sz="900" dirty="0">
                <a:solidFill>
                  <a:srgbClr val="F3EBE0">
                    <a:alpha val="70000"/>
                  </a:srgbClr>
                </a:solidFill>
                <a:latin typeface="Calibri" pitchFamily="34" charset="0"/>
                <a:ea typeface="Calibri" pitchFamily="34" charset="-122"/>
                <a:cs typeface="Calibri" pitchFamily="34" charset="-120"/>
              </a:rPr>
              <a:t>SliceMatic · PizzaFlow MVP Demo</a:t>
            </a:r>
            <a:endParaRPr lang="en-US" sz="900" dirty="0"/>
          </a:p>
        </p:txBody>
      </p:sp>
      <p:sp>
        <p:nvSpPr>
          <p:cNvPr id="48" name="Text 46"/>
          <p:cNvSpPr/>
          <p:nvPr/>
        </p:nvSpPr>
        <p:spPr>
          <a:xfrm>
            <a:off x="11274552" y="6473952"/>
            <a:ext cx="411480" cy="274320"/>
          </a:xfrm>
          <a:prstGeom prst="rect">
            <a:avLst/>
          </a:prstGeom>
          <a:noFill/>
          <a:ln/>
        </p:spPr>
        <p:txBody>
          <a:bodyPr wrap="square" lIns="0" tIns="0" rIns="0" bIns="0" rtlCol="0" anchor="ctr"/>
          <a:lstStyle/>
          <a:p>
            <a:pPr marL="0" indent="0" algn="r">
              <a:buNone/>
            </a:pPr>
            <a:r>
              <a:rPr lang="en-US" sz="900" dirty="0">
                <a:solidFill>
                  <a:srgbClr val="F3EBE0"/>
                </a:solidFill>
                <a:latin typeface="Calibri" pitchFamily="34" charset="0"/>
                <a:ea typeface="Calibri" pitchFamily="34" charset="-122"/>
                <a:cs typeface="Calibri" pitchFamily="34" charset="-120"/>
              </a:rPr>
              <a:t>16</a:t>
            </a:r>
            <a:endParaRPr lang="en-US" sz="9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BF6EF"/>
        </a:solidFill>
        <a:effectLst/>
      </p:bgPr>
    </p:bg>
    <p:spTree>
      <p:nvGrpSpPr>
        <p:cNvPr id="1" name=""/>
        <p:cNvGrpSpPr/>
        <p:nvPr/>
      </p:nvGrpSpPr>
      <p:grpSpPr>
        <a:xfrm>
          <a:off x="0" y="0"/>
          <a:ext cx="0" cy="0"/>
          <a:chOff x="0" y="0"/>
          <a:chExt cx="0" cy="0"/>
        </a:xfrm>
      </p:grpSpPr>
      <p:sp>
        <p:nvSpPr>
          <p:cNvPr id="2" name="Text 0"/>
          <p:cNvSpPr/>
          <p:nvPr/>
        </p:nvSpPr>
        <p:spPr>
          <a:xfrm>
            <a:off x="502920" y="457200"/>
            <a:ext cx="8229600" cy="274320"/>
          </a:xfrm>
          <a:prstGeom prst="rect">
            <a:avLst/>
          </a:prstGeom>
          <a:noFill/>
          <a:ln/>
        </p:spPr>
        <p:txBody>
          <a:bodyPr wrap="square" lIns="0" tIns="0" rIns="0" bIns="0" rtlCol="0" anchor="ctr"/>
          <a:lstStyle/>
          <a:p>
            <a:pPr marL="0" indent="0">
              <a:buNone/>
            </a:pPr>
            <a:r>
              <a:rPr lang="en-US" sz="1200" b="1" kern="0" spc="300" dirty="0">
                <a:solidFill>
                  <a:srgbClr val="2E7D52"/>
                </a:solidFill>
                <a:latin typeface="Calibri" pitchFamily="34" charset="0"/>
                <a:ea typeface="Calibri" pitchFamily="34" charset="-122"/>
                <a:cs typeface="Calibri" pitchFamily="34" charset="-120"/>
              </a:rPr>
              <a:t>ACCOUNTABILITY</a:t>
            </a:r>
            <a:endParaRPr lang="en-US" sz="1200" dirty="0"/>
          </a:p>
        </p:txBody>
      </p:sp>
      <p:sp>
        <p:nvSpPr>
          <p:cNvPr id="3" name="Text 1"/>
          <p:cNvSpPr/>
          <p:nvPr/>
        </p:nvSpPr>
        <p:spPr>
          <a:xfrm>
            <a:off x="475488" y="749808"/>
            <a:ext cx="10515600" cy="685800"/>
          </a:xfrm>
          <a:prstGeom prst="rect">
            <a:avLst/>
          </a:prstGeom>
          <a:noFill/>
          <a:ln/>
        </p:spPr>
        <p:txBody>
          <a:bodyPr wrap="square" lIns="0" tIns="0" rIns="0" bIns="0" rtlCol="0" anchor="ctr"/>
          <a:lstStyle/>
          <a:p>
            <a:pPr marL="0" indent="0">
              <a:buNone/>
            </a:pPr>
            <a:r>
              <a:rPr lang="en-US" sz="3300" b="1" dirty="0">
                <a:solidFill>
                  <a:srgbClr val="2B2422"/>
                </a:solidFill>
                <a:latin typeface="Cambria" pitchFamily="34" charset="0"/>
                <a:ea typeface="Cambria" pitchFamily="34" charset="-122"/>
                <a:cs typeface="Cambria" pitchFamily="34" charset="-120"/>
              </a:rPr>
              <a:t>PRD promise → delivered</a:t>
            </a:r>
            <a:endParaRPr lang="en-US" sz="3300" dirty="0"/>
          </a:p>
        </p:txBody>
      </p:sp>
      <p:sp>
        <p:nvSpPr>
          <p:cNvPr id="4" name="Text 2"/>
          <p:cNvSpPr/>
          <p:nvPr/>
        </p:nvSpPr>
        <p:spPr>
          <a:xfrm>
            <a:off x="502920" y="1417320"/>
            <a:ext cx="11155680" cy="457200"/>
          </a:xfrm>
          <a:prstGeom prst="rect">
            <a:avLst/>
          </a:prstGeom>
          <a:noFill/>
          <a:ln/>
        </p:spPr>
        <p:txBody>
          <a:bodyPr wrap="square" lIns="0" tIns="0" rIns="0" bIns="0" rtlCol="0" anchor="ctr"/>
          <a:lstStyle/>
          <a:p>
            <a:pPr marL="0" indent="0">
              <a:buNone/>
            </a:pPr>
            <a:r>
              <a:rPr lang="en-US" sz="1350" dirty="0">
                <a:solidFill>
                  <a:srgbClr val="2B2422"/>
                </a:solidFill>
                <a:latin typeface="Calibri" pitchFamily="34" charset="0"/>
                <a:ea typeface="Calibri" pitchFamily="34" charset="-122"/>
                <a:cs typeface="Calibri" pitchFamily="34" charset="-120"/>
              </a:rPr>
              <a:t>Every Stage 2 commitment from our PRD, mapped to what's running in the MVP.</a:t>
            </a:r>
            <a:endParaRPr lang="en-US" sz="1350" dirty="0"/>
          </a:p>
        </p:txBody>
      </p:sp>
      <p:graphicFrame>
        <p:nvGraphicFramePr>
          <p:cNvPr id="18" name="Table 0"/>
          <p:cNvGraphicFramePr>
            <a:graphicFrameLocks noGrp="1"/>
          </p:cNvGraphicFramePr>
          <p:nvPr>
            <p:extLst>
              <p:ext uri="{D42A27DB-BD31-4B8C-83A1-F6EECF244321}">
                <p14:modId xmlns:p14="http://schemas.microsoft.com/office/powerpoint/2010/main" val="1579011935"/>
              </p:ext>
            </p:extLst>
          </p:nvPr>
        </p:nvGraphicFramePr>
        <p:xfrm>
          <a:off x="548640" y="2011680"/>
          <a:ext cx="11109960" cy="3657600"/>
        </p:xfrm>
        <a:graphic>
          <a:graphicData uri="http://schemas.openxmlformats.org/drawingml/2006/table">
            <a:tbl>
              <a:tblPr/>
              <a:tblGrid>
                <a:gridCol w="2468880">
                  <a:extLst>
                    <a:ext uri="{9D8B030D-6E8A-4147-A177-3AD203B41FA5}">
                      <a16:colId xmlns:a16="http://schemas.microsoft.com/office/drawing/2014/main" val="20000"/>
                    </a:ext>
                  </a:extLst>
                </a:gridCol>
                <a:gridCol w="6080760">
                  <a:extLst>
                    <a:ext uri="{9D8B030D-6E8A-4147-A177-3AD203B41FA5}">
                      <a16:colId xmlns:a16="http://schemas.microsoft.com/office/drawing/2014/main" val="20001"/>
                    </a:ext>
                  </a:extLst>
                </a:gridCol>
                <a:gridCol w="2560320">
                  <a:extLst>
                    <a:ext uri="{9D8B030D-6E8A-4147-A177-3AD203B41FA5}">
                      <a16:colId xmlns:a16="http://schemas.microsoft.com/office/drawing/2014/main" val="20002"/>
                    </a:ext>
                  </a:extLst>
                </a:gridCol>
              </a:tblGrid>
              <a:tr h="365760">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Requirement</a:t>
                      </a:r>
                      <a:endParaRPr lang="en-US" sz="1100" dirty="0">
                        <a:latin typeface="Calibri" charset="0"/>
                        <a:ea typeface="Calibri" charset="0"/>
                        <a:cs typeface="Calibri" charset="0"/>
                      </a:endParaRPr>
                    </a:p>
                  </a:txBody>
                  <a:tcPr anchor="ctr">
                    <a:lnL w="6350" cap="flat" cmpd="sng" algn="ctr">
                      <a:solidFill>
                        <a:srgbClr val="E7DCCD"/>
                      </a:solidFill>
                      <a:prstDash val="solid"/>
                      <a:round/>
                      <a:headEnd type="none" w="med" len="med"/>
                      <a:tailEnd type="none" w="med" len="med"/>
                    </a:lnL>
                    <a:lnR w="6350" cap="flat" cmpd="sng" algn="ctr">
                      <a:solidFill>
                        <a:srgbClr val="E7DCCD"/>
                      </a:solidFill>
                      <a:prstDash val="solid"/>
                      <a:round/>
                      <a:headEnd type="none" w="med" len="med"/>
                      <a:tailEnd type="none" w="med" len="med"/>
                    </a:lnR>
                    <a:lnT w="6350" cap="flat" cmpd="sng" algn="ctr">
                      <a:solidFill>
                        <a:srgbClr val="E7DCCD"/>
                      </a:solidFill>
                      <a:prstDash val="solid"/>
                      <a:round/>
                      <a:headEnd type="none" w="med" len="med"/>
                      <a:tailEnd type="none" w="med" len="med"/>
                    </a:lnT>
                    <a:lnB w="6350" cap="flat" cmpd="sng" algn="ctr">
                      <a:solidFill>
                        <a:srgbClr val="E7DCCD"/>
                      </a:solidFill>
                      <a:prstDash val="solid"/>
                      <a:round/>
                      <a:headEnd type="none" w="med" len="med"/>
                      <a:tailEnd type="none" w="med" len="med"/>
                    </a:lnB>
                    <a:solidFill>
                      <a:srgbClr val="26201D"/>
                    </a:solidFill>
                  </a:tcPr>
                </a:tc>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What we promised</a:t>
                      </a:r>
                      <a:endParaRPr lang="en-US" sz="1100" dirty="0">
                        <a:latin typeface="Calibri" charset="0"/>
                        <a:ea typeface="Calibri" charset="0"/>
                        <a:cs typeface="Calibri" charset="0"/>
                      </a:endParaRPr>
                    </a:p>
                  </a:txBody>
                  <a:tcPr anchor="ctr">
                    <a:lnL w="6350" cap="flat" cmpd="sng" algn="ctr">
                      <a:solidFill>
                        <a:srgbClr val="E7DCCD"/>
                      </a:solidFill>
                      <a:prstDash val="solid"/>
                      <a:round/>
                      <a:headEnd type="none" w="med" len="med"/>
                      <a:tailEnd type="none" w="med" len="med"/>
                    </a:lnL>
                    <a:lnR w="6350" cap="flat" cmpd="sng" algn="ctr">
                      <a:solidFill>
                        <a:srgbClr val="E7DCCD"/>
                      </a:solidFill>
                      <a:prstDash val="solid"/>
                      <a:round/>
                      <a:headEnd type="none" w="med" len="med"/>
                      <a:tailEnd type="none" w="med" len="med"/>
                    </a:lnR>
                    <a:lnT w="6350" cap="flat" cmpd="sng" algn="ctr">
                      <a:solidFill>
                        <a:srgbClr val="E7DCCD"/>
                      </a:solidFill>
                      <a:prstDash val="solid"/>
                      <a:round/>
                      <a:headEnd type="none" w="med" len="med"/>
                      <a:tailEnd type="none" w="med" len="med"/>
                    </a:lnT>
                    <a:lnB w="6350" cap="flat" cmpd="sng" algn="ctr">
                      <a:solidFill>
                        <a:srgbClr val="E7DCCD"/>
                      </a:solidFill>
                      <a:prstDash val="solid"/>
                      <a:round/>
                      <a:headEnd type="none" w="med" len="med"/>
                      <a:tailEnd type="none" w="med" len="med"/>
                    </a:lnB>
                    <a:solidFill>
                      <a:srgbClr val="26201D"/>
                    </a:solidFill>
                  </a:tcPr>
                </a:tc>
                <a:tc>
                  <a:txBody>
                    <a:bodyPr/>
                    <a:lstStyle/>
                    <a:p>
                      <a:pPr marL="0" indent="0" algn="ctr">
                        <a:buNone/>
                      </a:pPr>
                      <a:r>
                        <a:rPr lang="en-US" sz="1100" b="1" dirty="0">
                          <a:solidFill>
                            <a:srgbClr val="FFFFFF"/>
                          </a:solidFill>
                          <a:latin typeface="Calibri" pitchFamily="34" charset="0"/>
                          <a:ea typeface="Calibri" pitchFamily="34" charset="-122"/>
                          <a:cs typeface="Calibri" pitchFamily="34" charset="-120"/>
                        </a:rPr>
                        <a:t>Status</a:t>
                      </a:r>
                      <a:endParaRPr lang="en-US" sz="1100" dirty="0">
                        <a:latin typeface="Calibri" charset="0"/>
                        <a:ea typeface="Calibri" charset="0"/>
                        <a:cs typeface="Calibri" charset="0"/>
                      </a:endParaRPr>
                    </a:p>
                  </a:txBody>
                  <a:tcPr anchor="ctr">
                    <a:lnL w="6350" cap="flat" cmpd="sng" algn="ctr">
                      <a:solidFill>
                        <a:srgbClr val="E7DCCD"/>
                      </a:solidFill>
                      <a:prstDash val="solid"/>
                      <a:round/>
                      <a:headEnd type="none" w="med" len="med"/>
                      <a:tailEnd type="none" w="med" len="med"/>
                    </a:lnL>
                    <a:lnR w="6350" cap="flat" cmpd="sng" algn="ctr">
                      <a:solidFill>
                        <a:srgbClr val="E7DCCD"/>
                      </a:solidFill>
                      <a:prstDash val="solid"/>
                      <a:round/>
                      <a:headEnd type="none" w="med" len="med"/>
                      <a:tailEnd type="none" w="med" len="med"/>
                    </a:lnR>
                    <a:lnT w="6350" cap="flat" cmpd="sng" algn="ctr">
                      <a:solidFill>
                        <a:srgbClr val="E7DCCD"/>
                      </a:solidFill>
                      <a:prstDash val="solid"/>
                      <a:round/>
                      <a:headEnd type="none" w="med" len="med"/>
                      <a:tailEnd type="none" w="med" len="med"/>
                    </a:lnT>
                    <a:lnB w="6350" cap="flat" cmpd="sng" algn="ctr">
                      <a:solidFill>
                        <a:srgbClr val="E7DCCD"/>
                      </a:solidFill>
                      <a:prstDash val="solid"/>
                      <a:round/>
                      <a:headEnd type="none" w="med" len="med"/>
                      <a:tailEnd type="none" w="med" len="med"/>
                    </a:lnB>
                    <a:solidFill>
                      <a:srgbClr val="26201D"/>
                    </a:solidFill>
                  </a:tcPr>
                </a:tc>
                <a:extLst>
                  <a:ext uri="{0D108BD9-81ED-4DB2-BD59-A6C34878D82A}">
                    <a16:rowId xmlns:a16="http://schemas.microsoft.com/office/drawing/2014/main" val="10000"/>
                  </a:ext>
                </a:extLst>
              </a:tr>
              <a:tr h="365760">
                <a:tc>
                  <a:txBody>
                    <a:bodyPr/>
                    <a:lstStyle/>
                    <a:p>
                      <a:pPr marL="0" indent="0" algn="l">
                        <a:buNone/>
                      </a:pPr>
                      <a:r>
                        <a:rPr lang="en-US" sz="1100" b="1" dirty="0">
                          <a:solidFill>
                            <a:srgbClr val="2B2422"/>
                          </a:solidFill>
                          <a:latin typeface="Calibri" pitchFamily="34" charset="0"/>
                          <a:ea typeface="Calibri" pitchFamily="34" charset="-122"/>
                          <a:cs typeface="Calibri" pitchFamily="34" charset="-120"/>
                        </a:rPr>
                        <a:t>Customer intake</a:t>
                      </a:r>
                      <a:endParaRPr lang="en-US" sz="1100" dirty="0">
                        <a:latin typeface="Calibri" charset="0"/>
                        <a:ea typeface="Calibri" charset="0"/>
                        <a:cs typeface="Calibri" charset="0"/>
                      </a:endParaRPr>
                    </a:p>
                  </a:txBody>
                  <a:tcPr anchor="ctr">
                    <a:lnL w="6350" cap="flat" cmpd="sng" algn="ctr">
                      <a:solidFill>
                        <a:srgbClr val="E7DCCD"/>
                      </a:solidFill>
                      <a:prstDash val="solid"/>
                      <a:round/>
                      <a:headEnd type="none" w="med" len="med"/>
                      <a:tailEnd type="none" w="med" len="med"/>
                    </a:lnL>
                    <a:lnR w="6350" cap="flat" cmpd="sng" algn="ctr">
                      <a:solidFill>
                        <a:srgbClr val="E7DCCD"/>
                      </a:solidFill>
                      <a:prstDash val="solid"/>
                      <a:round/>
                      <a:headEnd type="none" w="med" len="med"/>
                      <a:tailEnd type="none" w="med" len="med"/>
                    </a:lnR>
                    <a:lnT w="6350" cap="flat" cmpd="sng" algn="ctr">
                      <a:solidFill>
                        <a:srgbClr val="E7DCCD"/>
                      </a:solidFill>
                      <a:prstDash val="solid"/>
                      <a:round/>
                      <a:headEnd type="none" w="med" len="med"/>
                      <a:tailEnd type="none" w="med" len="med"/>
                    </a:lnT>
                    <a:lnB w="6350" cap="flat" cmpd="sng" algn="ctr">
                      <a:solidFill>
                        <a:srgbClr val="E7DCCD"/>
                      </a:solidFill>
                      <a:prstDash val="solid"/>
                      <a:round/>
                      <a:headEnd type="none" w="med" len="med"/>
                      <a:tailEnd type="none" w="med" len="med"/>
                    </a:lnB>
                    <a:solidFill>
                      <a:srgbClr val="FFFFFF"/>
                    </a:solidFill>
                  </a:tcPr>
                </a:tc>
                <a:tc>
                  <a:txBody>
                    <a:bodyPr/>
                    <a:lstStyle/>
                    <a:p>
                      <a:pPr marL="0" indent="0" algn="l">
                        <a:buNone/>
                      </a:pPr>
                      <a:r>
                        <a:rPr lang="en-US" sz="1100" dirty="0">
                          <a:solidFill>
                            <a:srgbClr val="5C524C"/>
                          </a:solidFill>
                          <a:latin typeface="Calibri" pitchFamily="34" charset="0"/>
                          <a:ea typeface="Calibri" pitchFamily="34" charset="-122"/>
                          <a:cs typeface="Calibri" pitchFamily="34" charset="-120"/>
                        </a:rPr>
                        <a:t>Name 2–40 alpha; phone 10-digit 6/7/8/9</a:t>
                      </a:r>
                      <a:endParaRPr lang="en-US" sz="1100" dirty="0">
                        <a:latin typeface="Calibri" charset="0"/>
                        <a:ea typeface="Calibri" charset="0"/>
                        <a:cs typeface="Calibri" charset="0"/>
                      </a:endParaRPr>
                    </a:p>
                  </a:txBody>
                  <a:tcPr anchor="ctr">
                    <a:lnL w="6350" cap="flat" cmpd="sng" algn="ctr">
                      <a:solidFill>
                        <a:srgbClr val="E7DCCD"/>
                      </a:solidFill>
                      <a:prstDash val="solid"/>
                      <a:round/>
                      <a:headEnd type="none" w="med" len="med"/>
                      <a:tailEnd type="none" w="med" len="med"/>
                    </a:lnL>
                    <a:lnR w="6350" cap="flat" cmpd="sng" algn="ctr">
                      <a:solidFill>
                        <a:srgbClr val="E7DCCD"/>
                      </a:solidFill>
                      <a:prstDash val="solid"/>
                      <a:round/>
                      <a:headEnd type="none" w="med" len="med"/>
                      <a:tailEnd type="none" w="med" len="med"/>
                    </a:lnR>
                    <a:lnT w="6350" cap="flat" cmpd="sng" algn="ctr">
                      <a:solidFill>
                        <a:srgbClr val="E7DCCD"/>
                      </a:solidFill>
                      <a:prstDash val="solid"/>
                      <a:round/>
                      <a:headEnd type="none" w="med" len="med"/>
                      <a:tailEnd type="none" w="med" len="med"/>
                    </a:lnT>
                    <a:lnB w="6350" cap="flat" cmpd="sng" algn="ctr">
                      <a:solidFill>
                        <a:srgbClr val="E7DCCD"/>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2E7D52"/>
                          </a:solidFill>
                          <a:latin typeface="Calibri" pitchFamily="34" charset="0"/>
                          <a:ea typeface="Calibri" pitchFamily="34" charset="-122"/>
                          <a:cs typeface="Calibri" pitchFamily="34" charset="-120"/>
                        </a:rPr>
                        <a:t>✓ Delivered</a:t>
                      </a:r>
                      <a:endParaRPr lang="en-US" sz="1100" dirty="0">
                        <a:latin typeface="Calibri" charset="0"/>
                        <a:ea typeface="Calibri" charset="0"/>
                        <a:cs typeface="Calibri" charset="0"/>
                      </a:endParaRPr>
                    </a:p>
                  </a:txBody>
                  <a:tcPr anchor="ctr">
                    <a:lnL w="6350" cap="flat" cmpd="sng" algn="ctr">
                      <a:solidFill>
                        <a:srgbClr val="E7DCCD"/>
                      </a:solidFill>
                      <a:prstDash val="solid"/>
                      <a:round/>
                      <a:headEnd type="none" w="med" len="med"/>
                      <a:tailEnd type="none" w="med" len="med"/>
                    </a:lnL>
                    <a:lnR w="6350" cap="flat" cmpd="sng" algn="ctr">
                      <a:solidFill>
                        <a:srgbClr val="E7DCCD"/>
                      </a:solidFill>
                      <a:prstDash val="solid"/>
                      <a:round/>
                      <a:headEnd type="none" w="med" len="med"/>
                      <a:tailEnd type="none" w="med" len="med"/>
                    </a:lnR>
                    <a:lnT w="6350" cap="flat" cmpd="sng" algn="ctr">
                      <a:solidFill>
                        <a:srgbClr val="E7DCCD"/>
                      </a:solidFill>
                      <a:prstDash val="solid"/>
                      <a:round/>
                      <a:headEnd type="none" w="med" len="med"/>
                      <a:tailEnd type="none" w="med" len="med"/>
                    </a:lnT>
                    <a:lnB w="6350" cap="flat" cmpd="sng" algn="ctr">
                      <a:solidFill>
                        <a:srgbClr val="E7DCCD"/>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65760">
                <a:tc>
                  <a:txBody>
                    <a:bodyPr/>
                    <a:lstStyle/>
                    <a:p>
                      <a:pPr marL="0" indent="0" algn="l">
                        <a:buNone/>
                      </a:pPr>
                      <a:r>
                        <a:rPr lang="en-US" sz="1100" b="1" dirty="0">
                          <a:solidFill>
                            <a:srgbClr val="2B2422"/>
                          </a:solidFill>
                          <a:latin typeface="Calibri" pitchFamily="34" charset="0"/>
                          <a:ea typeface="Calibri" pitchFamily="34" charset="-122"/>
                          <a:cs typeface="Calibri" pitchFamily="34" charset="-120"/>
                        </a:rPr>
                        <a:t>Menu loading</a:t>
                      </a:r>
                      <a:endParaRPr lang="en-US" sz="1100" dirty="0">
                        <a:latin typeface="Calibri" charset="0"/>
                        <a:ea typeface="Calibri" charset="0"/>
                        <a:cs typeface="Calibri" charset="0"/>
                      </a:endParaRPr>
                    </a:p>
                  </a:txBody>
                  <a:tcPr anchor="ctr">
                    <a:lnL w="6350" cap="flat" cmpd="sng" algn="ctr">
                      <a:solidFill>
                        <a:srgbClr val="E7DCCD"/>
                      </a:solidFill>
                      <a:prstDash val="solid"/>
                      <a:round/>
                      <a:headEnd type="none" w="med" len="med"/>
                      <a:tailEnd type="none" w="med" len="med"/>
                    </a:lnL>
                    <a:lnR w="6350" cap="flat" cmpd="sng" algn="ctr">
                      <a:solidFill>
                        <a:srgbClr val="E7DCCD"/>
                      </a:solidFill>
                      <a:prstDash val="solid"/>
                      <a:round/>
                      <a:headEnd type="none" w="med" len="med"/>
                      <a:tailEnd type="none" w="med" len="med"/>
                    </a:lnR>
                    <a:lnT w="6350" cap="flat" cmpd="sng" algn="ctr">
                      <a:solidFill>
                        <a:srgbClr val="E7DCCD"/>
                      </a:solidFill>
                      <a:prstDash val="solid"/>
                      <a:round/>
                      <a:headEnd type="none" w="med" len="med"/>
                      <a:tailEnd type="none" w="med" len="med"/>
                    </a:lnT>
                    <a:lnB w="6350" cap="flat" cmpd="sng" algn="ctr">
                      <a:solidFill>
                        <a:srgbClr val="E7DCCD"/>
                      </a:solidFill>
                      <a:prstDash val="solid"/>
                      <a:round/>
                      <a:headEnd type="none" w="med" len="med"/>
                      <a:tailEnd type="none" w="med" len="med"/>
                    </a:lnB>
                    <a:solidFill>
                      <a:srgbClr val="F3EBE0"/>
                    </a:solidFill>
                  </a:tcPr>
                </a:tc>
                <a:tc>
                  <a:txBody>
                    <a:bodyPr/>
                    <a:lstStyle/>
                    <a:p>
                      <a:pPr marL="0" indent="0" algn="l">
                        <a:buNone/>
                      </a:pPr>
                      <a:r>
                        <a:rPr lang="en-US" sz="1100" dirty="0">
                          <a:solidFill>
                            <a:srgbClr val="5C524C"/>
                          </a:solidFill>
                          <a:latin typeface="Calibri" pitchFamily="34" charset="0"/>
                          <a:ea typeface="Calibri" pitchFamily="34" charset="-122"/>
                          <a:cs typeface="Calibri" pitchFamily="34" charset="-120"/>
                        </a:rPr>
                        <a:t>From 3 .txt files, no hardcoding</a:t>
                      </a:r>
                      <a:endParaRPr lang="en-US" sz="1100" dirty="0">
                        <a:latin typeface="Calibri" charset="0"/>
                        <a:ea typeface="Calibri" charset="0"/>
                        <a:cs typeface="Calibri" charset="0"/>
                      </a:endParaRPr>
                    </a:p>
                  </a:txBody>
                  <a:tcPr anchor="ctr">
                    <a:lnL w="6350" cap="flat" cmpd="sng" algn="ctr">
                      <a:solidFill>
                        <a:srgbClr val="E7DCCD"/>
                      </a:solidFill>
                      <a:prstDash val="solid"/>
                      <a:round/>
                      <a:headEnd type="none" w="med" len="med"/>
                      <a:tailEnd type="none" w="med" len="med"/>
                    </a:lnL>
                    <a:lnR w="6350" cap="flat" cmpd="sng" algn="ctr">
                      <a:solidFill>
                        <a:srgbClr val="E7DCCD"/>
                      </a:solidFill>
                      <a:prstDash val="solid"/>
                      <a:round/>
                      <a:headEnd type="none" w="med" len="med"/>
                      <a:tailEnd type="none" w="med" len="med"/>
                    </a:lnR>
                    <a:lnT w="6350" cap="flat" cmpd="sng" algn="ctr">
                      <a:solidFill>
                        <a:srgbClr val="E7DCCD"/>
                      </a:solidFill>
                      <a:prstDash val="solid"/>
                      <a:round/>
                      <a:headEnd type="none" w="med" len="med"/>
                      <a:tailEnd type="none" w="med" len="med"/>
                    </a:lnT>
                    <a:lnB w="6350" cap="flat" cmpd="sng" algn="ctr">
                      <a:solidFill>
                        <a:srgbClr val="E7DCCD"/>
                      </a:solidFill>
                      <a:prstDash val="solid"/>
                      <a:round/>
                      <a:headEnd type="none" w="med" len="med"/>
                      <a:tailEnd type="none" w="med" len="med"/>
                    </a:lnB>
                    <a:solidFill>
                      <a:srgbClr val="F3EBE0"/>
                    </a:solidFill>
                  </a:tcPr>
                </a:tc>
                <a:tc>
                  <a:txBody>
                    <a:bodyPr/>
                    <a:lstStyle/>
                    <a:p>
                      <a:pPr marL="0" indent="0" algn="ctr">
                        <a:buNone/>
                      </a:pPr>
                      <a:r>
                        <a:rPr lang="en-US" sz="1100" b="1" dirty="0">
                          <a:solidFill>
                            <a:srgbClr val="2E7D52"/>
                          </a:solidFill>
                          <a:latin typeface="Calibri" pitchFamily="34" charset="0"/>
                          <a:ea typeface="Calibri" pitchFamily="34" charset="-122"/>
                          <a:cs typeface="Calibri" pitchFamily="34" charset="-120"/>
                        </a:rPr>
                        <a:t>✓ Delivered</a:t>
                      </a:r>
                      <a:endParaRPr lang="en-US" sz="1100" dirty="0">
                        <a:latin typeface="Calibri" charset="0"/>
                        <a:ea typeface="Calibri" charset="0"/>
                        <a:cs typeface="Calibri" charset="0"/>
                      </a:endParaRPr>
                    </a:p>
                  </a:txBody>
                  <a:tcPr anchor="ctr">
                    <a:lnL w="6350" cap="flat" cmpd="sng" algn="ctr">
                      <a:solidFill>
                        <a:srgbClr val="E7DCCD"/>
                      </a:solidFill>
                      <a:prstDash val="solid"/>
                      <a:round/>
                      <a:headEnd type="none" w="med" len="med"/>
                      <a:tailEnd type="none" w="med" len="med"/>
                    </a:lnL>
                    <a:lnR w="6350" cap="flat" cmpd="sng" algn="ctr">
                      <a:solidFill>
                        <a:srgbClr val="E7DCCD"/>
                      </a:solidFill>
                      <a:prstDash val="solid"/>
                      <a:round/>
                      <a:headEnd type="none" w="med" len="med"/>
                      <a:tailEnd type="none" w="med" len="med"/>
                    </a:lnR>
                    <a:lnT w="6350" cap="flat" cmpd="sng" algn="ctr">
                      <a:solidFill>
                        <a:srgbClr val="E7DCCD"/>
                      </a:solidFill>
                      <a:prstDash val="solid"/>
                      <a:round/>
                      <a:headEnd type="none" w="med" len="med"/>
                      <a:tailEnd type="none" w="med" len="med"/>
                    </a:lnT>
                    <a:lnB w="6350" cap="flat" cmpd="sng" algn="ctr">
                      <a:solidFill>
                        <a:srgbClr val="E7DCCD"/>
                      </a:solidFill>
                      <a:prstDash val="solid"/>
                      <a:round/>
                      <a:headEnd type="none" w="med" len="med"/>
                      <a:tailEnd type="none" w="med" len="med"/>
                    </a:lnB>
                    <a:solidFill>
                      <a:srgbClr val="F3EBE0"/>
                    </a:solidFill>
                  </a:tcPr>
                </a:tc>
                <a:extLst>
                  <a:ext uri="{0D108BD9-81ED-4DB2-BD59-A6C34878D82A}">
                    <a16:rowId xmlns:a16="http://schemas.microsoft.com/office/drawing/2014/main" val="10002"/>
                  </a:ext>
                </a:extLst>
              </a:tr>
              <a:tr h="365760">
                <a:tc>
                  <a:txBody>
                    <a:bodyPr/>
                    <a:lstStyle/>
                    <a:p>
                      <a:pPr marL="0" indent="0" algn="l">
                        <a:buNone/>
                      </a:pPr>
                      <a:r>
                        <a:rPr lang="en-US" sz="1100" b="1" dirty="0">
                          <a:solidFill>
                            <a:srgbClr val="2B2422"/>
                          </a:solidFill>
                          <a:latin typeface="Calibri" pitchFamily="34" charset="0"/>
                          <a:ea typeface="Calibri" pitchFamily="34" charset="-122"/>
                          <a:cs typeface="Calibri" pitchFamily="34" charset="-120"/>
                        </a:rPr>
                        <a:t>Item selection</a:t>
                      </a:r>
                      <a:endParaRPr lang="en-US" sz="1100" dirty="0">
                        <a:latin typeface="Calibri" charset="0"/>
                        <a:ea typeface="Calibri" charset="0"/>
                        <a:cs typeface="Calibri" charset="0"/>
                      </a:endParaRPr>
                    </a:p>
                  </a:txBody>
                  <a:tcPr anchor="ctr">
                    <a:lnL w="6350" cap="flat" cmpd="sng" algn="ctr">
                      <a:solidFill>
                        <a:srgbClr val="E7DCCD"/>
                      </a:solidFill>
                      <a:prstDash val="solid"/>
                      <a:round/>
                      <a:headEnd type="none" w="med" len="med"/>
                      <a:tailEnd type="none" w="med" len="med"/>
                    </a:lnL>
                    <a:lnR w="6350" cap="flat" cmpd="sng" algn="ctr">
                      <a:solidFill>
                        <a:srgbClr val="E7DCCD"/>
                      </a:solidFill>
                      <a:prstDash val="solid"/>
                      <a:round/>
                      <a:headEnd type="none" w="med" len="med"/>
                      <a:tailEnd type="none" w="med" len="med"/>
                    </a:lnR>
                    <a:lnT w="6350" cap="flat" cmpd="sng" algn="ctr">
                      <a:solidFill>
                        <a:srgbClr val="E7DCCD"/>
                      </a:solidFill>
                      <a:prstDash val="solid"/>
                      <a:round/>
                      <a:headEnd type="none" w="med" len="med"/>
                      <a:tailEnd type="none" w="med" len="med"/>
                    </a:lnT>
                    <a:lnB w="6350" cap="flat" cmpd="sng" algn="ctr">
                      <a:solidFill>
                        <a:srgbClr val="E7DCCD"/>
                      </a:solidFill>
                      <a:prstDash val="solid"/>
                      <a:round/>
                      <a:headEnd type="none" w="med" len="med"/>
                      <a:tailEnd type="none" w="med" len="med"/>
                    </a:lnB>
                    <a:solidFill>
                      <a:srgbClr val="FFFFFF"/>
                    </a:solidFill>
                  </a:tcPr>
                </a:tc>
                <a:tc>
                  <a:txBody>
                    <a:bodyPr/>
                    <a:lstStyle/>
                    <a:p>
                      <a:pPr marL="0" indent="0" algn="l">
                        <a:buNone/>
                      </a:pPr>
                      <a:r>
                        <a:rPr lang="en-US" sz="1100" dirty="0">
                          <a:solidFill>
                            <a:srgbClr val="5C524C"/>
                          </a:solidFill>
                          <a:latin typeface="Calibri" pitchFamily="34" charset="0"/>
                          <a:ea typeface="Calibri" pitchFamily="34" charset="-122"/>
                          <a:cs typeface="Calibri" pitchFamily="34" charset="-120"/>
                        </a:rPr>
                        <a:t>Base + Pizza + Topping by number</a:t>
                      </a:r>
                      <a:endParaRPr lang="en-US" sz="1100" dirty="0">
                        <a:latin typeface="Calibri" charset="0"/>
                        <a:ea typeface="Calibri" charset="0"/>
                        <a:cs typeface="Calibri" charset="0"/>
                      </a:endParaRPr>
                    </a:p>
                  </a:txBody>
                  <a:tcPr anchor="ctr">
                    <a:lnL w="6350" cap="flat" cmpd="sng" algn="ctr">
                      <a:solidFill>
                        <a:srgbClr val="E7DCCD"/>
                      </a:solidFill>
                      <a:prstDash val="solid"/>
                      <a:round/>
                      <a:headEnd type="none" w="med" len="med"/>
                      <a:tailEnd type="none" w="med" len="med"/>
                    </a:lnL>
                    <a:lnR w="6350" cap="flat" cmpd="sng" algn="ctr">
                      <a:solidFill>
                        <a:srgbClr val="E7DCCD"/>
                      </a:solidFill>
                      <a:prstDash val="solid"/>
                      <a:round/>
                      <a:headEnd type="none" w="med" len="med"/>
                      <a:tailEnd type="none" w="med" len="med"/>
                    </a:lnR>
                    <a:lnT w="6350" cap="flat" cmpd="sng" algn="ctr">
                      <a:solidFill>
                        <a:srgbClr val="E7DCCD"/>
                      </a:solidFill>
                      <a:prstDash val="solid"/>
                      <a:round/>
                      <a:headEnd type="none" w="med" len="med"/>
                      <a:tailEnd type="none" w="med" len="med"/>
                    </a:lnT>
                    <a:lnB w="6350" cap="flat" cmpd="sng" algn="ctr">
                      <a:solidFill>
                        <a:srgbClr val="E7DCCD"/>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2E7D52"/>
                          </a:solidFill>
                          <a:latin typeface="Calibri" pitchFamily="34" charset="0"/>
                          <a:ea typeface="Calibri" pitchFamily="34" charset="-122"/>
                          <a:cs typeface="Calibri" pitchFamily="34" charset="-120"/>
                        </a:rPr>
                        <a:t>✓ Delivered</a:t>
                      </a:r>
                      <a:endParaRPr lang="en-US" sz="1100" dirty="0">
                        <a:latin typeface="Calibri" charset="0"/>
                        <a:ea typeface="Calibri" charset="0"/>
                        <a:cs typeface="Calibri" charset="0"/>
                      </a:endParaRPr>
                    </a:p>
                  </a:txBody>
                  <a:tcPr anchor="ctr">
                    <a:lnL w="6350" cap="flat" cmpd="sng" algn="ctr">
                      <a:solidFill>
                        <a:srgbClr val="E7DCCD"/>
                      </a:solidFill>
                      <a:prstDash val="solid"/>
                      <a:round/>
                      <a:headEnd type="none" w="med" len="med"/>
                      <a:tailEnd type="none" w="med" len="med"/>
                    </a:lnL>
                    <a:lnR w="6350" cap="flat" cmpd="sng" algn="ctr">
                      <a:solidFill>
                        <a:srgbClr val="E7DCCD"/>
                      </a:solidFill>
                      <a:prstDash val="solid"/>
                      <a:round/>
                      <a:headEnd type="none" w="med" len="med"/>
                      <a:tailEnd type="none" w="med" len="med"/>
                    </a:lnR>
                    <a:lnT w="6350" cap="flat" cmpd="sng" algn="ctr">
                      <a:solidFill>
                        <a:srgbClr val="E7DCCD"/>
                      </a:solidFill>
                      <a:prstDash val="solid"/>
                      <a:round/>
                      <a:headEnd type="none" w="med" len="med"/>
                      <a:tailEnd type="none" w="med" len="med"/>
                    </a:lnT>
                    <a:lnB w="6350" cap="flat" cmpd="sng" algn="ctr">
                      <a:solidFill>
                        <a:srgbClr val="E7DCCD"/>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65760">
                <a:tc>
                  <a:txBody>
                    <a:bodyPr/>
                    <a:lstStyle/>
                    <a:p>
                      <a:pPr marL="0" indent="0" algn="l">
                        <a:buNone/>
                      </a:pPr>
                      <a:r>
                        <a:rPr lang="en-US" sz="1100" b="1" dirty="0">
                          <a:solidFill>
                            <a:srgbClr val="2B2422"/>
                          </a:solidFill>
                          <a:latin typeface="Calibri" pitchFamily="34" charset="0"/>
                          <a:ea typeface="Calibri" pitchFamily="34" charset="-122"/>
                          <a:cs typeface="Calibri" pitchFamily="34" charset="-120"/>
                        </a:rPr>
                        <a:t>Quantity + discount</a:t>
                      </a:r>
                      <a:endParaRPr lang="en-US" sz="1100" dirty="0">
                        <a:latin typeface="Calibri" charset="0"/>
                        <a:ea typeface="Calibri" charset="0"/>
                        <a:cs typeface="Calibri" charset="0"/>
                      </a:endParaRPr>
                    </a:p>
                  </a:txBody>
                  <a:tcPr anchor="ctr">
                    <a:lnL w="6350" cap="flat" cmpd="sng" algn="ctr">
                      <a:solidFill>
                        <a:srgbClr val="E7DCCD"/>
                      </a:solidFill>
                      <a:prstDash val="solid"/>
                      <a:round/>
                      <a:headEnd type="none" w="med" len="med"/>
                      <a:tailEnd type="none" w="med" len="med"/>
                    </a:lnL>
                    <a:lnR w="6350" cap="flat" cmpd="sng" algn="ctr">
                      <a:solidFill>
                        <a:srgbClr val="E7DCCD"/>
                      </a:solidFill>
                      <a:prstDash val="solid"/>
                      <a:round/>
                      <a:headEnd type="none" w="med" len="med"/>
                      <a:tailEnd type="none" w="med" len="med"/>
                    </a:lnR>
                    <a:lnT w="6350" cap="flat" cmpd="sng" algn="ctr">
                      <a:solidFill>
                        <a:srgbClr val="E7DCCD"/>
                      </a:solidFill>
                      <a:prstDash val="solid"/>
                      <a:round/>
                      <a:headEnd type="none" w="med" len="med"/>
                      <a:tailEnd type="none" w="med" len="med"/>
                    </a:lnT>
                    <a:lnB w="6350" cap="flat" cmpd="sng" algn="ctr">
                      <a:solidFill>
                        <a:srgbClr val="E7DCCD"/>
                      </a:solidFill>
                      <a:prstDash val="solid"/>
                      <a:round/>
                      <a:headEnd type="none" w="med" len="med"/>
                      <a:tailEnd type="none" w="med" len="med"/>
                    </a:lnB>
                    <a:solidFill>
                      <a:srgbClr val="F3EBE0"/>
                    </a:solidFill>
                  </a:tcPr>
                </a:tc>
                <a:tc>
                  <a:txBody>
                    <a:bodyPr/>
                    <a:lstStyle/>
                    <a:p>
                      <a:pPr marL="0" indent="0" algn="l">
                        <a:buNone/>
                      </a:pPr>
                      <a:r>
                        <a:rPr lang="en-US" sz="1100" dirty="0">
                          <a:solidFill>
                            <a:srgbClr val="5C524C"/>
                          </a:solidFill>
                          <a:latin typeface="Calibri" pitchFamily="34" charset="0"/>
                          <a:ea typeface="Calibri" pitchFamily="34" charset="-122"/>
                          <a:cs typeface="Calibri" pitchFamily="34" charset="-120"/>
                        </a:rPr>
                        <a:t>Integer 1–10; 10% off at qty ≥ 5</a:t>
                      </a:r>
                      <a:endParaRPr lang="en-US" sz="1100" dirty="0">
                        <a:latin typeface="Calibri" charset="0"/>
                        <a:ea typeface="Calibri" charset="0"/>
                        <a:cs typeface="Calibri" charset="0"/>
                      </a:endParaRPr>
                    </a:p>
                  </a:txBody>
                  <a:tcPr anchor="ctr">
                    <a:lnL w="6350" cap="flat" cmpd="sng" algn="ctr">
                      <a:solidFill>
                        <a:srgbClr val="E7DCCD"/>
                      </a:solidFill>
                      <a:prstDash val="solid"/>
                      <a:round/>
                      <a:headEnd type="none" w="med" len="med"/>
                      <a:tailEnd type="none" w="med" len="med"/>
                    </a:lnL>
                    <a:lnR w="6350" cap="flat" cmpd="sng" algn="ctr">
                      <a:solidFill>
                        <a:srgbClr val="E7DCCD"/>
                      </a:solidFill>
                      <a:prstDash val="solid"/>
                      <a:round/>
                      <a:headEnd type="none" w="med" len="med"/>
                      <a:tailEnd type="none" w="med" len="med"/>
                    </a:lnR>
                    <a:lnT w="6350" cap="flat" cmpd="sng" algn="ctr">
                      <a:solidFill>
                        <a:srgbClr val="E7DCCD"/>
                      </a:solidFill>
                      <a:prstDash val="solid"/>
                      <a:round/>
                      <a:headEnd type="none" w="med" len="med"/>
                      <a:tailEnd type="none" w="med" len="med"/>
                    </a:lnT>
                    <a:lnB w="6350" cap="flat" cmpd="sng" algn="ctr">
                      <a:solidFill>
                        <a:srgbClr val="E7DCCD"/>
                      </a:solidFill>
                      <a:prstDash val="solid"/>
                      <a:round/>
                      <a:headEnd type="none" w="med" len="med"/>
                      <a:tailEnd type="none" w="med" len="med"/>
                    </a:lnB>
                    <a:solidFill>
                      <a:srgbClr val="F3EBE0"/>
                    </a:solidFill>
                  </a:tcPr>
                </a:tc>
                <a:tc>
                  <a:txBody>
                    <a:bodyPr/>
                    <a:lstStyle/>
                    <a:p>
                      <a:pPr marL="0" indent="0" algn="ctr">
                        <a:buNone/>
                      </a:pPr>
                      <a:r>
                        <a:rPr lang="en-US" sz="1100" b="1" dirty="0">
                          <a:solidFill>
                            <a:srgbClr val="2E7D52"/>
                          </a:solidFill>
                          <a:latin typeface="Calibri" pitchFamily="34" charset="0"/>
                          <a:ea typeface="Calibri" pitchFamily="34" charset="-122"/>
                          <a:cs typeface="Calibri" pitchFamily="34" charset="-120"/>
                        </a:rPr>
                        <a:t>✓ Delivered</a:t>
                      </a:r>
                      <a:endParaRPr lang="en-US" sz="1100" dirty="0">
                        <a:latin typeface="Calibri" charset="0"/>
                        <a:ea typeface="Calibri" charset="0"/>
                        <a:cs typeface="Calibri" charset="0"/>
                      </a:endParaRPr>
                    </a:p>
                  </a:txBody>
                  <a:tcPr anchor="ctr">
                    <a:lnL w="6350" cap="flat" cmpd="sng" algn="ctr">
                      <a:solidFill>
                        <a:srgbClr val="E7DCCD"/>
                      </a:solidFill>
                      <a:prstDash val="solid"/>
                      <a:round/>
                      <a:headEnd type="none" w="med" len="med"/>
                      <a:tailEnd type="none" w="med" len="med"/>
                    </a:lnL>
                    <a:lnR w="6350" cap="flat" cmpd="sng" algn="ctr">
                      <a:solidFill>
                        <a:srgbClr val="E7DCCD"/>
                      </a:solidFill>
                      <a:prstDash val="solid"/>
                      <a:round/>
                      <a:headEnd type="none" w="med" len="med"/>
                      <a:tailEnd type="none" w="med" len="med"/>
                    </a:lnR>
                    <a:lnT w="6350" cap="flat" cmpd="sng" algn="ctr">
                      <a:solidFill>
                        <a:srgbClr val="E7DCCD"/>
                      </a:solidFill>
                      <a:prstDash val="solid"/>
                      <a:round/>
                      <a:headEnd type="none" w="med" len="med"/>
                      <a:tailEnd type="none" w="med" len="med"/>
                    </a:lnT>
                    <a:lnB w="6350" cap="flat" cmpd="sng" algn="ctr">
                      <a:solidFill>
                        <a:srgbClr val="E7DCCD"/>
                      </a:solidFill>
                      <a:prstDash val="solid"/>
                      <a:round/>
                      <a:headEnd type="none" w="med" len="med"/>
                      <a:tailEnd type="none" w="med" len="med"/>
                    </a:lnB>
                    <a:solidFill>
                      <a:srgbClr val="F3EBE0"/>
                    </a:solidFill>
                  </a:tcPr>
                </a:tc>
                <a:extLst>
                  <a:ext uri="{0D108BD9-81ED-4DB2-BD59-A6C34878D82A}">
                    <a16:rowId xmlns:a16="http://schemas.microsoft.com/office/drawing/2014/main" val="10004"/>
                  </a:ext>
                </a:extLst>
              </a:tr>
              <a:tr h="365760">
                <a:tc>
                  <a:txBody>
                    <a:bodyPr/>
                    <a:lstStyle/>
                    <a:p>
                      <a:pPr marL="0" indent="0" algn="l">
                        <a:buNone/>
                      </a:pPr>
                      <a:r>
                        <a:rPr lang="en-US" sz="1100" b="1" dirty="0">
                          <a:solidFill>
                            <a:srgbClr val="2B2422"/>
                          </a:solidFill>
                          <a:latin typeface="Calibri" pitchFamily="34" charset="0"/>
                          <a:ea typeface="Calibri" pitchFamily="34" charset="-122"/>
                          <a:cs typeface="Calibri" pitchFamily="34" charset="-120"/>
                        </a:rPr>
                        <a:t>Pricing engine</a:t>
                      </a:r>
                      <a:endParaRPr lang="en-US" sz="1100" dirty="0">
                        <a:latin typeface="Calibri" charset="0"/>
                        <a:ea typeface="Calibri" charset="0"/>
                        <a:cs typeface="Calibri" charset="0"/>
                      </a:endParaRPr>
                    </a:p>
                  </a:txBody>
                  <a:tcPr anchor="ctr">
                    <a:lnL w="6350" cap="flat" cmpd="sng" algn="ctr">
                      <a:solidFill>
                        <a:srgbClr val="E7DCCD"/>
                      </a:solidFill>
                      <a:prstDash val="solid"/>
                      <a:round/>
                      <a:headEnd type="none" w="med" len="med"/>
                      <a:tailEnd type="none" w="med" len="med"/>
                    </a:lnL>
                    <a:lnR w="6350" cap="flat" cmpd="sng" algn="ctr">
                      <a:solidFill>
                        <a:srgbClr val="E7DCCD"/>
                      </a:solidFill>
                      <a:prstDash val="solid"/>
                      <a:round/>
                      <a:headEnd type="none" w="med" len="med"/>
                      <a:tailEnd type="none" w="med" len="med"/>
                    </a:lnR>
                    <a:lnT w="6350" cap="flat" cmpd="sng" algn="ctr">
                      <a:solidFill>
                        <a:srgbClr val="E7DCCD"/>
                      </a:solidFill>
                      <a:prstDash val="solid"/>
                      <a:round/>
                      <a:headEnd type="none" w="med" len="med"/>
                      <a:tailEnd type="none" w="med" len="med"/>
                    </a:lnT>
                    <a:lnB w="6350" cap="flat" cmpd="sng" algn="ctr">
                      <a:solidFill>
                        <a:srgbClr val="E7DCCD"/>
                      </a:solidFill>
                      <a:prstDash val="solid"/>
                      <a:round/>
                      <a:headEnd type="none" w="med" len="med"/>
                      <a:tailEnd type="none" w="med" len="med"/>
                    </a:lnB>
                    <a:solidFill>
                      <a:srgbClr val="FFFFFF"/>
                    </a:solidFill>
                  </a:tcPr>
                </a:tc>
                <a:tc>
                  <a:txBody>
                    <a:bodyPr/>
                    <a:lstStyle/>
                    <a:p>
                      <a:pPr marL="0" indent="0" algn="l">
                        <a:buNone/>
                      </a:pPr>
                      <a:r>
                        <a:rPr lang="en-US" sz="1100" dirty="0">
                          <a:solidFill>
                            <a:srgbClr val="5C524C"/>
                          </a:solidFill>
                          <a:latin typeface="Calibri" pitchFamily="34" charset="0"/>
                          <a:ea typeface="Calibri" pitchFamily="34" charset="-122"/>
                          <a:cs typeface="Calibri" pitchFamily="34" charset="-120"/>
                        </a:rPr>
                        <a:t>6-step deterministic; 18% GST post-discount</a:t>
                      </a:r>
                      <a:endParaRPr lang="en-US" sz="1100" dirty="0">
                        <a:latin typeface="Calibri" charset="0"/>
                        <a:ea typeface="Calibri" charset="0"/>
                        <a:cs typeface="Calibri" charset="0"/>
                      </a:endParaRPr>
                    </a:p>
                  </a:txBody>
                  <a:tcPr anchor="ctr">
                    <a:lnL w="6350" cap="flat" cmpd="sng" algn="ctr">
                      <a:solidFill>
                        <a:srgbClr val="E7DCCD"/>
                      </a:solidFill>
                      <a:prstDash val="solid"/>
                      <a:round/>
                      <a:headEnd type="none" w="med" len="med"/>
                      <a:tailEnd type="none" w="med" len="med"/>
                    </a:lnL>
                    <a:lnR w="6350" cap="flat" cmpd="sng" algn="ctr">
                      <a:solidFill>
                        <a:srgbClr val="E7DCCD"/>
                      </a:solidFill>
                      <a:prstDash val="solid"/>
                      <a:round/>
                      <a:headEnd type="none" w="med" len="med"/>
                      <a:tailEnd type="none" w="med" len="med"/>
                    </a:lnR>
                    <a:lnT w="6350" cap="flat" cmpd="sng" algn="ctr">
                      <a:solidFill>
                        <a:srgbClr val="E7DCCD"/>
                      </a:solidFill>
                      <a:prstDash val="solid"/>
                      <a:round/>
                      <a:headEnd type="none" w="med" len="med"/>
                      <a:tailEnd type="none" w="med" len="med"/>
                    </a:lnT>
                    <a:lnB w="6350" cap="flat" cmpd="sng" algn="ctr">
                      <a:solidFill>
                        <a:srgbClr val="E7DCCD"/>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2E7D52"/>
                          </a:solidFill>
                          <a:latin typeface="Calibri" pitchFamily="34" charset="0"/>
                          <a:ea typeface="Calibri" pitchFamily="34" charset="-122"/>
                          <a:cs typeface="Calibri" pitchFamily="34" charset="-120"/>
                        </a:rPr>
                        <a:t>✓ Delivered</a:t>
                      </a:r>
                      <a:endParaRPr lang="en-US" sz="1100" dirty="0">
                        <a:latin typeface="Calibri" charset="0"/>
                        <a:ea typeface="Calibri" charset="0"/>
                        <a:cs typeface="Calibri" charset="0"/>
                      </a:endParaRPr>
                    </a:p>
                  </a:txBody>
                  <a:tcPr anchor="ctr">
                    <a:lnL w="6350" cap="flat" cmpd="sng" algn="ctr">
                      <a:solidFill>
                        <a:srgbClr val="E7DCCD"/>
                      </a:solidFill>
                      <a:prstDash val="solid"/>
                      <a:round/>
                      <a:headEnd type="none" w="med" len="med"/>
                      <a:tailEnd type="none" w="med" len="med"/>
                    </a:lnL>
                    <a:lnR w="6350" cap="flat" cmpd="sng" algn="ctr">
                      <a:solidFill>
                        <a:srgbClr val="E7DCCD"/>
                      </a:solidFill>
                      <a:prstDash val="solid"/>
                      <a:round/>
                      <a:headEnd type="none" w="med" len="med"/>
                      <a:tailEnd type="none" w="med" len="med"/>
                    </a:lnR>
                    <a:lnT w="6350" cap="flat" cmpd="sng" algn="ctr">
                      <a:solidFill>
                        <a:srgbClr val="E7DCCD"/>
                      </a:solidFill>
                      <a:prstDash val="solid"/>
                      <a:round/>
                      <a:headEnd type="none" w="med" len="med"/>
                      <a:tailEnd type="none" w="med" len="med"/>
                    </a:lnT>
                    <a:lnB w="6350" cap="flat" cmpd="sng" algn="ctr">
                      <a:solidFill>
                        <a:srgbClr val="E7DCCD"/>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65760">
                <a:tc>
                  <a:txBody>
                    <a:bodyPr/>
                    <a:lstStyle/>
                    <a:p>
                      <a:pPr marL="0" indent="0" algn="l">
                        <a:buNone/>
                      </a:pPr>
                      <a:r>
                        <a:rPr lang="en-US" sz="1100" b="1" dirty="0">
                          <a:solidFill>
                            <a:srgbClr val="2B2422"/>
                          </a:solidFill>
                          <a:latin typeface="Calibri" pitchFamily="34" charset="0"/>
                          <a:ea typeface="Calibri" pitchFamily="34" charset="-122"/>
                          <a:cs typeface="Calibri" pitchFamily="34" charset="-120"/>
                        </a:rPr>
                        <a:t>Itemised bill</a:t>
                      </a:r>
                      <a:endParaRPr lang="en-US" sz="1100" dirty="0">
                        <a:latin typeface="Calibri" charset="0"/>
                        <a:ea typeface="Calibri" charset="0"/>
                        <a:cs typeface="Calibri" charset="0"/>
                      </a:endParaRPr>
                    </a:p>
                  </a:txBody>
                  <a:tcPr anchor="ctr">
                    <a:lnL w="6350" cap="flat" cmpd="sng" algn="ctr">
                      <a:solidFill>
                        <a:srgbClr val="E7DCCD"/>
                      </a:solidFill>
                      <a:prstDash val="solid"/>
                      <a:round/>
                      <a:headEnd type="none" w="med" len="med"/>
                      <a:tailEnd type="none" w="med" len="med"/>
                    </a:lnL>
                    <a:lnR w="6350" cap="flat" cmpd="sng" algn="ctr">
                      <a:solidFill>
                        <a:srgbClr val="E7DCCD"/>
                      </a:solidFill>
                      <a:prstDash val="solid"/>
                      <a:round/>
                      <a:headEnd type="none" w="med" len="med"/>
                      <a:tailEnd type="none" w="med" len="med"/>
                    </a:lnR>
                    <a:lnT w="6350" cap="flat" cmpd="sng" algn="ctr">
                      <a:solidFill>
                        <a:srgbClr val="E7DCCD"/>
                      </a:solidFill>
                      <a:prstDash val="solid"/>
                      <a:round/>
                      <a:headEnd type="none" w="med" len="med"/>
                      <a:tailEnd type="none" w="med" len="med"/>
                    </a:lnT>
                    <a:lnB w="6350" cap="flat" cmpd="sng" algn="ctr">
                      <a:solidFill>
                        <a:srgbClr val="E7DCCD"/>
                      </a:solidFill>
                      <a:prstDash val="solid"/>
                      <a:round/>
                      <a:headEnd type="none" w="med" len="med"/>
                      <a:tailEnd type="none" w="med" len="med"/>
                    </a:lnB>
                    <a:solidFill>
                      <a:srgbClr val="F3EBE0"/>
                    </a:solidFill>
                  </a:tcPr>
                </a:tc>
                <a:tc>
                  <a:txBody>
                    <a:bodyPr/>
                    <a:lstStyle/>
                    <a:p>
                      <a:pPr marL="0" indent="0" algn="l">
                        <a:buNone/>
                      </a:pPr>
                      <a:r>
                        <a:rPr lang="en-US" sz="1100" dirty="0">
                          <a:solidFill>
                            <a:srgbClr val="5C524C"/>
                          </a:solidFill>
                          <a:latin typeface="Calibri" pitchFamily="34" charset="0"/>
                          <a:ea typeface="Calibri" pitchFamily="34" charset="-122"/>
                          <a:cs typeface="Calibri" pitchFamily="34" charset="-120"/>
                        </a:rPr>
                        <a:t>Structured table, totals marked</a:t>
                      </a:r>
                      <a:endParaRPr lang="en-US" sz="1100" dirty="0">
                        <a:latin typeface="Calibri" charset="0"/>
                        <a:ea typeface="Calibri" charset="0"/>
                        <a:cs typeface="Calibri" charset="0"/>
                      </a:endParaRPr>
                    </a:p>
                  </a:txBody>
                  <a:tcPr anchor="ctr">
                    <a:lnL w="6350" cap="flat" cmpd="sng" algn="ctr">
                      <a:solidFill>
                        <a:srgbClr val="E7DCCD"/>
                      </a:solidFill>
                      <a:prstDash val="solid"/>
                      <a:round/>
                      <a:headEnd type="none" w="med" len="med"/>
                      <a:tailEnd type="none" w="med" len="med"/>
                    </a:lnL>
                    <a:lnR w="6350" cap="flat" cmpd="sng" algn="ctr">
                      <a:solidFill>
                        <a:srgbClr val="E7DCCD"/>
                      </a:solidFill>
                      <a:prstDash val="solid"/>
                      <a:round/>
                      <a:headEnd type="none" w="med" len="med"/>
                      <a:tailEnd type="none" w="med" len="med"/>
                    </a:lnR>
                    <a:lnT w="6350" cap="flat" cmpd="sng" algn="ctr">
                      <a:solidFill>
                        <a:srgbClr val="E7DCCD"/>
                      </a:solidFill>
                      <a:prstDash val="solid"/>
                      <a:round/>
                      <a:headEnd type="none" w="med" len="med"/>
                      <a:tailEnd type="none" w="med" len="med"/>
                    </a:lnT>
                    <a:lnB w="6350" cap="flat" cmpd="sng" algn="ctr">
                      <a:solidFill>
                        <a:srgbClr val="E7DCCD"/>
                      </a:solidFill>
                      <a:prstDash val="solid"/>
                      <a:round/>
                      <a:headEnd type="none" w="med" len="med"/>
                      <a:tailEnd type="none" w="med" len="med"/>
                    </a:lnB>
                    <a:solidFill>
                      <a:srgbClr val="F3EBE0"/>
                    </a:solidFill>
                  </a:tcPr>
                </a:tc>
                <a:tc>
                  <a:txBody>
                    <a:bodyPr/>
                    <a:lstStyle/>
                    <a:p>
                      <a:pPr marL="0" indent="0" algn="ctr">
                        <a:buNone/>
                      </a:pPr>
                      <a:r>
                        <a:rPr lang="en-US" sz="1100" b="1" dirty="0">
                          <a:solidFill>
                            <a:srgbClr val="2E7D52"/>
                          </a:solidFill>
                          <a:latin typeface="Calibri" pitchFamily="34" charset="0"/>
                          <a:ea typeface="Calibri" pitchFamily="34" charset="-122"/>
                          <a:cs typeface="Calibri" pitchFamily="34" charset="-120"/>
                        </a:rPr>
                        <a:t>✓ Delivered</a:t>
                      </a:r>
                      <a:endParaRPr lang="en-US" sz="1100" dirty="0">
                        <a:latin typeface="Calibri" charset="0"/>
                        <a:ea typeface="Calibri" charset="0"/>
                        <a:cs typeface="Calibri" charset="0"/>
                      </a:endParaRPr>
                    </a:p>
                  </a:txBody>
                  <a:tcPr anchor="ctr">
                    <a:lnL w="6350" cap="flat" cmpd="sng" algn="ctr">
                      <a:solidFill>
                        <a:srgbClr val="E7DCCD"/>
                      </a:solidFill>
                      <a:prstDash val="solid"/>
                      <a:round/>
                      <a:headEnd type="none" w="med" len="med"/>
                      <a:tailEnd type="none" w="med" len="med"/>
                    </a:lnL>
                    <a:lnR w="6350" cap="flat" cmpd="sng" algn="ctr">
                      <a:solidFill>
                        <a:srgbClr val="E7DCCD"/>
                      </a:solidFill>
                      <a:prstDash val="solid"/>
                      <a:round/>
                      <a:headEnd type="none" w="med" len="med"/>
                      <a:tailEnd type="none" w="med" len="med"/>
                    </a:lnR>
                    <a:lnT w="6350" cap="flat" cmpd="sng" algn="ctr">
                      <a:solidFill>
                        <a:srgbClr val="E7DCCD"/>
                      </a:solidFill>
                      <a:prstDash val="solid"/>
                      <a:round/>
                      <a:headEnd type="none" w="med" len="med"/>
                      <a:tailEnd type="none" w="med" len="med"/>
                    </a:lnT>
                    <a:lnB w="6350" cap="flat" cmpd="sng" algn="ctr">
                      <a:solidFill>
                        <a:srgbClr val="E7DCCD"/>
                      </a:solidFill>
                      <a:prstDash val="solid"/>
                      <a:round/>
                      <a:headEnd type="none" w="med" len="med"/>
                      <a:tailEnd type="none" w="med" len="med"/>
                    </a:lnB>
                    <a:solidFill>
                      <a:srgbClr val="F3EBE0"/>
                    </a:solidFill>
                  </a:tcPr>
                </a:tc>
                <a:extLst>
                  <a:ext uri="{0D108BD9-81ED-4DB2-BD59-A6C34878D82A}">
                    <a16:rowId xmlns:a16="http://schemas.microsoft.com/office/drawing/2014/main" val="10006"/>
                  </a:ext>
                </a:extLst>
              </a:tr>
              <a:tr h="365760">
                <a:tc>
                  <a:txBody>
                    <a:bodyPr/>
                    <a:lstStyle/>
                    <a:p>
                      <a:pPr marL="0" indent="0" algn="l">
                        <a:buNone/>
                      </a:pPr>
                      <a:r>
                        <a:rPr lang="en-US" sz="1100" b="1" dirty="0">
                          <a:solidFill>
                            <a:srgbClr val="2B2422"/>
                          </a:solidFill>
                          <a:latin typeface="Calibri" pitchFamily="34" charset="0"/>
                          <a:ea typeface="Calibri" pitchFamily="34" charset="-122"/>
                          <a:cs typeface="Calibri" pitchFamily="34" charset="-120"/>
                        </a:rPr>
                        <a:t>Payment</a:t>
                      </a:r>
                      <a:endParaRPr lang="en-US" sz="1100" dirty="0">
                        <a:latin typeface="Calibri" charset="0"/>
                        <a:ea typeface="Calibri" charset="0"/>
                        <a:cs typeface="Calibri" charset="0"/>
                      </a:endParaRPr>
                    </a:p>
                  </a:txBody>
                  <a:tcPr anchor="ctr">
                    <a:lnL w="6350" cap="flat" cmpd="sng" algn="ctr">
                      <a:solidFill>
                        <a:srgbClr val="E7DCCD"/>
                      </a:solidFill>
                      <a:prstDash val="solid"/>
                      <a:round/>
                      <a:headEnd type="none" w="med" len="med"/>
                      <a:tailEnd type="none" w="med" len="med"/>
                    </a:lnL>
                    <a:lnR w="6350" cap="flat" cmpd="sng" algn="ctr">
                      <a:solidFill>
                        <a:srgbClr val="E7DCCD"/>
                      </a:solidFill>
                      <a:prstDash val="solid"/>
                      <a:round/>
                      <a:headEnd type="none" w="med" len="med"/>
                      <a:tailEnd type="none" w="med" len="med"/>
                    </a:lnR>
                    <a:lnT w="6350" cap="flat" cmpd="sng" algn="ctr">
                      <a:solidFill>
                        <a:srgbClr val="E7DCCD"/>
                      </a:solidFill>
                      <a:prstDash val="solid"/>
                      <a:round/>
                      <a:headEnd type="none" w="med" len="med"/>
                      <a:tailEnd type="none" w="med" len="med"/>
                    </a:lnT>
                    <a:lnB w="6350" cap="flat" cmpd="sng" algn="ctr">
                      <a:solidFill>
                        <a:srgbClr val="E7DCCD"/>
                      </a:solidFill>
                      <a:prstDash val="solid"/>
                      <a:round/>
                      <a:headEnd type="none" w="med" len="med"/>
                      <a:tailEnd type="none" w="med" len="med"/>
                    </a:lnB>
                    <a:solidFill>
                      <a:srgbClr val="FFFFFF"/>
                    </a:solidFill>
                  </a:tcPr>
                </a:tc>
                <a:tc>
                  <a:txBody>
                    <a:bodyPr/>
                    <a:lstStyle/>
                    <a:p>
                      <a:pPr marL="0" indent="0" algn="l">
                        <a:buNone/>
                      </a:pPr>
                      <a:r>
                        <a:rPr lang="en-US" sz="1100" dirty="0">
                          <a:solidFill>
                            <a:srgbClr val="5C524C"/>
                          </a:solidFill>
                          <a:latin typeface="Calibri" pitchFamily="34" charset="0"/>
                          <a:ea typeface="Calibri" pitchFamily="34" charset="-122"/>
                          <a:cs typeface="Calibri" pitchFamily="34" charset="-120"/>
                        </a:rPr>
                        <a:t>Cash / Card / UPI + confirmation</a:t>
                      </a:r>
                      <a:endParaRPr lang="en-US" sz="1100" dirty="0">
                        <a:latin typeface="Calibri" charset="0"/>
                        <a:ea typeface="Calibri" charset="0"/>
                        <a:cs typeface="Calibri" charset="0"/>
                      </a:endParaRPr>
                    </a:p>
                  </a:txBody>
                  <a:tcPr anchor="ctr">
                    <a:lnL w="6350" cap="flat" cmpd="sng" algn="ctr">
                      <a:solidFill>
                        <a:srgbClr val="E7DCCD"/>
                      </a:solidFill>
                      <a:prstDash val="solid"/>
                      <a:round/>
                      <a:headEnd type="none" w="med" len="med"/>
                      <a:tailEnd type="none" w="med" len="med"/>
                    </a:lnL>
                    <a:lnR w="6350" cap="flat" cmpd="sng" algn="ctr">
                      <a:solidFill>
                        <a:srgbClr val="E7DCCD"/>
                      </a:solidFill>
                      <a:prstDash val="solid"/>
                      <a:round/>
                      <a:headEnd type="none" w="med" len="med"/>
                      <a:tailEnd type="none" w="med" len="med"/>
                    </a:lnR>
                    <a:lnT w="6350" cap="flat" cmpd="sng" algn="ctr">
                      <a:solidFill>
                        <a:srgbClr val="E7DCCD"/>
                      </a:solidFill>
                      <a:prstDash val="solid"/>
                      <a:round/>
                      <a:headEnd type="none" w="med" len="med"/>
                      <a:tailEnd type="none" w="med" len="med"/>
                    </a:lnT>
                    <a:lnB w="6350" cap="flat" cmpd="sng" algn="ctr">
                      <a:solidFill>
                        <a:srgbClr val="E7DCCD"/>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2E7D52"/>
                          </a:solidFill>
                          <a:latin typeface="Calibri" pitchFamily="34" charset="0"/>
                          <a:ea typeface="Calibri" pitchFamily="34" charset="-122"/>
                          <a:cs typeface="Calibri" pitchFamily="34" charset="-120"/>
                        </a:rPr>
                        <a:t>✓ Delivered</a:t>
                      </a:r>
                      <a:endParaRPr lang="en-US" sz="1100" dirty="0">
                        <a:latin typeface="Calibri" charset="0"/>
                        <a:ea typeface="Calibri" charset="0"/>
                        <a:cs typeface="Calibri" charset="0"/>
                      </a:endParaRPr>
                    </a:p>
                  </a:txBody>
                  <a:tcPr anchor="ctr">
                    <a:lnL w="6350" cap="flat" cmpd="sng" algn="ctr">
                      <a:solidFill>
                        <a:srgbClr val="E7DCCD"/>
                      </a:solidFill>
                      <a:prstDash val="solid"/>
                      <a:round/>
                      <a:headEnd type="none" w="med" len="med"/>
                      <a:tailEnd type="none" w="med" len="med"/>
                    </a:lnL>
                    <a:lnR w="6350" cap="flat" cmpd="sng" algn="ctr">
                      <a:solidFill>
                        <a:srgbClr val="E7DCCD"/>
                      </a:solidFill>
                      <a:prstDash val="solid"/>
                      <a:round/>
                      <a:headEnd type="none" w="med" len="med"/>
                      <a:tailEnd type="none" w="med" len="med"/>
                    </a:lnR>
                    <a:lnT w="6350" cap="flat" cmpd="sng" algn="ctr">
                      <a:solidFill>
                        <a:srgbClr val="E7DCCD"/>
                      </a:solidFill>
                      <a:prstDash val="solid"/>
                      <a:round/>
                      <a:headEnd type="none" w="med" len="med"/>
                      <a:tailEnd type="none" w="med" len="med"/>
                    </a:lnT>
                    <a:lnB w="6350" cap="flat" cmpd="sng" algn="ctr">
                      <a:solidFill>
                        <a:srgbClr val="E7DCCD"/>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365760">
                <a:tc>
                  <a:txBody>
                    <a:bodyPr/>
                    <a:lstStyle/>
                    <a:p>
                      <a:pPr marL="0" indent="0" algn="l">
                        <a:buNone/>
                      </a:pPr>
                      <a:r>
                        <a:rPr lang="en-US" sz="1100" b="1" dirty="0">
                          <a:solidFill>
                            <a:srgbClr val="2B2422"/>
                          </a:solidFill>
                          <a:latin typeface="Calibri" pitchFamily="34" charset="0"/>
                          <a:ea typeface="Calibri" pitchFamily="34" charset="-122"/>
                          <a:cs typeface="Calibri" pitchFamily="34" charset="-120"/>
                        </a:rPr>
                        <a:t>Persistence</a:t>
                      </a:r>
                      <a:endParaRPr lang="en-US" sz="1100" dirty="0">
                        <a:latin typeface="Calibri" charset="0"/>
                        <a:ea typeface="Calibri" charset="0"/>
                        <a:cs typeface="Calibri" charset="0"/>
                      </a:endParaRPr>
                    </a:p>
                  </a:txBody>
                  <a:tcPr anchor="ctr">
                    <a:lnL w="6350" cap="flat" cmpd="sng" algn="ctr">
                      <a:solidFill>
                        <a:srgbClr val="E7DCCD"/>
                      </a:solidFill>
                      <a:prstDash val="solid"/>
                      <a:round/>
                      <a:headEnd type="none" w="med" len="med"/>
                      <a:tailEnd type="none" w="med" len="med"/>
                    </a:lnL>
                    <a:lnR w="6350" cap="flat" cmpd="sng" algn="ctr">
                      <a:solidFill>
                        <a:srgbClr val="E7DCCD"/>
                      </a:solidFill>
                      <a:prstDash val="solid"/>
                      <a:round/>
                      <a:headEnd type="none" w="med" len="med"/>
                      <a:tailEnd type="none" w="med" len="med"/>
                    </a:lnR>
                    <a:lnT w="6350" cap="flat" cmpd="sng" algn="ctr">
                      <a:solidFill>
                        <a:srgbClr val="E7DCCD"/>
                      </a:solidFill>
                      <a:prstDash val="solid"/>
                      <a:round/>
                      <a:headEnd type="none" w="med" len="med"/>
                      <a:tailEnd type="none" w="med" len="med"/>
                    </a:lnT>
                    <a:lnB w="6350" cap="flat" cmpd="sng" algn="ctr">
                      <a:solidFill>
                        <a:srgbClr val="E7DCCD"/>
                      </a:solidFill>
                      <a:prstDash val="solid"/>
                      <a:round/>
                      <a:headEnd type="none" w="med" len="med"/>
                      <a:tailEnd type="none" w="med" len="med"/>
                    </a:lnB>
                    <a:solidFill>
                      <a:srgbClr val="F3EBE0"/>
                    </a:solidFill>
                  </a:tcPr>
                </a:tc>
                <a:tc>
                  <a:txBody>
                    <a:bodyPr/>
                    <a:lstStyle/>
                    <a:p>
                      <a:pPr marL="0" indent="0" algn="l">
                        <a:buNone/>
                      </a:pPr>
                      <a:r>
                        <a:rPr lang="en-US" sz="1100" dirty="0">
                          <a:solidFill>
                            <a:srgbClr val="5C524C"/>
                          </a:solidFill>
                          <a:latin typeface="Calibri" pitchFamily="34" charset="0"/>
                          <a:ea typeface="Calibri" pitchFamily="34" charset="-122"/>
                          <a:cs typeface="Calibri" pitchFamily="34" charset="-120"/>
                        </a:rPr>
                        <a:t>Parseable orders_log.txt, one block/order</a:t>
                      </a:r>
                      <a:endParaRPr lang="en-US" sz="1100" dirty="0">
                        <a:latin typeface="Calibri" charset="0"/>
                        <a:ea typeface="Calibri" charset="0"/>
                        <a:cs typeface="Calibri" charset="0"/>
                      </a:endParaRPr>
                    </a:p>
                  </a:txBody>
                  <a:tcPr anchor="ctr">
                    <a:lnL w="6350" cap="flat" cmpd="sng" algn="ctr">
                      <a:solidFill>
                        <a:srgbClr val="E7DCCD"/>
                      </a:solidFill>
                      <a:prstDash val="solid"/>
                      <a:round/>
                      <a:headEnd type="none" w="med" len="med"/>
                      <a:tailEnd type="none" w="med" len="med"/>
                    </a:lnL>
                    <a:lnR w="6350" cap="flat" cmpd="sng" algn="ctr">
                      <a:solidFill>
                        <a:srgbClr val="E7DCCD"/>
                      </a:solidFill>
                      <a:prstDash val="solid"/>
                      <a:round/>
                      <a:headEnd type="none" w="med" len="med"/>
                      <a:tailEnd type="none" w="med" len="med"/>
                    </a:lnR>
                    <a:lnT w="6350" cap="flat" cmpd="sng" algn="ctr">
                      <a:solidFill>
                        <a:srgbClr val="E7DCCD"/>
                      </a:solidFill>
                      <a:prstDash val="solid"/>
                      <a:round/>
                      <a:headEnd type="none" w="med" len="med"/>
                      <a:tailEnd type="none" w="med" len="med"/>
                    </a:lnT>
                    <a:lnB w="6350" cap="flat" cmpd="sng" algn="ctr">
                      <a:solidFill>
                        <a:srgbClr val="E7DCCD"/>
                      </a:solidFill>
                      <a:prstDash val="solid"/>
                      <a:round/>
                      <a:headEnd type="none" w="med" len="med"/>
                      <a:tailEnd type="none" w="med" len="med"/>
                    </a:lnB>
                    <a:solidFill>
                      <a:srgbClr val="F3EBE0"/>
                    </a:solidFill>
                  </a:tcPr>
                </a:tc>
                <a:tc>
                  <a:txBody>
                    <a:bodyPr/>
                    <a:lstStyle/>
                    <a:p>
                      <a:pPr marL="0" indent="0" algn="ctr">
                        <a:buNone/>
                      </a:pPr>
                      <a:r>
                        <a:rPr lang="en-US" sz="1100" b="1" dirty="0">
                          <a:solidFill>
                            <a:srgbClr val="2E7D52"/>
                          </a:solidFill>
                          <a:latin typeface="Calibri" pitchFamily="34" charset="0"/>
                          <a:ea typeface="Calibri" pitchFamily="34" charset="-122"/>
                          <a:cs typeface="Calibri" pitchFamily="34" charset="-120"/>
                        </a:rPr>
                        <a:t>✓ Delivered</a:t>
                      </a:r>
                      <a:endParaRPr lang="en-US" sz="1100" dirty="0">
                        <a:latin typeface="Calibri" charset="0"/>
                        <a:ea typeface="Calibri" charset="0"/>
                        <a:cs typeface="Calibri" charset="0"/>
                      </a:endParaRPr>
                    </a:p>
                  </a:txBody>
                  <a:tcPr anchor="ctr">
                    <a:lnL w="6350" cap="flat" cmpd="sng" algn="ctr">
                      <a:solidFill>
                        <a:srgbClr val="E7DCCD"/>
                      </a:solidFill>
                      <a:prstDash val="solid"/>
                      <a:round/>
                      <a:headEnd type="none" w="med" len="med"/>
                      <a:tailEnd type="none" w="med" len="med"/>
                    </a:lnL>
                    <a:lnR w="6350" cap="flat" cmpd="sng" algn="ctr">
                      <a:solidFill>
                        <a:srgbClr val="E7DCCD"/>
                      </a:solidFill>
                      <a:prstDash val="solid"/>
                      <a:round/>
                      <a:headEnd type="none" w="med" len="med"/>
                      <a:tailEnd type="none" w="med" len="med"/>
                    </a:lnR>
                    <a:lnT w="6350" cap="flat" cmpd="sng" algn="ctr">
                      <a:solidFill>
                        <a:srgbClr val="E7DCCD"/>
                      </a:solidFill>
                      <a:prstDash val="solid"/>
                      <a:round/>
                      <a:headEnd type="none" w="med" len="med"/>
                      <a:tailEnd type="none" w="med" len="med"/>
                    </a:lnT>
                    <a:lnB w="6350" cap="flat" cmpd="sng" algn="ctr">
                      <a:solidFill>
                        <a:srgbClr val="E7DCCD"/>
                      </a:solidFill>
                      <a:prstDash val="solid"/>
                      <a:round/>
                      <a:headEnd type="none" w="med" len="med"/>
                      <a:tailEnd type="none" w="med" len="med"/>
                    </a:lnB>
                    <a:solidFill>
                      <a:srgbClr val="F3EBE0"/>
                    </a:solidFill>
                  </a:tcPr>
                </a:tc>
                <a:extLst>
                  <a:ext uri="{0D108BD9-81ED-4DB2-BD59-A6C34878D82A}">
                    <a16:rowId xmlns:a16="http://schemas.microsoft.com/office/drawing/2014/main" val="10008"/>
                  </a:ext>
                </a:extLst>
              </a:tr>
              <a:tr h="365760">
                <a:tc>
                  <a:txBody>
                    <a:bodyPr/>
                    <a:lstStyle/>
                    <a:p>
                      <a:pPr marL="0" indent="0" algn="l">
                        <a:buNone/>
                      </a:pPr>
                      <a:r>
                        <a:rPr lang="en-US" sz="1100" b="1" dirty="0">
                          <a:solidFill>
                            <a:srgbClr val="2B2422"/>
                          </a:solidFill>
                          <a:latin typeface="Calibri" pitchFamily="34" charset="0"/>
                          <a:ea typeface="Calibri" pitchFamily="34" charset="-122"/>
                          <a:cs typeface="Calibri" pitchFamily="34" charset="-120"/>
                        </a:rPr>
                        <a:t>Robustness</a:t>
                      </a:r>
                      <a:endParaRPr lang="en-US" sz="1100" dirty="0">
                        <a:latin typeface="Calibri" charset="0"/>
                        <a:ea typeface="Calibri" charset="0"/>
                        <a:cs typeface="Calibri" charset="0"/>
                      </a:endParaRPr>
                    </a:p>
                  </a:txBody>
                  <a:tcPr anchor="ctr">
                    <a:lnL w="6350" cap="flat" cmpd="sng" algn="ctr">
                      <a:solidFill>
                        <a:srgbClr val="E7DCCD"/>
                      </a:solidFill>
                      <a:prstDash val="solid"/>
                      <a:round/>
                      <a:headEnd type="none" w="med" len="med"/>
                      <a:tailEnd type="none" w="med" len="med"/>
                    </a:lnL>
                    <a:lnR w="6350" cap="flat" cmpd="sng" algn="ctr">
                      <a:solidFill>
                        <a:srgbClr val="E7DCCD"/>
                      </a:solidFill>
                      <a:prstDash val="solid"/>
                      <a:round/>
                      <a:headEnd type="none" w="med" len="med"/>
                      <a:tailEnd type="none" w="med" len="med"/>
                    </a:lnR>
                    <a:lnT w="6350" cap="flat" cmpd="sng" algn="ctr">
                      <a:solidFill>
                        <a:srgbClr val="E7DCCD"/>
                      </a:solidFill>
                      <a:prstDash val="solid"/>
                      <a:round/>
                      <a:headEnd type="none" w="med" len="med"/>
                      <a:tailEnd type="none" w="med" len="med"/>
                    </a:lnT>
                    <a:lnB w="6350" cap="flat" cmpd="sng" algn="ctr">
                      <a:solidFill>
                        <a:srgbClr val="E7DCCD"/>
                      </a:solidFill>
                      <a:prstDash val="solid"/>
                      <a:round/>
                      <a:headEnd type="none" w="med" len="med"/>
                      <a:tailEnd type="none" w="med" len="med"/>
                    </a:lnB>
                    <a:solidFill>
                      <a:srgbClr val="FFFFFF"/>
                    </a:solidFill>
                  </a:tcPr>
                </a:tc>
                <a:tc>
                  <a:txBody>
                    <a:bodyPr/>
                    <a:lstStyle/>
                    <a:p>
                      <a:pPr marL="0" indent="0" algn="l">
                        <a:buNone/>
                      </a:pPr>
                      <a:r>
                        <a:rPr lang="en-US" sz="1100" dirty="0">
                          <a:solidFill>
                            <a:srgbClr val="5C524C"/>
                          </a:solidFill>
                          <a:latin typeface="Calibri" pitchFamily="34" charset="0"/>
                          <a:ea typeface="Calibri" pitchFamily="34" charset="-122"/>
                          <a:cs typeface="Calibri" pitchFamily="34" charset="-120"/>
                        </a:rPr>
                        <a:t>All 8 edge cases, zero crashes</a:t>
                      </a:r>
                      <a:endParaRPr lang="en-US" sz="1100" dirty="0">
                        <a:latin typeface="Calibri" charset="0"/>
                        <a:ea typeface="Calibri" charset="0"/>
                        <a:cs typeface="Calibri" charset="0"/>
                      </a:endParaRPr>
                    </a:p>
                  </a:txBody>
                  <a:tcPr anchor="ctr">
                    <a:lnL w="6350" cap="flat" cmpd="sng" algn="ctr">
                      <a:solidFill>
                        <a:srgbClr val="E7DCCD"/>
                      </a:solidFill>
                      <a:prstDash val="solid"/>
                      <a:round/>
                      <a:headEnd type="none" w="med" len="med"/>
                      <a:tailEnd type="none" w="med" len="med"/>
                    </a:lnL>
                    <a:lnR w="6350" cap="flat" cmpd="sng" algn="ctr">
                      <a:solidFill>
                        <a:srgbClr val="E7DCCD"/>
                      </a:solidFill>
                      <a:prstDash val="solid"/>
                      <a:round/>
                      <a:headEnd type="none" w="med" len="med"/>
                      <a:tailEnd type="none" w="med" len="med"/>
                    </a:lnR>
                    <a:lnT w="6350" cap="flat" cmpd="sng" algn="ctr">
                      <a:solidFill>
                        <a:srgbClr val="E7DCCD"/>
                      </a:solidFill>
                      <a:prstDash val="solid"/>
                      <a:round/>
                      <a:headEnd type="none" w="med" len="med"/>
                      <a:tailEnd type="none" w="med" len="med"/>
                    </a:lnT>
                    <a:lnB w="6350" cap="flat" cmpd="sng" algn="ctr">
                      <a:solidFill>
                        <a:srgbClr val="E7DCCD"/>
                      </a:solidFill>
                      <a:prstDash val="solid"/>
                      <a:round/>
                      <a:headEnd type="none" w="med" len="med"/>
                      <a:tailEnd type="none" w="med" len="med"/>
                    </a:lnB>
                    <a:solidFill>
                      <a:srgbClr val="FFFFFF"/>
                    </a:solidFill>
                  </a:tcPr>
                </a:tc>
                <a:tc>
                  <a:txBody>
                    <a:bodyPr/>
                    <a:lstStyle/>
                    <a:p>
                      <a:pPr marL="0" indent="0" algn="ctr">
                        <a:buNone/>
                      </a:pPr>
                      <a:r>
                        <a:rPr lang="en-US" sz="1100" b="1" dirty="0">
                          <a:solidFill>
                            <a:srgbClr val="2E7D52"/>
                          </a:solidFill>
                          <a:latin typeface="Calibri" pitchFamily="34" charset="0"/>
                          <a:ea typeface="Calibri" pitchFamily="34" charset="-122"/>
                          <a:cs typeface="Calibri" pitchFamily="34" charset="-120"/>
                        </a:rPr>
                        <a:t>✓ Delivered</a:t>
                      </a:r>
                      <a:endParaRPr lang="en-US" sz="1100" dirty="0">
                        <a:latin typeface="Calibri" charset="0"/>
                        <a:ea typeface="Calibri" charset="0"/>
                        <a:cs typeface="Calibri" charset="0"/>
                      </a:endParaRPr>
                    </a:p>
                  </a:txBody>
                  <a:tcPr anchor="ctr">
                    <a:lnL w="6350" cap="flat" cmpd="sng" algn="ctr">
                      <a:solidFill>
                        <a:srgbClr val="E7DCCD"/>
                      </a:solidFill>
                      <a:prstDash val="solid"/>
                      <a:round/>
                      <a:headEnd type="none" w="med" len="med"/>
                      <a:tailEnd type="none" w="med" len="med"/>
                    </a:lnL>
                    <a:lnR w="6350" cap="flat" cmpd="sng" algn="ctr">
                      <a:solidFill>
                        <a:srgbClr val="E7DCCD"/>
                      </a:solidFill>
                      <a:prstDash val="solid"/>
                      <a:round/>
                      <a:headEnd type="none" w="med" len="med"/>
                      <a:tailEnd type="none" w="med" len="med"/>
                    </a:lnR>
                    <a:lnT w="6350" cap="flat" cmpd="sng" algn="ctr">
                      <a:solidFill>
                        <a:srgbClr val="E7DCCD"/>
                      </a:solidFill>
                      <a:prstDash val="solid"/>
                      <a:round/>
                      <a:headEnd type="none" w="med" len="med"/>
                      <a:tailEnd type="none" w="med" len="med"/>
                    </a:lnT>
                    <a:lnB w="6350" cap="flat" cmpd="sng" algn="ctr">
                      <a:solidFill>
                        <a:srgbClr val="E7DCCD"/>
                      </a:solidFill>
                      <a:prstDash val="solid"/>
                      <a:round/>
                      <a:headEnd type="none" w="med" len="med"/>
                      <a:tailEnd type="none" w="med" len="med"/>
                    </a:lnB>
                    <a:solidFill>
                      <a:srgbClr val="FFFFFF"/>
                    </a:solidFill>
                  </a:tcPr>
                </a:tc>
                <a:extLst>
                  <a:ext uri="{0D108BD9-81ED-4DB2-BD59-A6C34878D82A}">
                    <a16:rowId xmlns:a16="http://schemas.microsoft.com/office/drawing/2014/main" val="10009"/>
                  </a:ext>
                </a:extLst>
              </a:tr>
            </a:tbl>
          </a:graphicData>
        </a:graphic>
      </p:graphicFrame>
      <p:sp>
        <p:nvSpPr>
          <p:cNvPr id="6" name="Shape 3"/>
          <p:cNvSpPr/>
          <p:nvPr/>
        </p:nvSpPr>
        <p:spPr>
          <a:xfrm>
            <a:off x="548640" y="5779008"/>
            <a:ext cx="11109960" cy="566928"/>
          </a:xfrm>
          <a:prstGeom prst="roundRect">
            <a:avLst>
              <a:gd name="adj" fmla="val 12903"/>
            </a:avLst>
          </a:prstGeom>
          <a:solidFill>
            <a:srgbClr val="26201D"/>
          </a:solidFill>
          <a:ln/>
        </p:spPr>
        <p:txBody>
          <a:bodyPr/>
          <a:lstStyle/>
          <a:p>
            <a:endParaRPr lang="en-IN"/>
          </a:p>
        </p:txBody>
      </p:sp>
      <p:pic>
        <p:nvPicPr>
          <p:cNvPr id="7" name="Image 0" descr="preencoded.png"/>
          <p:cNvPicPr>
            <a:picLocks noChangeAspect="1"/>
          </p:cNvPicPr>
          <p:nvPr/>
        </p:nvPicPr>
        <p:blipFill>
          <a:blip r:embed="rId3"/>
          <a:stretch>
            <a:fillRect/>
          </a:stretch>
        </p:blipFill>
        <p:spPr>
          <a:xfrm>
            <a:off x="777240" y="5943600"/>
            <a:ext cx="237744" cy="237744"/>
          </a:xfrm>
          <a:prstGeom prst="rect">
            <a:avLst/>
          </a:prstGeom>
        </p:spPr>
      </p:pic>
      <p:sp>
        <p:nvSpPr>
          <p:cNvPr id="8" name="Text 4"/>
          <p:cNvSpPr/>
          <p:nvPr/>
        </p:nvSpPr>
        <p:spPr>
          <a:xfrm>
            <a:off x="1143000" y="5779008"/>
            <a:ext cx="10332720" cy="566928"/>
          </a:xfrm>
          <a:prstGeom prst="rect">
            <a:avLst/>
          </a:prstGeom>
          <a:noFill/>
          <a:ln/>
        </p:spPr>
        <p:txBody>
          <a:bodyPr wrap="square" lIns="0" tIns="0" rIns="0" bIns="0" rtlCol="0" anchor="ctr"/>
          <a:lstStyle/>
          <a:p>
            <a:pPr marL="0" indent="0">
              <a:buNone/>
            </a:pPr>
            <a:r>
              <a:rPr lang="en-US" sz="1150" b="1" dirty="0">
                <a:solidFill>
                  <a:srgbClr val="E0A43B"/>
                </a:solidFill>
                <a:latin typeface="Calibri" pitchFamily="34" charset="0"/>
                <a:ea typeface="Calibri" pitchFamily="34" charset="-122"/>
                <a:cs typeface="Calibri" pitchFamily="34" charset="-120"/>
              </a:rPr>
              <a:t>Delivered ahead of plan:  </a:t>
            </a:r>
            <a:r>
              <a:rPr lang="en-US" sz="1150" dirty="0">
                <a:solidFill>
                  <a:srgbClr val="F3EBE0"/>
                </a:solidFill>
                <a:latin typeface="Calibri" pitchFamily="34" charset="0"/>
                <a:ea typeface="Calibri" pitchFamily="34" charset="-122"/>
                <a:cs typeface="Calibri" pitchFamily="34" charset="-120"/>
              </a:rPr>
              <a:t>admin menu &amp; discount control, analytics dashboard and order-log export — all originally Stage 3.</a:t>
            </a:r>
            <a:endParaRPr lang="en-US" sz="1150" dirty="0"/>
          </a:p>
        </p:txBody>
      </p:sp>
      <p:sp>
        <p:nvSpPr>
          <p:cNvPr id="9" name="Text 5"/>
          <p:cNvSpPr/>
          <p:nvPr/>
        </p:nvSpPr>
        <p:spPr>
          <a:xfrm>
            <a:off x="502920" y="6473952"/>
            <a:ext cx="5486400" cy="274320"/>
          </a:xfrm>
          <a:prstGeom prst="rect">
            <a:avLst/>
          </a:prstGeom>
          <a:noFill/>
          <a:ln/>
        </p:spPr>
        <p:txBody>
          <a:bodyPr wrap="square" lIns="0" tIns="0" rIns="0" bIns="0" rtlCol="0" anchor="ctr"/>
          <a:lstStyle/>
          <a:p>
            <a:pPr marL="0" indent="0" algn="l">
              <a:buNone/>
            </a:pPr>
            <a:r>
              <a:rPr lang="en-US" sz="900" dirty="0">
                <a:solidFill>
                  <a:srgbClr val="8A7E76"/>
                </a:solidFill>
                <a:latin typeface="Calibri" pitchFamily="34" charset="0"/>
                <a:ea typeface="Calibri" pitchFamily="34" charset="-122"/>
                <a:cs typeface="Calibri" pitchFamily="34" charset="-120"/>
              </a:rPr>
              <a:t>SliceMatic · PizzaFlow MVP Demo</a:t>
            </a:r>
            <a:endParaRPr lang="en-US" sz="900" dirty="0"/>
          </a:p>
        </p:txBody>
      </p:sp>
      <p:sp>
        <p:nvSpPr>
          <p:cNvPr id="10" name="Text 6"/>
          <p:cNvSpPr/>
          <p:nvPr/>
        </p:nvSpPr>
        <p:spPr>
          <a:xfrm>
            <a:off x="11274552" y="6473952"/>
            <a:ext cx="411480" cy="274320"/>
          </a:xfrm>
          <a:prstGeom prst="rect">
            <a:avLst/>
          </a:prstGeom>
          <a:noFill/>
          <a:ln/>
        </p:spPr>
        <p:txBody>
          <a:bodyPr wrap="square" lIns="0" tIns="0" rIns="0" bIns="0" rtlCol="0" anchor="ctr"/>
          <a:lstStyle/>
          <a:p>
            <a:pPr marL="0" indent="0" algn="r">
              <a:buNone/>
            </a:pPr>
            <a:r>
              <a:rPr lang="en-US" sz="900" dirty="0">
                <a:solidFill>
                  <a:srgbClr val="8A7E76"/>
                </a:solidFill>
                <a:latin typeface="Calibri" pitchFamily="34" charset="0"/>
                <a:ea typeface="Calibri" pitchFamily="34" charset="-122"/>
                <a:cs typeface="Calibri" pitchFamily="34" charset="-120"/>
              </a:rPr>
              <a:t>17</a:t>
            </a:r>
            <a:endParaRPr lang="en-US" sz="9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BF6EF"/>
        </a:solidFill>
        <a:effectLst/>
      </p:bgPr>
    </p:bg>
    <p:spTree>
      <p:nvGrpSpPr>
        <p:cNvPr id="1" name=""/>
        <p:cNvGrpSpPr/>
        <p:nvPr/>
      </p:nvGrpSpPr>
      <p:grpSpPr>
        <a:xfrm>
          <a:off x="0" y="0"/>
          <a:ext cx="0" cy="0"/>
          <a:chOff x="0" y="0"/>
          <a:chExt cx="0" cy="0"/>
        </a:xfrm>
      </p:grpSpPr>
      <p:sp>
        <p:nvSpPr>
          <p:cNvPr id="2" name="Text 0"/>
          <p:cNvSpPr/>
          <p:nvPr/>
        </p:nvSpPr>
        <p:spPr>
          <a:xfrm>
            <a:off x="502920" y="457200"/>
            <a:ext cx="8229600" cy="274320"/>
          </a:xfrm>
          <a:prstGeom prst="rect">
            <a:avLst/>
          </a:prstGeom>
          <a:noFill/>
          <a:ln/>
        </p:spPr>
        <p:txBody>
          <a:bodyPr wrap="square" lIns="0" tIns="0" rIns="0" bIns="0" rtlCol="0" anchor="ctr"/>
          <a:lstStyle/>
          <a:p>
            <a:pPr marL="0" indent="0">
              <a:buNone/>
            </a:pPr>
            <a:r>
              <a:rPr lang="en-US" sz="1200" b="1" kern="0" spc="300" dirty="0">
                <a:solidFill>
                  <a:srgbClr val="C1352B"/>
                </a:solidFill>
                <a:latin typeface="Calibri" pitchFamily="34" charset="0"/>
                <a:ea typeface="Calibri" pitchFamily="34" charset="-122"/>
                <a:cs typeface="Calibri" pitchFamily="34" charset="-120"/>
              </a:rPr>
              <a:t>PRODUCTION READINESS</a:t>
            </a:r>
            <a:endParaRPr lang="en-US" sz="1200" dirty="0"/>
          </a:p>
        </p:txBody>
      </p:sp>
      <p:sp>
        <p:nvSpPr>
          <p:cNvPr id="3" name="Text 1"/>
          <p:cNvSpPr/>
          <p:nvPr/>
        </p:nvSpPr>
        <p:spPr>
          <a:xfrm>
            <a:off x="475488" y="749808"/>
            <a:ext cx="10515600" cy="685800"/>
          </a:xfrm>
          <a:prstGeom prst="rect">
            <a:avLst/>
          </a:prstGeom>
          <a:noFill/>
          <a:ln/>
        </p:spPr>
        <p:txBody>
          <a:bodyPr wrap="square" lIns="0" tIns="0" rIns="0" bIns="0" rtlCol="0" anchor="ctr"/>
          <a:lstStyle/>
          <a:p>
            <a:pPr marL="0" indent="0">
              <a:buNone/>
            </a:pPr>
            <a:r>
              <a:rPr lang="en-US" sz="3300" b="1" dirty="0">
                <a:solidFill>
                  <a:srgbClr val="2B2422"/>
                </a:solidFill>
                <a:latin typeface="Cambria" pitchFamily="34" charset="0"/>
                <a:ea typeface="Cambria" pitchFamily="34" charset="-122"/>
                <a:cs typeface="Cambria" pitchFamily="34" charset="-120"/>
              </a:rPr>
              <a:t>How we know it's ready to ship</a:t>
            </a:r>
            <a:endParaRPr lang="en-US" sz="3300" dirty="0"/>
          </a:p>
        </p:txBody>
      </p:sp>
      <p:sp>
        <p:nvSpPr>
          <p:cNvPr id="4" name="Text 2"/>
          <p:cNvSpPr/>
          <p:nvPr/>
        </p:nvSpPr>
        <p:spPr>
          <a:xfrm>
            <a:off x="502920" y="1417320"/>
            <a:ext cx="11155680" cy="457200"/>
          </a:xfrm>
          <a:prstGeom prst="rect">
            <a:avLst/>
          </a:prstGeom>
          <a:noFill/>
          <a:ln/>
        </p:spPr>
        <p:txBody>
          <a:bodyPr wrap="square" lIns="0" tIns="0" rIns="0" bIns="0" rtlCol="0" anchor="ctr"/>
          <a:lstStyle/>
          <a:p>
            <a:pPr marL="0" indent="0">
              <a:buNone/>
            </a:pPr>
            <a:r>
              <a:rPr lang="en-US" sz="1350" dirty="0">
                <a:solidFill>
                  <a:srgbClr val="2B2422"/>
                </a:solidFill>
                <a:latin typeface="Calibri" pitchFamily="34" charset="0"/>
                <a:ea typeface="Calibri" pitchFamily="34" charset="-122"/>
                <a:cs typeface="Calibri" pitchFamily="34" charset="-120"/>
              </a:rPr>
              <a:t>Two lenses — the engineering pipeline that ships it safely, and the product validation that proves it's correct.</a:t>
            </a:r>
            <a:endParaRPr lang="en-US" sz="1350" dirty="0"/>
          </a:p>
        </p:txBody>
      </p:sp>
      <p:sp>
        <p:nvSpPr>
          <p:cNvPr id="5" name="Shape 3"/>
          <p:cNvSpPr/>
          <p:nvPr/>
        </p:nvSpPr>
        <p:spPr>
          <a:xfrm>
            <a:off x="548640" y="2148840"/>
            <a:ext cx="5440680" cy="3977640"/>
          </a:xfrm>
          <a:prstGeom prst="roundRect">
            <a:avLst>
              <a:gd name="adj" fmla="val 2299"/>
            </a:avLst>
          </a:prstGeom>
          <a:solidFill>
            <a:srgbClr val="FFFFFF"/>
          </a:solidFill>
          <a:ln w="12700">
            <a:solidFill>
              <a:srgbClr val="E7DCCD"/>
            </a:solidFill>
            <a:prstDash val="solid"/>
          </a:ln>
          <a:effectLst>
            <a:outerShdw blurRad="88900" dist="38100" dir="5400000" algn="bl" rotWithShape="0">
              <a:srgbClr val="000000">
                <a:alpha val="10000"/>
              </a:srgbClr>
            </a:outerShdw>
          </a:effectLst>
        </p:spPr>
        <p:txBody>
          <a:bodyPr/>
          <a:lstStyle/>
          <a:p>
            <a:endParaRPr lang="en-IN"/>
          </a:p>
        </p:txBody>
      </p:sp>
      <p:sp>
        <p:nvSpPr>
          <p:cNvPr id="6" name="Shape 4"/>
          <p:cNvSpPr/>
          <p:nvPr/>
        </p:nvSpPr>
        <p:spPr>
          <a:xfrm>
            <a:off x="841248" y="2423160"/>
            <a:ext cx="603504" cy="603504"/>
          </a:xfrm>
          <a:prstGeom prst="ellipse">
            <a:avLst/>
          </a:prstGeom>
          <a:solidFill>
            <a:srgbClr val="26201D"/>
          </a:solidFill>
          <a:ln/>
        </p:spPr>
        <p:txBody>
          <a:bodyPr/>
          <a:lstStyle/>
          <a:p>
            <a:endParaRPr lang="en-IN"/>
          </a:p>
        </p:txBody>
      </p:sp>
      <p:pic>
        <p:nvPicPr>
          <p:cNvPr id="7" name="Image 0" descr="preencoded.png"/>
          <p:cNvPicPr>
            <a:picLocks noChangeAspect="1"/>
          </p:cNvPicPr>
          <p:nvPr/>
        </p:nvPicPr>
        <p:blipFill>
          <a:blip r:embed="rId3"/>
          <a:stretch>
            <a:fillRect/>
          </a:stretch>
        </p:blipFill>
        <p:spPr>
          <a:xfrm>
            <a:off x="996696" y="2578608"/>
            <a:ext cx="292608" cy="292608"/>
          </a:xfrm>
          <a:prstGeom prst="rect">
            <a:avLst/>
          </a:prstGeom>
        </p:spPr>
      </p:pic>
      <p:sp>
        <p:nvSpPr>
          <p:cNvPr id="8" name="Text 5"/>
          <p:cNvSpPr/>
          <p:nvPr/>
        </p:nvSpPr>
        <p:spPr>
          <a:xfrm>
            <a:off x="1600200" y="2423160"/>
            <a:ext cx="4251960" cy="603504"/>
          </a:xfrm>
          <a:prstGeom prst="rect">
            <a:avLst/>
          </a:prstGeom>
          <a:noFill/>
          <a:ln/>
        </p:spPr>
        <p:txBody>
          <a:bodyPr wrap="square" lIns="0" tIns="0" rIns="0" bIns="0" rtlCol="0" anchor="ctr"/>
          <a:lstStyle/>
          <a:p>
            <a:pPr marL="0" indent="0">
              <a:buNone/>
            </a:pPr>
            <a:r>
              <a:rPr lang="en-US" sz="1600" b="1" dirty="0">
                <a:solidFill>
                  <a:srgbClr val="2B2422"/>
                </a:solidFill>
                <a:latin typeface="Calibri" pitchFamily="34" charset="0"/>
                <a:ea typeface="Calibri" pitchFamily="34" charset="-122"/>
                <a:cs typeface="Calibri" pitchFamily="34" charset="-120"/>
              </a:rPr>
              <a:t>Software &amp; engineering</a:t>
            </a:r>
            <a:endParaRPr lang="en-US" sz="1600" dirty="0"/>
          </a:p>
        </p:txBody>
      </p:sp>
      <p:pic>
        <p:nvPicPr>
          <p:cNvPr id="9" name="Image 1" descr="preencoded.png"/>
          <p:cNvPicPr>
            <a:picLocks noChangeAspect="1"/>
          </p:cNvPicPr>
          <p:nvPr/>
        </p:nvPicPr>
        <p:blipFill>
          <a:blip r:embed="rId4"/>
          <a:stretch>
            <a:fillRect/>
          </a:stretch>
        </p:blipFill>
        <p:spPr>
          <a:xfrm>
            <a:off x="914400" y="3273552"/>
            <a:ext cx="237744" cy="237744"/>
          </a:xfrm>
          <a:prstGeom prst="rect">
            <a:avLst/>
          </a:prstGeom>
        </p:spPr>
      </p:pic>
      <p:sp>
        <p:nvSpPr>
          <p:cNvPr id="10" name="Text 6"/>
          <p:cNvSpPr/>
          <p:nvPr/>
        </p:nvSpPr>
        <p:spPr>
          <a:xfrm>
            <a:off x="1280160" y="3209544"/>
            <a:ext cx="4434840" cy="640080"/>
          </a:xfrm>
          <a:prstGeom prst="rect">
            <a:avLst/>
          </a:prstGeom>
          <a:noFill/>
          <a:ln/>
        </p:spPr>
        <p:txBody>
          <a:bodyPr wrap="square" lIns="0" tIns="0" rIns="0" bIns="0" rtlCol="0" anchor="t"/>
          <a:lstStyle/>
          <a:p>
            <a:pPr marL="0" indent="0">
              <a:lnSpc>
                <a:spcPct val="102000"/>
              </a:lnSpc>
              <a:buNone/>
            </a:pPr>
            <a:r>
              <a:rPr lang="en-US" sz="1180" b="1" dirty="0">
                <a:solidFill>
                  <a:srgbClr val="2B2422"/>
                </a:solidFill>
                <a:latin typeface="Calibri" pitchFamily="34" charset="0"/>
                <a:ea typeface="Calibri" pitchFamily="34" charset="-122"/>
                <a:cs typeface="Calibri" pitchFamily="34" charset="-120"/>
              </a:rPr>
              <a:t>Automated CI/CD — </a:t>
            </a:r>
            <a:r>
              <a:rPr lang="en-US" sz="1180" dirty="0">
                <a:solidFill>
                  <a:srgbClr val="8A7E76"/>
                </a:solidFill>
                <a:latin typeface="Calibri" pitchFamily="34" charset="0"/>
                <a:ea typeface="Calibri" pitchFamily="34" charset="-122"/>
                <a:cs typeface="Calibri" pitchFamily="34" charset="-120"/>
              </a:rPr>
              <a:t>GitHub Actions tests every PR and blocks on any failure.</a:t>
            </a:r>
            <a:endParaRPr lang="en-US" sz="1180" dirty="0"/>
          </a:p>
        </p:txBody>
      </p:sp>
      <p:pic>
        <p:nvPicPr>
          <p:cNvPr id="11" name="Image 2" descr="preencoded.png"/>
          <p:cNvPicPr>
            <a:picLocks noChangeAspect="1"/>
          </p:cNvPicPr>
          <p:nvPr/>
        </p:nvPicPr>
        <p:blipFill>
          <a:blip r:embed="rId4"/>
          <a:stretch>
            <a:fillRect/>
          </a:stretch>
        </p:blipFill>
        <p:spPr>
          <a:xfrm>
            <a:off x="914400" y="3986784"/>
            <a:ext cx="237744" cy="237744"/>
          </a:xfrm>
          <a:prstGeom prst="rect">
            <a:avLst/>
          </a:prstGeom>
        </p:spPr>
      </p:pic>
      <p:sp>
        <p:nvSpPr>
          <p:cNvPr id="12" name="Text 7"/>
          <p:cNvSpPr/>
          <p:nvPr/>
        </p:nvSpPr>
        <p:spPr>
          <a:xfrm>
            <a:off x="1280160" y="3922776"/>
            <a:ext cx="4434840" cy="640080"/>
          </a:xfrm>
          <a:prstGeom prst="rect">
            <a:avLst/>
          </a:prstGeom>
          <a:noFill/>
          <a:ln/>
        </p:spPr>
        <p:txBody>
          <a:bodyPr wrap="square" lIns="0" tIns="0" rIns="0" bIns="0" rtlCol="0" anchor="t"/>
          <a:lstStyle/>
          <a:p>
            <a:pPr marL="0" indent="0">
              <a:lnSpc>
                <a:spcPct val="102000"/>
              </a:lnSpc>
              <a:buNone/>
            </a:pPr>
            <a:r>
              <a:rPr lang="en-US" sz="1180" b="1" dirty="0">
                <a:solidFill>
                  <a:srgbClr val="2B2422"/>
                </a:solidFill>
                <a:latin typeface="Calibri" pitchFamily="34" charset="0"/>
                <a:ea typeface="Calibri" pitchFamily="34" charset="-122"/>
                <a:cs typeface="Calibri" pitchFamily="34" charset="-120"/>
              </a:rPr>
              <a:t>Zero-touch deploys — </a:t>
            </a:r>
            <a:r>
              <a:rPr lang="en-US" sz="1180" dirty="0">
                <a:solidFill>
                  <a:srgbClr val="8A7E76"/>
                </a:solidFill>
                <a:latin typeface="Calibri" pitchFamily="34" charset="0"/>
                <a:ea typeface="Calibri" pitchFamily="34" charset="-122"/>
                <a:cs typeface="Calibri" pitchFamily="34" charset="-120"/>
              </a:rPr>
              <a:t>approved code ships to Hugging Face with no human in the loop.</a:t>
            </a:r>
            <a:endParaRPr lang="en-US" sz="1180" dirty="0"/>
          </a:p>
        </p:txBody>
      </p:sp>
      <p:pic>
        <p:nvPicPr>
          <p:cNvPr id="13" name="Image 3" descr="preencoded.png"/>
          <p:cNvPicPr>
            <a:picLocks noChangeAspect="1"/>
          </p:cNvPicPr>
          <p:nvPr/>
        </p:nvPicPr>
        <p:blipFill>
          <a:blip r:embed="rId4"/>
          <a:stretch>
            <a:fillRect/>
          </a:stretch>
        </p:blipFill>
        <p:spPr>
          <a:xfrm>
            <a:off x="914400" y="4700016"/>
            <a:ext cx="237744" cy="237744"/>
          </a:xfrm>
          <a:prstGeom prst="rect">
            <a:avLst/>
          </a:prstGeom>
        </p:spPr>
      </p:pic>
      <p:sp>
        <p:nvSpPr>
          <p:cNvPr id="14" name="Text 8"/>
          <p:cNvSpPr/>
          <p:nvPr/>
        </p:nvSpPr>
        <p:spPr>
          <a:xfrm>
            <a:off x="1280160" y="4636008"/>
            <a:ext cx="4434840" cy="640080"/>
          </a:xfrm>
          <a:prstGeom prst="rect">
            <a:avLst/>
          </a:prstGeom>
          <a:noFill/>
          <a:ln/>
        </p:spPr>
        <p:txBody>
          <a:bodyPr wrap="square" lIns="0" tIns="0" rIns="0" bIns="0" rtlCol="0" anchor="t"/>
          <a:lstStyle/>
          <a:p>
            <a:pPr marL="0" indent="0">
              <a:lnSpc>
                <a:spcPct val="102000"/>
              </a:lnSpc>
              <a:buNone/>
            </a:pPr>
            <a:r>
              <a:rPr lang="en-US" sz="1180" b="1" dirty="0">
                <a:solidFill>
                  <a:srgbClr val="2B2422"/>
                </a:solidFill>
                <a:latin typeface="Calibri" pitchFamily="34" charset="0"/>
                <a:ea typeface="Calibri" pitchFamily="34" charset="-122"/>
                <a:cs typeface="Calibri" pitchFamily="34" charset="-120"/>
              </a:rPr>
              <a:t>Environment parity — </a:t>
            </a:r>
            <a:r>
              <a:rPr lang="en-US" sz="1180" dirty="0">
                <a:solidFill>
                  <a:srgbClr val="8A7E76"/>
                </a:solidFill>
                <a:latin typeface="Calibri" pitchFamily="34" charset="0"/>
                <a:ea typeface="Calibri" pitchFamily="34" charset="-122"/>
                <a:cs typeface="Calibri" pitchFamily="34" charset="-120"/>
              </a:rPr>
              <a:t>Docker makes local and production exactly identical.</a:t>
            </a:r>
            <a:endParaRPr lang="en-US" sz="1180" dirty="0"/>
          </a:p>
        </p:txBody>
      </p:sp>
      <p:pic>
        <p:nvPicPr>
          <p:cNvPr id="15" name="Image 4" descr="preencoded.png"/>
          <p:cNvPicPr>
            <a:picLocks noChangeAspect="1"/>
          </p:cNvPicPr>
          <p:nvPr/>
        </p:nvPicPr>
        <p:blipFill>
          <a:blip r:embed="rId4"/>
          <a:stretch>
            <a:fillRect/>
          </a:stretch>
        </p:blipFill>
        <p:spPr>
          <a:xfrm>
            <a:off x="914400" y="5413248"/>
            <a:ext cx="237744" cy="237744"/>
          </a:xfrm>
          <a:prstGeom prst="rect">
            <a:avLst/>
          </a:prstGeom>
        </p:spPr>
      </p:pic>
      <p:sp>
        <p:nvSpPr>
          <p:cNvPr id="16" name="Text 9"/>
          <p:cNvSpPr/>
          <p:nvPr/>
        </p:nvSpPr>
        <p:spPr>
          <a:xfrm>
            <a:off x="1280160" y="5349240"/>
            <a:ext cx="4434840" cy="640080"/>
          </a:xfrm>
          <a:prstGeom prst="rect">
            <a:avLst/>
          </a:prstGeom>
          <a:noFill/>
          <a:ln/>
        </p:spPr>
        <p:txBody>
          <a:bodyPr wrap="square" lIns="0" tIns="0" rIns="0" bIns="0" rtlCol="0" anchor="t"/>
          <a:lstStyle/>
          <a:p>
            <a:pPr marL="0" indent="0">
              <a:lnSpc>
                <a:spcPct val="102000"/>
              </a:lnSpc>
              <a:buNone/>
            </a:pPr>
            <a:r>
              <a:rPr lang="en-US" sz="1180" b="1" dirty="0">
                <a:solidFill>
                  <a:srgbClr val="2B2422"/>
                </a:solidFill>
                <a:latin typeface="Calibri" pitchFamily="34" charset="0"/>
                <a:ea typeface="Calibri" pitchFamily="34" charset="-122"/>
                <a:cs typeface="Calibri" pitchFamily="34" charset="-120"/>
              </a:rPr>
              <a:t>Fault tolerance — </a:t>
            </a:r>
            <a:r>
              <a:rPr lang="en-US" sz="1180" dirty="0">
                <a:solidFill>
                  <a:srgbClr val="8A7E76"/>
                </a:solidFill>
                <a:latin typeface="Calibri" pitchFamily="34" charset="0"/>
                <a:ea typeface="Calibri" pitchFamily="34" charset="-122"/>
                <a:cs typeface="Calibri" pitchFamily="34" charset="-120"/>
              </a:rPr>
              <a:t>a persistent storage volume protects data across restarts.</a:t>
            </a:r>
            <a:endParaRPr lang="en-US" sz="1180" dirty="0"/>
          </a:p>
        </p:txBody>
      </p:sp>
      <p:sp>
        <p:nvSpPr>
          <p:cNvPr id="17" name="Shape 10"/>
          <p:cNvSpPr/>
          <p:nvPr/>
        </p:nvSpPr>
        <p:spPr>
          <a:xfrm>
            <a:off x="6309360" y="2148840"/>
            <a:ext cx="5440680" cy="3977640"/>
          </a:xfrm>
          <a:prstGeom prst="roundRect">
            <a:avLst>
              <a:gd name="adj" fmla="val 2299"/>
            </a:avLst>
          </a:prstGeom>
          <a:solidFill>
            <a:srgbClr val="FFFFFF"/>
          </a:solidFill>
          <a:ln w="12700">
            <a:solidFill>
              <a:srgbClr val="E7DCCD"/>
            </a:solidFill>
            <a:prstDash val="solid"/>
          </a:ln>
          <a:effectLst>
            <a:outerShdw blurRad="88900" dist="38100" dir="5400000" algn="bl" rotWithShape="0">
              <a:srgbClr val="000000">
                <a:alpha val="10000"/>
              </a:srgbClr>
            </a:outerShdw>
          </a:effectLst>
        </p:spPr>
        <p:txBody>
          <a:bodyPr/>
          <a:lstStyle/>
          <a:p>
            <a:endParaRPr lang="en-IN"/>
          </a:p>
        </p:txBody>
      </p:sp>
      <p:sp>
        <p:nvSpPr>
          <p:cNvPr id="18" name="Shape 11"/>
          <p:cNvSpPr/>
          <p:nvPr/>
        </p:nvSpPr>
        <p:spPr>
          <a:xfrm>
            <a:off x="6601968" y="2423160"/>
            <a:ext cx="603504" cy="603504"/>
          </a:xfrm>
          <a:prstGeom prst="ellipse">
            <a:avLst/>
          </a:prstGeom>
          <a:solidFill>
            <a:srgbClr val="26201D"/>
          </a:solidFill>
          <a:ln/>
        </p:spPr>
        <p:txBody>
          <a:bodyPr/>
          <a:lstStyle/>
          <a:p>
            <a:endParaRPr lang="en-IN"/>
          </a:p>
        </p:txBody>
      </p:sp>
      <p:pic>
        <p:nvPicPr>
          <p:cNvPr id="19" name="Image 5" descr="preencoded.png"/>
          <p:cNvPicPr>
            <a:picLocks noChangeAspect="1"/>
          </p:cNvPicPr>
          <p:nvPr/>
        </p:nvPicPr>
        <p:blipFill>
          <a:blip r:embed="rId5"/>
          <a:stretch>
            <a:fillRect/>
          </a:stretch>
        </p:blipFill>
        <p:spPr>
          <a:xfrm>
            <a:off x="6757416" y="2578608"/>
            <a:ext cx="292608" cy="292608"/>
          </a:xfrm>
          <a:prstGeom prst="rect">
            <a:avLst/>
          </a:prstGeom>
        </p:spPr>
      </p:pic>
      <p:sp>
        <p:nvSpPr>
          <p:cNvPr id="20" name="Text 12"/>
          <p:cNvSpPr/>
          <p:nvPr/>
        </p:nvSpPr>
        <p:spPr>
          <a:xfrm>
            <a:off x="7360920" y="2423160"/>
            <a:ext cx="4251960" cy="603504"/>
          </a:xfrm>
          <a:prstGeom prst="rect">
            <a:avLst/>
          </a:prstGeom>
          <a:noFill/>
          <a:ln/>
        </p:spPr>
        <p:txBody>
          <a:bodyPr wrap="square" lIns="0" tIns="0" rIns="0" bIns="0" rtlCol="0" anchor="ctr"/>
          <a:lstStyle/>
          <a:p>
            <a:pPr marL="0" indent="0">
              <a:buNone/>
            </a:pPr>
            <a:r>
              <a:rPr lang="en-US" sz="1600" b="1" dirty="0">
                <a:solidFill>
                  <a:srgbClr val="2B2422"/>
                </a:solidFill>
                <a:latin typeface="Calibri" pitchFamily="34" charset="0"/>
                <a:ea typeface="Calibri" pitchFamily="34" charset="-122"/>
                <a:cs typeface="Calibri" pitchFamily="34" charset="-120"/>
              </a:rPr>
              <a:t>Product &amp; features</a:t>
            </a:r>
            <a:endParaRPr lang="en-US" sz="1600" dirty="0"/>
          </a:p>
        </p:txBody>
      </p:sp>
      <p:pic>
        <p:nvPicPr>
          <p:cNvPr id="21" name="Image 6" descr="preencoded.png"/>
          <p:cNvPicPr>
            <a:picLocks noChangeAspect="1"/>
          </p:cNvPicPr>
          <p:nvPr/>
        </p:nvPicPr>
        <p:blipFill>
          <a:blip r:embed="rId4"/>
          <a:stretch>
            <a:fillRect/>
          </a:stretch>
        </p:blipFill>
        <p:spPr>
          <a:xfrm>
            <a:off x="6675120" y="3273552"/>
            <a:ext cx="237744" cy="237744"/>
          </a:xfrm>
          <a:prstGeom prst="rect">
            <a:avLst/>
          </a:prstGeom>
        </p:spPr>
      </p:pic>
      <p:sp>
        <p:nvSpPr>
          <p:cNvPr id="22" name="Text 13"/>
          <p:cNvSpPr/>
          <p:nvPr/>
        </p:nvSpPr>
        <p:spPr>
          <a:xfrm>
            <a:off x="7040880" y="3209544"/>
            <a:ext cx="4434840" cy="640080"/>
          </a:xfrm>
          <a:prstGeom prst="rect">
            <a:avLst/>
          </a:prstGeom>
          <a:noFill/>
          <a:ln/>
        </p:spPr>
        <p:txBody>
          <a:bodyPr wrap="square" lIns="0" tIns="0" rIns="0" bIns="0" rtlCol="0" anchor="t"/>
          <a:lstStyle/>
          <a:p>
            <a:pPr marL="0" indent="0">
              <a:lnSpc>
                <a:spcPct val="102000"/>
              </a:lnSpc>
              <a:buNone/>
            </a:pPr>
            <a:r>
              <a:rPr lang="en-US" sz="1180" b="1" dirty="0">
                <a:solidFill>
                  <a:srgbClr val="2B2422"/>
                </a:solidFill>
                <a:latin typeface="Calibri" pitchFamily="34" charset="0"/>
                <a:ea typeface="Calibri" pitchFamily="34" charset="-122"/>
                <a:cs typeface="Calibri" pitchFamily="34" charset="-120"/>
              </a:rPr>
              <a:t>100% PRD traceability — </a:t>
            </a:r>
            <a:r>
              <a:rPr lang="en-US" sz="1180" dirty="0">
                <a:solidFill>
                  <a:srgbClr val="8A7E76"/>
                </a:solidFill>
                <a:latin typeface="Calibri" pitchFamily="34" charset="0"/>
                <a:ea typeface="Calibri" pitchFamily="34" charset="-122"/>
                <a:cs typeface="Calibri" pitchFamily="34" charset="-120"/>
              </a:rPr>
              <a:t>every shipped feature maps to a documented requirement.</a:t>
            </a:r>
            <a:endParaRPr lang="en-US" sz="1180" dirty="0"/>
          </a:p>
        </p:txBody>
      </p:sp>
      <p:pic>
        <p:nvPicPr>
          <p:cNvPr id="23" name="Image 7" descr="preencoded.png"/>
          <p:cNvPicPr>
            <a:picLocks noChangeAspect="1"/>
          </p:cNvPicPr>
          <p:nvPr/>
        </p:nvPicPr>
        <p:blipFill>
          <a:blip r:embed="rId4"/>
          <a:stretch>
            <a:fillRect/>
          </a:stretch>
        </p:blipFill>
        <p:spPr>
          <a:xfrm>
            <a:off x="6675120" y="3986784"/>
            <a:ext cx="237744" cy="237744"/>
          </a:xfrm>
          <a:prstGeom prst="rect">
            <a:avLst/>
          </a:prstGeom>
        </p:spPr>
      </p:pic>
      <p:sp>
        <p:nvSpPr>
          <p:cNvPr id="24" name="Text 14"/>
          <p:cNvSpPr/>
          <p:nvPr/>
        </p:nvSpPr>
        <p:spPr>
          <a:xfrm>
            <a:off x="7040880" y="3922776"/>
            <a:ext cx="4434840" cy="640080"/>
          </a:xfrm>
          <a:prstGeom prst="rect">
            <a:avLst/>
          </a:prstGeom>
          <a:noFill/>
          <a:ln/>
        </p:spPr>
        <p:txBody>
          <a:bodyPr wrap="square" lIns="0" tIns="0" rIns="0" bIns="0" rtlCol="0" anchor="t"/>
          <a:lstStyle/>
          <a:p>
            <a:pPr marL="0" indent="0">
              <a:lnSpc>
                <a:spcPct val="102000"/>
              </a:lnSpc>
              <a:buNone/>
            </a:pPr>
            <a:r>
              <a:rPr lang="en-US" sz="1180" b="1" dirty="0">
                <a:solidFill>
                  <a:srgbClr val="2B2422"/>
                </a:solidFill>
                <a:latin typeface="Calibri" pitchFamily="34" charset="0"/>
                <a:ea typeface="Calibri" pitchFamily="34" charset="-122"/>
                <a:cs typeface="Calibri" pitchFamily="34" charset="-120"/>
              </a:rPr>
              <a:t>Edge-case validation — </a:t>
            </a:r>
            <a:r>
              <a:rPr lang="en-US" sz="1180" dirty="0">
                <a:solidFill>
                  <a:srgbClr val="8A7E76"/>
                </a:solidFill>
                <a:latin typeface="Calibri" pitchFamily="34" charset="0"/>
                <a:ea typeface="Calibri" pitchFamily="34" charset="-122"/>
                <a:cs typeface="Calibri" pitchFamily="34" charset="-120"/>
              </a:rPr>
              <a:t>the UI blocks invalid input and impossible discounts.</a:t>
            </a:r>
            <a:endParaRPr lang="en-US" sz="1180" dirty="0"/>
          </a:p>
        </p:txBody>
      </p:sp>
      <p:pic>
        <p:nvPicPr>
          <p:cNvPr id="25" name="Image 8" descr="preencoded.png"/>
          <p:cNvPicPr>
            <a:picLocks noChangeAspect="1"/>
          </p:cNvPicPr>
          <p:nvPr/>
        </p:nvPicPr>
        <p:blipFill>
          <a:blip r:embed="rId4"/>
          <a:stretch>
            <a:fillRect/>
          </a:stretch>
        </p:blipFill>
        <p:spPr>
          <a:xfrm>
            <a:off x="6675120" y="4700016"/>
            <a:ext cx="237744" cy="237744"/>
          </a:xfrm>
          <a:prstGeom prst="rect">
            <a:avLst/>
          </a:prstGeom>
        </p:spPr>
      </p:pic>
      <p:sp>
        <p:nvSpPr>
          <p:cNvPr id="26" name="Text 15"/>
          <p:cNvSpPr/>
          <p:nvPr/>
        </p:nvSpPr>
        <p:spPr>
          <a:xfrm>
            <a:off x="7040880" y="4636008"/>
            <a:ext cx="4434840" cy="640080"/>
          </a:xfrm>
          <a:prstGeom prst="rect">
            <a:avLst/>
          </a:prstGeom>
          <a:noFill/>
          <a:ln/>
        </p:spPr>
        <p:txBody>
          <a:bodyPr wrap="square" lIns="0" tIns="0" rIns="0" bIns="0" rtlCol="0" anchor="t"/>
          <a:lstStyle/>
          <a:p>
            <a:pPr marL="0" indent="0">
              <a:lnSpc>
                <a:spcPct val="102000"/>
              </a:lnSpc>
              <a:buNone/>
            </a:pPr>
            <a:r>
              <a:rPr lang="en-US" sz="1180" b="1" dirty="0">
                <a:solidFill>
                  <a:srgbClr val="2B2422"/>
                </a:solidFill>
                <a:latin typeface="Calibri" pitchFamily="34" charset="0"/>
                <a:ea typeface="Calibri" pitchFamily="34" charset="-122"/>
                <a:cs typeface="Calibri" pitchFamily="34" charset="-120"/>
              </a:rPr>
              <a:t>Validated economics — </a:t>
            </a:r>
            <a:r>
              <a:rPr lang="en-US" sz="1180" dirty="0">
                <a:solidFill>
                  <a:srgbClr val="8A7E76"/>
                </a:solidFill>
                <a:latin typeface="Calibri" pitchFamily="34" charset="0"/>
                <a:ea typeface="Calibri" pitchFamily="34" charset="-122"/>
                <a:cs typeface="Calibri" pitchFamily="34" charset="-120"/>
              </a:rPr>
              <a:t>the pricing engine aligns with the GST and margin models.</a:t>
            </a:r>
            <a:endParaRPr lang="en-US" sz="1180" dirty="0"/>
          </a:p>
        </p:txBody>
      </p:sp>
      <p:pic>
        <p:nvPicPr>
          <p:cNvPr id="27" name="Image 9" descr="preencoded.png"/>
          <p:cNvPicPr>
            <a:picLocks noChangeAspect="1"/>
          </p:cNvPicPr>
          <p:nvPr/>
        </p:nvPicPr>
        <p:blipFill>
          <a:blip r:embed="rId4"/>
          <a:stretch>
            <a:fillRect/>
          </a:stretch>
        </p:blipFill>
        <p:spPr>
          <a:xfrm>
            <a:off x="6675120" y="5413248"/>
            <a:ext cx="237744" cy="237744"/>
          </a:xfrm>
          <a:prstGeom prst="rect">
            <a:avLst/>
          </a:prstGeom>
        </p:spPr>
      </p:pic>
      <p:sp>
        <p:nvSpPr>
          <p:cNvPr id="28" name="Text 16"/>
          <p:cNvSpPr/>
          <p:nvPr/>
        </p:nvSpPr>
        <p:spPr>
          <a:xfrm>
            <a:off x="7040880" y="5349240"/>
            <a:ext cx="4434840" cy="640080"/>
          </a:xfrm>
          <a:prstGeom prst="rect">
            <a:avLst/>
          </a:prstGeom>
          <a:noFill/>
          <a:ln/>
        </p:spPr>
        <p:txBody>
          <a:bodyPr wrap="square" lIns="0" tIns="0" rIns="0" bIns="0" rtlCol="0" anchor="t"/>
          <a:lstStyle/>
          <a:p>
            <a:pPr marL="0" indent="0">
              <a:lnSpc>
                <a:spcPct val="102000"/>
              </a:lnSpc>
              <a:buNone/>
            </a:pPr>
            <a:r>
              <a:rPr lang="en-US" sz="1180" b="1" dirty="0">
                <a:solidFill>
                  <a:srgbClr val="2B2422"/>
                </a:solidFill>
                <a:latin typeface="Calibri" pitchFamily="34" charset="0"/>
                <a:ea typeface="Calibri" pitchFamily="34" charset="-122"/>
                <a:cs typeface="Calibri" pitchFamily="34" charset="-120"/>
              </a:rPr>
              <a:t>End-to-end verified — </a:t>
            </a:r>
            <a:r>
              <a:rPr lang="en-US" sz="1180" dirty="0">
                <a:solidFill>
                  <a:srgbClr val="8A7E76"/>
                </a:solidFill>
                <a:latin typeface="Calibri" pitchFamily="34" charset="0"/>
                <a:ea typeface="Calibri" pitchFamily="34" charset="-122"/>
                <a:cs typeface="Calibri" pitchFamily="34" charset="-120"/>
              </a:rPr>
              <a:t>the full lifecycle works — landing page to owner dashboard.</a:t>
            </a:r>
            <a:endParaRPr lang="en-US" sz="1180" dirty="0"/>
          </a:p>
        </p:txBody>
      </p:sp>
      <p:sp>
        <p:nvSpPr>
          <p:cNvPr id="29" name="Text 17"/>
          <p:cNvSpPr/>
          <p:nvPr/>
        </p:nvSpPr>
        <p:spPr>
          <a:xfrm>
            <a:off x="502920" y="6473952"/>
            <a:ext cx="5486400" cy="274320"/>
          </a:xfrm>
          <a:prstGeom prst="rect">
            <a:avLst/>
          </a:prstGeom>
          <a:noFill/>
          <a:ln/>
        </p:spPr>
        <p:txBody>
          <a:bodyPr wrap="square" lIns="0" tIns="0" rIns="0" bIns="0" rtlCol="0" anchor="ctr"/>
          <a:lstStyle/>
          <a:p>
            <a:pPr marL="0" indent="0" algn="l">
              <a:buNone/>
            </a:pPr>
            <a:r>
              <a:rPr lang="en-US" sz="900" dirty="0">
                <a:solidFill>
                  <a:srgbClr val="8A7E76"/>
                </a:solidFill>
                <a:latin typeface="Calibri" pitchFamily="34" charset="0"/>
                <a:ea typeface="Calibri" pitchFamily="34" charset="-122"/>
                <a:cs typeface="Calibri" pitchFamily="34" charset="-120"/>
              </a:rPr>
              <a:t>SliceMatic · PizzaFlow MVP Demo</a:t>
            </a:r>
            <a:endParaRPr lang="en-US" sz="900" dirty="0"/>
          </a:p>
        </p:txBody>
      </p:sp>
      <p:sp>
        <p:nvSpPr>
          <p:cNvPr id="30" name="Text 18"/>
          <p:cNvSpPr/>
          <p:nvPr/>
        </p:nvSpPr>
        <p:spPr>
          <a:xfrm>
            <a:off x="11274552" y="6473952"/>
            <a:ext cx="411480" cy="274320"/>
          </a:xfrm>
          <a:prstGeom prst="rect">
            <a:avLst/>
          </a:prstGeom>
          <a:noFill/>
          <a:ln/>
        </p:spPr>
        <p:txBody>
          <a:bodyPr wrap="square" lIns="0" tIns="0" rIns="0" bIns="0" rtlCol="0" anchor="ctr"/>
          <a:lstStyle/>
          <a:p>
            <a:pPr marL="0" indent="0" algn="r">
              <a:buNone/>
            </a:pPr>
            <a:r>
              <a:rPr lang="en-US" sz="900" dirty="0">
                <a:solidFill>
                  <a:srgbClr val="8A7E76"/>
                </a:solidFill>
                <a:latin typeface="Calibri" pitchFamily="34" charset="0"/>
                <a:ea typeface="Calibri" pitchFamily="34" charset="-122"/>
                <a:cs typeface="Calibri" pitchFamily="34" charset="-120"/>
              </a:rPr>
              <a:t>18</a:t>
            </a:r>
            <a:endParaRPr lang="en-US" sz="9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BF6EF"/>
        </a:solidFill>
        <a:effectLst/>
      </p:bgPr>
    </p:bg>
    <p:spTree>
      <p:nvGrpSpPr>
        <p:cNvPr id="1" name=""/>
        <p:cNvGrpSpPr/>
        <p:nvPr/>
      </p:nvGrpSpPr>
      <p:grpSpPr>
        <a:xfrm>
          <a:off x="0" y="0"/>
          <a:ext cx="0" cy="0"/>
          <a:chOff x="0" y="0"/>
          <a:chExt cx="0" cy="0"/>
        </a:xfrm>
      </p:grpSpPr>
      <p:sp>
        <p:nvSpPr>
          <p:cNvPr id="2" name="Text 0"/>
          <p:cNvSpPr/>
          <p:nvPr/>
        </p:nvSpPr>
        <p:spPr>
          <a:xfrm>
            <a:off x="502920" y="457200"/>
            <a:ext cx="8229600" cy="274320"/>
          </a:xfrm>
          <a:prstGeom prst="rect">
            <a:avLst/>
          </a:prstGeom>
          <a:noFill/>
          <a:ln/>
        </p:spPr>
        <p:txBody>
          <a:bodyPr wrap="square" lIns="0" tIns="0" rIns="0" bIns="0" rtlCol="0" anchor="ctr"/>
          <a:lstStyle/>
          <a:p>
            <a:pPr marL="0" indent="0">
              <a:buNone/>
            </a:pPr>
            <a:r>
              <a:rPr lang="en-US" sz="1200" b="1" kern="0" spc="300" dirty="0">
                <a:solidFill>
                  <a:srgbClr val="C2872A"/>
                </a:solidFill>
                <a:latin typeface="Calibri" pitchFamily="34" charset="0"/>
                <a:ea typeface="Calibri" pitchFamily="34" charset="-122"/>
                <a:cs typeface="Calibri" pitchFamily="34" charset="-120"/>
              </a:rPr>
              <a:t>ROADMAP</a:t>
            </a:r>
            <a:endParaRPr lang="en-US" sz="1200" dirty="0"/>
          </a:p>
        </p:txBody>
      </p:sp>
      <p:sp>
        <p:nvSpPr>
          <p:cNvPr id="3" name="Text 1"/>
          <p:cNvSpPr/>
          <p:nvPr/>
        </p:nvSpPr>
        <p:spPr>
          <a:xfrm>
            <a:off x="475488" y="749808"/>
            <a:ext cx="10515600" cy="685800"/>
          </a:xfrm>
          <a:prstGeom prst="rect">
            <a:avLst/>
          </a:prstGeom>
          <a:noFill/>
          <a:ln/>
        </p:spPr>
        <p:txBody>
          <a:bodyPr wrap="square" lIns="0" tIns="0" rIns="0" bIns="0" rtlCol="0" anchor="ctr"/>
          <a:lstStyle/>
          <a:p>
            <a:pPr marL="0" indent="0">
              <a:buNone/>
            </a:pPr>
            <a:r>
              <a:rPr lang="en-US" sz="3300" b="1" dirty="0">
                <a:solidFill>
                  <a:srgbClr val="2B2422"/>
                </a:solidFill>
                <a:latin typeface="Cambria" pitchFamily="34" charset="0"/>
                <a:ea typeface="Cambria" pitchFamily="34" charset="-122"/>
                <a:cs typeface="Cambria" pitchFamily="34" charset="-120"/>
              </a:rPr>
              <a:t>What's next — Stage 3</a:t>
            </a:r>
            <a:endParaRPr lang="en-US" sz="3300" dirty="0"/>
          </a:p>
        </p:txBody>
      </p:sp>
      <p:sp>
        <p:nvSpPr>
          <p:cNvPr id="4" name="Text 2"/>
          <p:cNvSpPr/>
          <p:nvPr/>
        </p:nvSpPr>
        <p:spPr>
          <a:xfrm>
            <a:off x="502920" y="1417320"/>
            <a:ext cx="11155680" cy="457200"/>
          </a:xfrm>
          <a:prstGeom prst="rect">
            <a:avLst/>
          </a:prstGeom>
          <a:noFill/>
          <a:ln/>
        </p:spPr>
        <p:txBody>
          <a:bodyPr wrap="square" lIns="0" tIns="0" rIns="0" bIns="0" rtlCol="0" anchor="ctr"/>
          <a:lstStyle/>
          <a:p>
            <a:pPr marL="0" indent="0">
              <a:buNone/>
            </a:pPr>
            <a:r>
              <a:rPr lang="en-US" sz="1350" dirty="0">
                <a:solidFill>
                  <a:srgbClr val="2B2422"/>
                </a:solidFill>
                <a:latin typeface="Calibri" pitchFamily="34" charset="0"/>
                <a:ea typeface="Calibri" pitchFamily="34" charset="-122"/>
                <a:cs typeface="Calibri" pitchFamily="34" charset="-120"/>
              </a:rPr>
              <a:t>The MVP's structured log is the foundation everything next is built on.</a:t>
            </a:r>
            <a:endParaRPr lang="en-US" sz="1350" dirty="0"/>
          </a:p>
        </p:txBody>
      </p:sp>
      <p:sp>
        <p:nvSpPr>
          <p:cNvPr id="5" name="Shape 3"/>
          <p:cNvSpPr/>
          <p:nvPr/>
        </p:nvSpPr>
        <p:spPr>
          <a:xfrm>
            <a:off x="548640" y="2240280"/>
            <a:ext cx="3611880" cy="3246120"/>
          </a:xfrm>
          <a:prstGeom prst="roundRect">
            <a:avLst>
              <a:gd name="adj" fmla="val 2817"/>
            </a:avLst>
          </a:prstGeom>
          <a:solidFill>
            <a:srgbClr val="FFFFFF"/>
          </a:solidFill>
          <a:ln w="12700">
            <a:solidFill>
              <a:srgbClr val="E7DCCD"/>
            </a:solidFill>
            <a:prstDash val="solid"/>
          </a:ln>
          <a:effectLst>
            <a:outerShdw blurRad="88900" dist="38100" dir="5400000" algn="bl" rotWithShape="0">
              <a:srgbClr val="000000">
                <a:alpha val="10000"/>
              </a:srgbClr>
            </a:outerShdw>
          </a:effectLst>
        </p:spPr>
        <p:txBody>
          <a:bodyPr/>
          <a:lstStyle/>
          <a:p>
            <a:endParaRPr lang="en-IN"/>
          </a:p>
        </p:txBody>
      </p:sp>
      <p:sp>
        <p:nvSpPr>
          <p:cNvPr id="6" name="Shape 4"/>
          <p:cNvSpPr/>
          <p:nvPr/>
        </p:nvSpPr>
        <p:spPr>
          <a:xfrm>
            <a:off x="841248" y="2532888"/>
            <a:ext cx="713232" cy="713232"/>
          </a:xfrm>
          <a:prstGeom prst="ellipse">
            <a:avLst/>
          </a:prstGeom>
          <a:solidFill>
            <a:srgbClr val="26201D"/>
          </a:solidFill>
          <a:ln/>
        </p:spPr>
        <p:txBody>
          <a:bodyPr/>
          <a:lstStyle/>
          <a:p>
            <a:endParaRPr lang="en-IN"/>
          </a:p>
        </p:txBody>
      </p:sp>
      <p:pic>
        <p:nvPicPr>
          <p:cNvPr id="7" name="Image 0" descr="preencoded.png"/>
          <p:cNvPicPr>
            <a:picLocks noChangeAspect="1"/>
          </p:cNvPicPr>
          <p:nvPr/>
        </p:nvPicPr>
        <p:blipFill>
          <a:blip r:embed="rId3"/>
          <a:stretch>
            <a:fillRect/>
          </a:stretch>
        </p:blipFill>
        <p:spPr>
          <a:xfrm>
            <a:off x="1024128" y="2715768"/>
            <a:ext cx="347472" cy="347472"/>
          </a:xfrm>
          <a:prstGeom prst="rect">
            <a:avLst/>
          </a:prstGeom>
        </p:spPr>
      </p:pic>
      <p:sp>
        <p:nvSpPr>
          <p:cNvPr id="8" name="Text 5"/>
          <p:cNvSpPr/>
          <p:nvPr/>
        </p:nvSpPr>
        <p:spPr>
          <a:xfrm>
            <a:off x="1691640" y="2606040"/>
            <a:ext cx="2331720" cy="228600"/>
          </a:xfrm>
          <a:prstGeom prst="rect">
            <a:avLst/>
          </a:prstGeom>
          <a:noFill/>
          <a:ln/>
        </p:spPr>
        <p:txBody>
          <a:bodyPr wrap="square" lIns="0" tIns="0" rIns="0" bIns="0" rtlCol="0" anchor="ctr"/>
          <a:lstStyle/>
          <a:p>
            <a:pPr marL="0" indent="0">
              <a:buNone/>
            </a:pPr>
            <a:r>
              <a:rPr lang="en-US" sz="950" b="1" kern="0" spc="200" dirty="0">
                <a:solidFill>
                  <a:srgbClr val="C2872A"/>
                </a:solidFill>
                <a:latin typeface="Calibri" pitchFamily="34" charset="0"/>
                <a:ea typeface="Calibri" pitchFamily="34" charset="-122"/>
                <a:cs typeface="Calibri" pitchFamily="34" charset="-120"/>
              </a:rPr>
              <a:t>STAGE 3</a:t>
            </a:r>
            <a:endParaRPr lang="en-US" sz="950" dirty="0"/>
          </a:p>
        </p:txBody>
      </p:sp>
      <p:sp>
        <p:nvSpPr>
          <p:cNvPr id="9" name="Text 6"/>
          <p:cNvSpPr/>
          <p:nvPr/>
        </p:nvSpPr>
        <p:spPr>
          <a:xfrm>
            <a:off x="1691640" y="2807208"/>
            <a:ext cx="2331720" cy="548640"/>
          </a:xfrm>
          <a:prstGeom prst="rect">
            <a:avLst/>
          </a:prstGeom>
          <a:noFill/>
          <a:ln/>
        </p:spPr>
        <p:txBody>
          <a:bodyPr wrap="square" lIns="0" tIns="0" rIns="0" bIns="0" rtlCol="0" anchor="t"/>
          <a:lstStyle/>
          <a:p>
            <a:pPr marL="0" indent="0">
              <a:buNone/>
            </a:pPr>
            <a:r>
              <a:rPr lang="en-US" sz="1450" b="1" dirty="0">
                <a:solidFill>
                  <a:srgbClr val="2B2422"/>
                </a:solidFill>
                <a:latin typeface="Calibri" pitchFamily="34" charset="0"/>
                <a:ea typeface="Calibri" pitchFamily="34" charset="-122"/>
                <a:cs typeface="Calibri" pitchFamily="34" charset="-120"/>
              </a:rPr>
              <a:t>Full Stack Platform</a:t>
            </a:r>
            <a:endParaRPr lang="en-US" sz="1450" dirty="0"/>
          </a:p>
        </p:txBody>
      </p:sp>
      <p:sp>
        <p:nvSpPr>
          <p:cNvPr id="10" name="Text 7"/>
          <p:cNvSpPr/>
          <p:nvPr/>
        </p:nvSpPr>
        <p:spPr>
          <a:xfrm>
            <a:off x="914400" y="3355848"/>
            <a:ext cx="2926080" cy="1691640"/>
          </a:xfrm>
          <a:prstGeom prst="rect">
            <a:avLst/>
          </a:prstGeom>
          <a:noFill/>
          <a:ln/>
        </p:spPr>
        <p:txBody>
          <a:bodyPr wrap="square" lIns="0" tIns="0" rIns="0" bIns="0" rtlCol="0" anchor="ctr"/>
          <a:lstStyle/>
          <a:p>
            <a:pPr marL="342900" indent="-342900">
              <a:spcAft>
                <a:spcPts val="900"/>
              </a:spcAft>
              <a:buSzPct val="100000"/>
              <a:buChar char="•"/>
            </a:pPr>
            <a:r>
              <a:rPr lang="en-US" sz="1200" dirty="0">
                <a:solidFill>
                  <a:srgbClr val="5C524C"/>
                </a:solidFill>
                <a:latin typeface="Calibri" pitchFamily="34" charset="0"/>
                <a:ea typeface="Calibri" pitchFamily="34" charset="-122"/>
                <a:cs typeface="Calibri" pitchFamily="34" charset="-120"/>
              </a:rPr>
              <a:t>Web UI (next.js) replaces the CLI flow</a:t>
            </a:r>
            <a:endParaRPr lang="en-US" sz="1200" dirty="0"/>
          </a:p>
          <a:p>
            <a:pPr marL="342900" indent="-342900">
              <a:spcAft>
                <a:spcPts val="900"/>
              </a:spcAft>
              <a:buSzPct val="100000"/>
              <a:buChar char="•"/>
            </a:pPr>
            <a:r>
              <a:rPr lang="en-US" sz="1200" dirty="0">
                <a:solidFill>
                  <a:srgbClr val="5C524C"/>
                </a:solidFill>
                <a:latin typeface="Calibri" pitchFamily="34" charset="0"/>
                <a:ea typeface="Calibri" pitchFamily="34" charset="-122"/>
                <a:cs typeface="Calibri" pitchFamily="34" charset="-120"/>
              </a:rPr>
              <a:t>Supabase Postgres + Auth</a:t>
            </a:r>
            <a:endParaRPr lang="en-US" sz="1200" dirty="0"/>
          </a:p>
          <a:p>
            <a:pPr marL="342900" indent="-342900">
              <a:spcAft>
                <a:spcPts val="900"/>
              </a:spcAft>
              <a:buSzPct val="100000"/>
              <a:buChar char="•"/>
            </a:pPr>
            <a:r>
              <a:rPr lang="en-US" sz="1200" dirty="0">
                <a:solidFill>
                  <a:srgbClr val="5C524C"/>
                </a:solidFill>
                <a:latin typeface="Calibri" pitchFamily="34" charset="0"/>
                <a:ea typeface="Calibri" pitchFamily="34" charset="-122"/>
                <a:cs typeface="Calibri" pitchFamily="34" charset="-120"/>
              </a:rPr>
              <a:t>Concurrency-safe writes + managed backups</a:t>
            </a:r>
          </a:p>
          <a:p>
            <a:pPr marL="342900" indent="-342900">
              <a:spcAft>
                <a:spcPts val="900"/>
              </a:spcAft>
              <a:buSzPct val="100000"/>
              <a:buChar char="•"/>
            </a:pPr>
            <a:r>
              <a:rPr lang="en-US" sz="1200" dirty="0">
                <a:solidFill>
                  <a:srgbClr val="5C524C"/>
                </a:solidFill>
                <a:latin typeface="Calibri" pitchFamily="34" charset="0"/>
                <a:ea typeface="Calibri" pitchFamily="34" charset="-122"/>
                <a:cs typeface="Calibri" pitchFamily="34" charset="-120"/>
              </a:rPr>
              <a:t>Deployment on Versel and Railway</a:t>
            </a:r>
          </a:p>
          <a:p>
            <a:pPr marL="342900" indent="-342900">
              <a:spcAft>
                <a:spcPts val="900"/>
              </a:spcAft>
              <a:buSzPct val="100000"/>
              <a:buChar char="•"/>
            </a:pPr>
            <a:r>
              <a:rPr lang="en-US" sz="1200" dirty="0">
                <a:solidFill>
                  <a:srgbClr val="5C524C"/>
                </a:solidFill>
                <a:latin typeface="Calibri" pitchFamily="34" charset="0"/>
                <a:ea typeface="Calibri" pitchFamily="34" charset="-122"/>
                <a:cs typeface="Calibri" pitchFamily="34" charset="-120"/>
              </a:rPr>
              <a:t>Tables: Users, Roles, Orders, Messages, Sessions</a:t>
            </a:r>
            <a:endParaRPr lang="en-US" sz="1200" dirty="0"/>
          </a:p>
        </p:txBody>
      </p:sp>
      <p:sp>
        <p:nvSpPr>
          <p:cNvPr id="11" name="Shape 8"/>
          <p:cNvSpPr/>
          <p:nvPr/>
        </p:nvSpPr>
        <p:spPr>
          <a:xfrm>
            <a:off x="4379976" y="2240280"/>
            <a:ext cx="3611880" cy="3246120"/>
          </a:xfrm>
          <a:prstGeom prst="roundRect">
            <a:avLst>
              <a:gd name="adj" fmla="val 2817"/>
            </a:avLst>
          </a:prstGeom>
          <a:solidFill>
            <a:srgbClr val="FFFFFF"/>
          </a:solidFill>
          <a:ln w="12700">
            <a:solidFill>
              <a:srgbClr val="E7DCCD"/>
            </a:solidFill>
            <a:prstDash val="solid"/>
          </a:ln>
          <a:effectLst>
            <a:outerShdw blurRad="88900" dist="38100" dir="5400000" algn="bl" rotWithShape="0">
              <a:srgbClr val="000000">
                <a:alpha val="10000"/>
              </a:srgbClr>
            </a:outerShdw>
          </a:effectLst>
        </p:spPr>
        <p:txBody>
          <a:bodyPr/>
          <a:lstStyle/>
          <a:p>
            <a:endParaRPr lang="en-IN"/>
          </a:p>
        </p:txBody>
      </p:sp>
      <p:sp>
        <p:nvSpPr>
          <p:cNvPr id="12" name="Shape 9"/>
          <p:cNvSpPr/>
          <p:nvPr/>
        </p:nvSpPr>
        <p:spPr>
          <a:xfrm>
            <a:off x="4672584" y="2532888"/>
            <a:ext cx="713232" cy="713232"/>
          </a:xfrm>
          <a:prstGeom prst="ellipse">
            <a:avLst/>
          </a:prstGeom>
          <a:solidFill>
            <a:srgbClr val="26201D"/>
          </a:solidFill>
          <a:ln/>
        </p:spPr>
        <p:txBody>
          <a:bodyPr/>
          <a:lstStyle/>
          <a:p>
            <a:endParaRPr lang="en-IN"/>
          </a:p>
        </p:txBody>
      </p:sp>
      <p:pic>
        <p:nvPicPr>
          <p:cNvPr id="13" name="Image 1" descr="preencoded.png"/>
          <p:cNvPicPr>
            <a:picLocks noChangeAspect="1"/>
          </p:cNvPicPr>
          <p:nvPr/>
        </p:nvPicPr>
        <p:blipFill>
          <a:blip r:embed="rId4"/>
          <a:stretch>
            <a:fillRect/>
          </a:stretch>
        </p:blipFill>
        <p:spPr>
          <a:xfrm>
            <a:off x="4855464" y="2715768"/>
            <a:ext cx="347472" cy="347472"/>
          </a:xfrm>
          <a:prstGeom prst="rect">
            <a:avLst/>
          </a:prstGeom>
        </p:spPr>
      </p:pic>
      <p:sp>
        <p:nvSpPr>
          <p:cNvPr id="14" name="Text 10"/>
          <p:cNvSpPr/>
          <p:nvPr/>
        </p:nvSpPr>
        <p:spPr>
          <a:xfrm>
            <a:off x="5522976" y="2606040"/>
            <a:ext cx="2331720" cy="228600"/>
          </a:xfrm>
          <a:prstGeom prst="rect">
            <a:avLst/>
          </a:prstGeom>
          <a:noFill/>
          <a:ln/>
        </p:spPr>
        <p:txBody>
          <a:bodyPr wrap="square" lIns="0" tIns="0" rIns="0" bIns="0" rtlCol="0" anchor="ctr"/>
          <a:lstStyle/>
          <a:p>
            <a:pPr marL="0" indent="0">
              <a:buNone/>
            </a:pPr>
            <a:r>
              <a:rPr lang="en-US" sz="950" b="1" kern="0" spc="200" dirty="0">
                <a:solidFill>
                  <a:srgbClr val="C2872A"/>
                </a:solidFill>
                <a:latin typeface="Calibri" pitchFamily="34" charset="0"/>
                <a:ea typeface="Calibri" pitchFamily="34" charset="-122"/>
                <a:cs typeface="Calibri" pitchFamily="34" charset="-120"/>
              </a:rPr>
              <a:t>STAGE 3</a:t>
            </a:r>
            <a:endParaRPr lang="en-US" sz="950" dirty="0"/>
          </a:p>
        </p:txBody>
      </p:sp>
      <p:sp>
        <p:nvSpPr>
          <p:cNvPr id="15" name="Text 11"/>
          <p:cNvSpPr/>
          <p:nvPr/>
        </p:nvSpPr>
        <p:spPr>
          <a:xfrm>
            <a:off x="5522976" y="2807208"/>
            <a:ext cx="2331720" cy="548640"/>
          </a:xfrm>
          <a:prstGeom prst="rect">
            <a:avLst/>
          </a:prstGeom>
          <a:noFill/>
          <a:ln/>
        </p:spPr>
        <p:txBody>
          <a:bodyPr wrap="square" lIns="0" tIns="0" rIns="0" bIns="0" rtlCol="0" anchor="t"/>
          <a:lstStyle/>
          <a:p>
            <a:pPr marL="0" indent="0">
              <a:buNone/>
            </a:pPr>
            <a:r>
              <a:rPr lang="en-US" sz="1450" b="1" dirty="0">
                <a:solidFill>
                  <a:srgbClr val="2B2422"/>
                </a:solidFill>
                <a:latin typeface="Calibri" pitchFamily="34" charset="0"/>
                <a:ea typeface="Calibri" pitchFamily="34" charset="-122"/>
                <a:cs typeface="Calibri" pitchFamily="34" charset="-120"/>
              </a:rPr>
              <a:t>Conversational AI ordering</a:t>
            </a:r>
            <a:endParaRPr lang="en-US" sz="1450" dirty="0"/>
          </a:p>
        </p:txBody>
      </p:sp>
      <p:sp>
        <p:nvSpPr>
          <p:cNvPr id="16" name="Text 12"/>
          <p:cNvSpPr/>
          <p:nvPr/>
        </p:nvSpPr>
        <p:spPr>
          <a:xfrm>
            <a:off x="4722876" y="3429000"/>
            <a:ext cx="2926080" cy="1691640"/>
          </a:xfrm>
          <a:prstGeom prst="rect">
            <a:avLst/>
          </a:prstGeom>
          <a:noFill/>
          <a:ln/>
        </p:spPr>
        <p:txBody>
          <a:bodyPr wrap="square" lIns="0" tIns="0" rIns="0" bIns="0" rtlCol="0" anchor="ctr"/>
          <a:lstStyle/>
          <a:p>
            <a:pPr marL="342900" indent="-342900">
              <a:spcAft>
                <a:spcPts val="900"/>
              </a:spcAft>
              <a:buSzPct val="100000"/>
              <a:buChar char="•"/>
            </a:pPr>
            <a:r>
              <a:rPr lang="en-US" sz="1200" dirty="0">
                <a:solidFill>
                  <a:srgbClr val="5C524C"/>
                </a:solidFill>
                <a:latin typeface="Calibri" pitchFamily="34" charset="0"/>
                <a:ea typeface="Calibri" pitchFamily="34" charset="-122"/>
                <a:cs typeface="Calibri" pitchFamily="34" charset="-120"/>
              </a:rPr>
              <a:t>Natural-language orders via OpenRouter</a:t>
            </a:r>
            <a:endParaRPr lang="en-US" sz="1200" dirty="0"/>
          </a:p>
          <a:p>
            <a:pPr marL="342900" indent="-342900">
              <a:spcAft>
                <a:spcPts val="900"/>
              </a:spcAft>
              <a:buSzPct val="100000"/>
              <a:buChar char="•"/>
            </a:pPr>
            <a:r>
              <a:rPr lang="en-US" sz="1200" dirty="0">
                <a:solidFill>
                  <a:srgbClr val="5C524C"/>
                </a:solidFill>
                <a:latin typeface="Calibri" pitchFamily="34" charset="0"/>
                <a:ea typeface="Calibri" pitchFamily="34" charset="-122"/>
                <a:cs typeface="Calibri" pitchFamily="34" charset="-120"/>
              </a:rPr>
              <a:t>Menu-grounded extraction</a:t>
            </a:r>
            <a:endParaRPr lang="en-US" sz="1200" dirty="0"/>
          </a:p>
          <a:p>
            <a:pPr marL="342900" indent="-342900">
              <a:spcAft>
                <a:spcPts val="900"/>
              </a:spcAft>
              <a:buSzPct val="100000"/>
              <a:buChar char="•"/>
            </a:pPr>
            <a:r>
              <a:rPr lang="en-US" sz="1200" dirty="0">
                <a:solidFill>
                  <a:srgbClr val="5C524C"/>
                </a:solidFill>
                <a:latin typeface="Calibri" pitchFamily="34" charset="0"/>
                <a:ea typeface="Calibri" pitchFamily="34" charset="-122"/>
                <a:cs typeface="Calibri" pitchFamily="34" charset="-120"/>
              </a:rPr>
              <a:t>Pricing stays deterministic</a:t>
            </a:r>
          </a:p>
          <a:p>
            <a:pPr marL="342900" indent="-342900">
              <a:spcAft>
                <a:spcPts val="900"/>
              </a:spcAft>
              <a:buSzPct val="100000"/>
              <a:buChar char="•"/>
            </a:pPr>
            <a:r>
              <a:rPr lang="en-US" sz="1200" dirty="0">
                <a:solidFill>
                  <a:srgbClr val="5C524C"/>
                </a:solidFill>
                <a:latin typeface="Calibri" pitchFamily="34" charset="0"/>
                <a:ea typeface="Calibri" pitchFamily="34" charset="-122"/>
                <a:cs typeface="Calibri" pitchFamily="34" charset="-120"/>
              </a:rPr>
              <a:t>Input and Output Guardrails </a:t>
            </a:r>
          </a:p>
          <a:p>
            <a:pPr marL="342900" indent="-342900">
              <a:spcAft>
                <a:spcPts val="900"/>
              </a:spcAft>
              <a:buSzPct val="100000"/>
              <a:buChar char="•"/>
            </a:pPr>
            <a:r>
              <a:rPr lang="en-US" sz="1200" dirty="0">
                <a:solidFill>
                  <a:srgbClr val="5C524C"/>
                </a:solidFill>
                <a:latin typeface="Calibri" pitchFamily="34" charset="0"/>
                <a:ea typeface="Calibri" pitchFamily="34" charset="-122"/>
                <a:cs typeface="Calibri" pitchFamily="34" charset="-120"/>
              </a:rPr>
              <a:t>AI observability to make decisions on improvements</a:t>
            </a:r>
            <a:endParaRPr lang="en-US" sz="1200" dirty="0"/>
          </a:p>
        </p:txBody>
      </p:sp>
      <p:sp>
        <p:nvSpPr>
          <p:cNvPr id="17" name="Shape 13"/>
          <p:cNvSpPr/>
          <p:nvPr/>
        </p:nvSpPr>
        <p:spPr>
          <a:xfrm>
            <a:off x="8211312" y="2240280"/>
            <a:ext cx="3611880" cy="3246120"/>
          </a:xfrm>
          <a:prstGeom prst="roundRect">
            <a:avLst>
              <a:gd name="adj" fmla="val 2817"/>
            </a:avLst>
          </a:prstGeom>
          <a:solidFill>
            <a:srgbClr val="FFFFFF"/>
          </a:solidFill>
          <a:ln w="12700">
            <a:solidFill>
              <a:srgbClr val="E7DCCD"/>
            </a:solidFill>
            <a:prstDash val="solid"/>
          </a:ln>
          <a:effectLst>
            <a:outerShdw blurRad="88900" dist="38100" dir="5400000" algn="bl" rotWithShape="0">
              <a:srgbClr val="000000">
                <a:alpha val="10000"/>
              </a:srgbClr>
            </a:outerShdw>
          </a:effectLst>
        </p:spPr>
        <p:txBody>
          <a:bodyPr/>
          <a:lstStyle/>
          <a:p>
            <a:endParaRPr lang="en-IN"/>
          </a:p>
        </p:txBody>
      </p:sp>
      <p:sp>
        <p:nvSpPr>
          <p:cNvPr id="18" name="Shape 14"/>
          <p:cNvSpPr/>
          <p:nvPr/>
        </p:nvSpPr>
        <p:spPr>
          <a:xfrm>
            <a:off x="8503920" y="2532888"/>
            <a:ext cx="713232" cy="713232"/>
          </a:xfrm>
          <a:prstGeom prst="ellipse">
            <a:avLst/>
          </a:prstGeom>
          <a:solidFill>
            <a:srgbClr val="26201D"/>
          </a:solidFill>
          <a:ln/>
        </p:spPr>
        <p:txBody>
          <a:bodyPr/>
          <a:lstStyle/>
          <a:p>
            <a:endParaRPr lang="en-IN"/>
          </a:p>
        </p:txBody>
      </p:sp>
      <p:pic>
        <p:nvPicPr>
          <p:cNvPr id="19" name="Image 2" descr="preencoded.png"/>
          <p:cNvPicPr>
            <a:picLocks noChangeAspect="1"/>
          </p:cNvPicPr>
          <p:nvPr/>
        </p:nvPicPr>
        <p:blipFill>
          <a:blip r:embed="rId5"/>
          <a:stretch>
            <a:fillRect/>
          </a:stretch>
        </p:blipFill>
        <p:spPr>
          <a:xfrm>
            <a:off x="8686800" y="2715768"/>
            <a:ext cx="347472" cy="347472"/>
          </a:xfrm>
          <a:prstGeom prst="rect">
            <a:avLst/>
          </a:prstGeom>
        </p:spPr>
      </p:pic>
      <p:sp>
        <p:nvSpPr>
          <p:cNvPr id="20" name="Text 15"/>
          <p:cNvSpPr/>
          <p:nvPr/>
        </p:nvSpPr>
        <p:spPr>
          <a:xfrm>
            <a:off x="9354312" y="2606040"/>
            <a:ext cx="2331720" cy="228600"/>
          </a:xfrm>
          <a:prstGeom prst="rect">
            <a:avLst/>
          </a:prstGeom>
          <a:noFill/>
          <a:ln/>
        </p:spPr>
        <p:txBody>
          <a:bodyPr wrap="square" lIns="0" tIns="0" rIns="0" bIns="0" rtlCol="0" anchor="ctr"/>
          <a:lstStyle/>
          <a:p>
            <a:pPr marL="0" indent="0">
              <a:buNone/>
            </a:pPr>
            <a:r>
              <a:rPr lang="en-US" sz="950" b="1" kern="0" spc="200" dirty="0">
                <a:solidFill>
                  <a:srgbClr val="C2872A"/>
                </a:solidFill>
                <a:latin typeface="Calibri" pitchFamily="34" charset="0"/>
                <a:ea typeface="Calibri" pitchFamily="34" charset="-122"/>
                <a:cs typeface="Calibri" pitchFamily="34" charset="-120"/>
              </a:rPr>
              <a:t>STAGE 3</a:t>
            </a:r>
            <a:endParaRPr lang="en-US" sz="950" dirty="0"/>
          </a:p>
        </p:txBody>
      </p:sp>
      <p:sp>
        <p:nvSpPr>
          <p:cNvPr id="21" name="Text 16"/>
          <p:cNvSpPr/>
          <p:nvPr/>
        </p:nvSpPr>
        <p:spPr>
          <a:xfrm>
            <a:off x="9354312" y="2807208"/>
            <a:ext cx="2331720" cy="548640"/>
          </a:xfrm>
          <a:prstGeom prst="rect">
            <a:avLst/>
          </a:prstGeom>
          <a:noFill/>
          <a:ln/>
        </p:spPr>
        <p:txBody>
          <a:bodyPr wrap="square" lIns="0" tIns="0" rIns="0" bIns="0" rtlCol="0" anchor="t"/>
          <a:lstStyle/>
          <a:p>
            <a:pPr marL="0" indent="0">
              <a:buNone/>
            </a:pPr>
            <a:r>
              <a:rPr lang="en-US" sz="1450" b="1" dirty="0">
                <a:solidFill>
                  <a:srgbClr val="2B2422"/>
                </a:solidFill>
                <a:latin typeface="Calibri" pitchFamily="34" charset="0"/>
                <a:ea typeface="Calibri" pitchFamily="34" charset="-122"/>
                <a:cs typeface="Calibri" pitchFamily="34" charset="-120"/>
              </a:rPr>
              <a:t>Growth &amp; intelligence</a:t>
            </a:r>
            <a:endParaRPr lang="en-US" sz="1450" dirty="0"/>
          </a:p>
        </p:txBody>
      </p:sp>
      <p:sp>
        <p:nvSpPr>
          <p:cNvPr id="22" name="Text 17"/>
          <p:cNvSpPr/>
          <p:nvPr/>
        </p:nvSpPr>
        <p:spPr>
          <a:xfrm>
            <a:off x="8554212" y="3429000"/>
            <a:ext cx="2926080" cy="1691640"/>
          </a:xfrm>
          <a:prstGeom prst="rect">
            <a:avLst/>
          </a:prstGeom>
          <a:noFill/>
          <a:ln/>
        </p:spPr>
        <p:txBody>
          <a:bodyPr wrap="square" lIns="0" tIns="0" rIns="0" bIns="0" rtlCol="0" anchor="ctr"/>
          <a:lstStyle/>
          <a:p>
            <a:pPr marL="342900" indent="-342900">
              <a:spcAft>
                <a:spcPts val="900"/>
              </a:spcAft>
              <a:buSzPct val="100000"/>
              <a:buChar char="•"/>
            </a:pPr>
            <a:r>
              <a:rPr lang="en-US" sz="1200" dirty="0">
                <a:solidFill>
                  <a:srgbClr val="5C524C"/>
                </a:solidFill>
                <a:latin typeface="Calibri" pitchFamily="34" charset="0"/>
                <a:ea typeface="Calibri" pitchFamily="34" charset="-122"/>
                <a:cs typeface="Calibri" pitchFamily="34" charset="-120"/>
              </a:rPr>
              <a:t>Demand forecasting</a:t>
            </a:r>
          </a:p>
          <a:p>
            <a:pPr marL="342900" indent="-342900">
              <a:spcAft>
                <a:spcPts val="900"/>
              </a:spcAft>
              <a:buSzPct val="100000"/>
              <a:buChar char="•"/>
            </a:pPr>
            <a:r>
              <a:rPr lang="en-US" sz="1200" dirty="0">
                <a:solidFill>
                  <a:srgbClr val="5C524C"/>
                </a:solidFill>
                <a:latin typeface="Calibri" pitchFamily="34" charset="0"/>
                <a:ea typeface="Calibri" pitchFamily="34" charset="-122"/>
                <a:cs typeface="Calibri" pitchFamily="34" charset="-120"/>
              </a:rPr>
              <a:t>Recommendations during order</a:t>
            </a:r>
            <a:endParaRPr lang="en-US" sz="1200" dirty="0"/>
          </a:p>
          <a:p>
            <a:pPr marL="342900" indent="-342900">
              <a:spcAft>
                <a:spcPts val="900"/>
              </a:spcAft>
              <a:buSzPct val="100000"/>
              <a:buChar char="•"/>
            </a:pPr>
            <a:r>
              <a:rPr lang="en-US" sz="1200" dirty="0">
                <a:solidFill>
                  <a:srgbClr val="5C524C"/>
                </a:solidFill>
                <a:latin typeface="Calibri" pitchFamily="34" charset="0"/>
                <a:ea typeface="Calibri" pitchFamily="34" charset="-122"/>
                <a:cs typeface="Calibri" pitchFamily="34" charset="-120"/>
              </a:rPr>
              <a:t>Improve in Real time analytics for Admin</a:t>
            </a:r>
            <a:endParaRPr lang="en-US" sz="1200" dirty="0"/>
          </a:p>
          <a:p>
            <a:pPr marL="342900" indent="-342900">
              <a:spcAft>
                <a:spcPts val="900"/>
              </a:spcAft>
              <a:buSzPct val="100000"/>
              <a:buChar char="•"/>
            </a:pPr>
            <a:r>
              <a:rPr lang="en-US" sz="1200" dirty="0">
                <a:solidFill>
                  <a:srgbClr val="5C524C"/>
                </a:solidFill>
                <a:latin typeface="Calibri" pitchFamily="34" charset="0"/>
                <a:ea typeface="Calibri" pitchFamily="34" charset="-122"/>
                <a:cs typeface="Calibri" pitchFamily="34" charset="-120"/>
              </a:rPr>
              <a:t>Multi-persona support (User, Staff, Admin)</a:t>
            </a:r>
            <a:endParaRPr lang="en-US" sz="1200" dirty="0"/>
          </a:p>
        </p:txBody>
      </p:sp>
      <p:sp>
        <p:nvSpPr>
          <p:cNvPr id="23" name="Text 18"/>
          <p:cNvSpPr/>
          <p:nvPr/>
        </p:nvSpPr>
        <p:spPr>
          <a:xfrm>
            <a:off x="502920" y="6473952"/>
            <a:ext cx="5486400" cy="274320"/>
          </a:xfrm>
          <a:prstGeom prst="rect">
            <a:avLst/>
          </a:prstGeom>
          <a:noFill/>
          <a:ln/>
        </p:spPr>
        <p:txBody>
          <a:bodyPr wrap="square" lIns="0" tIns="0" rIns="0" bIns="0" rtlCol="0" anchor="ctr"/>
          <a:lstStyle/>
          <a:p>
            <a:pPr marL="0" indent="0" algn="l">
              <a:buNone/>
            </a:pPr>
            <a:r>
              <a:rPr lang="en-US" sz="900" dirty="0">
                <a:solidFill>
                  <a:srgbClr val="8A7E76"/>
                </a:solidFill>
                <a:latin typeface="Calibri" pitchFamily="34" charset="0"/>
                <a:ea typeface="Calibri" pitchFamily="34" charset="-122"/>
                <a:cs typeface="Calibri" pitchFamily="34" charset="-120"/>
              </a:rPr>
              <a:t>SliceMatic · PizzaFlow MVP Demo</a:t>
            </a:r>
            <a:endParaRPr lang="en-US" sz="900" dirty="0"/>
          </a:p>
        </p:txBody>
      </p:sp>
      <p:sp>
        <p:nvSpPr>
          <p:cNvPr id="24" name="Text 19"/>
          <p:cNvSpPr/>
          <p:nvPr/>
        </p:nvSpPr>
        <p:spPr>
          <a:xfrm>
            <a:off x="11274552" y="6473952"/>
            <a:ext cx="411480" cy="274320"/>
          </a:xfrm>
          <a:prstGeom prst="rect">
            <a:avLst/>
          </a:prstGeom>
          <a:noFill/>
          <a:ln/>
        </p:spPr>
        <p:txBody>
          <a:bodyPr wrap="square" lIns="0" tIns="0" rIns="0" bIns="0" rtlCol="0" anchor="ctr"/>
          <a:lstStyle/>
          <a:p>
            <a:pPr marL="0" indent="0" algn="r">
              <a:buNone/>
            </a:pPr>
            <a:r>
              <a:rPr lang="en-US" sz="900" dirty="0">
                <a:solidFill>
                  <a:srgbClr val="8A7E76"/>
                </a:solidFill>
                <a:latin typeface="Calibri" pitchFamily="34" charset="0"/>
                <a:ea typeface="Calibri" pitchFamily="34" charset="-122"/>
                <a:cs typeface="Calibri" pitchFamily="34" charset="-120"/>
              </a:rPr>
              <a:t>19</a:t>
            </a:r>
            <a:endParaRPr lang="en-US" sz="9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26201D"/>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alphaModFix amt="12000"/>
          </a:blip>
          <a:stretch>
            <a:fillRect/>
          </a:stretch>
        </p:blipFill>
        <p:spPr>
          <a:xfrm>
            <a:off x="8778240" y="2834640"/>
            <a:ext cx="4937760" cy="4937760"/>
          </a:xfrm>
          <a:prstGeom prst="rect">
            <a:avLst/>
          </a:prstGeom>
        </p:spPr>
      </p:pic>
      <p:sp>
        <p:nvSpPr>
          <p:cNvPr id="3" name="Shape 0"/>
          <p:cNvSpPr/>
          <p:nvPr/>
        </p:nvSpPr>
        <p:spPr>
          <a:xfrm>
            <a:off x="822960" y="1371600"/>
            <a:ext cx="841248" cy="841248"/>
          </a:xfrm>
          <a:prstGeom prst="ellipse">
            <a:avLst/>
          </a:prstGeom>
          <a:solidFill>
            <a:srgbClr val="C1352B"/>
          </a:solidFill>
          <a:ln/>
          <a:effectLst>
            <a:outerShdw blurRad="88900" dist="38100" dir="5400000" algn="bl" rotWithShape="0">
              <a:srgbClr val="000000">
                <a:alpha val="16000"/>
              </a:srgbClr>
            </a:outerShdw>
          </a:effectLst>
        </p:spPr>
        <p:txBody>
          <a:bodyPr/>
          <a:lstStyle/>
          <a:p>
            <a:endParaRPr lang="en-IN"/>
          </a:p>
        </p:txBody>
      </p:sp>
      <p:pic>
        <p:nvPicPr>
          <p:cNvPr id="4" name="Image 1" descr="preencoded.png"/>
          <p:cNvPicPr>
            <a:picLocks noChangeAspect="1"/>
          </p:cNvPicPr>
          <p:nvPr/>
        </p:nvPicPr>
        <p:blipFill>
          <a:blip r:embed="rId4"/>
          <a:stretch>
            <a:fillRect/>
          </a:stretch>
        </p:blipFill>
        <p:spPr>
          <a:xfrm>
            <a:off x="1024128" y="1572768"/>
            <a:ext cx="438912" cy="438912"/>
          </a:xfrm>
          <a:prstGeom prst="rect">
            <a:avLst/>
          </a:prstGeom>
        </p:spPr>
      </p:pic>
      <p:sp>
        <p:nvSpPr>
          <p:cNvPr id="5" name="Text 1"/>
          <p:cNvSpPr/>
          <p:nvPr/>
        </p:nvSpPr>
        <p:spPr>
          <a:xfrm>
            <a:off x="822960" y="2468880"/>
            <a:ext cx="10058400" cy="822960"/>
          </a:xfrm>
          <a:prstGeom prst="rect">
            <a:avLst/>
          </a:prstGeom>
          <a:noFill/>
          <a:ln/>
        </p:spPr>
        <p:txBody>
          <a:bodyPr wrap="square" lIns="0" tIns="0" rIns="0" bIns="0" rtlCol="0" anchor="ctr"/>
          <a:lstStyle/>
          <a:p>
            <a:pPr marL="0" indent="0">
              <a:buNone/>
            </a:pPr>
            <a:r>
              <a:rPr lang="en-US" sz="4400" b="1" dirty="0">
                <a:solidFill>
                  <a:srgbClr val="FFFFFF"/>
                </a:solidFill>
                <a:latin typeface="Cambria" pitchFamily="34" charset="0"/>
                <a:ea typeface="Cambria" pitchFamily="34" charset="-122"/>
                <a:cs typeface="Cambria" pitchFamily="34" charset="-120"/>
              </a:rPr>
              <a:t>Try it yourself — it's live.</a:t>
            </a:r>
            <a:endParaRPr lang="en-US" sz="4400" dirty="0"/>
          </a:p>
        </p:txBody>
      </p:sp>
      <p:sp>
        <p:nvSpPr>
          <p:cNvPr id="6" name="Text 2"/>
          <p:cNvSpPr/>
          <p:nvPr/>
        </p:nvSpPr>
        <p:spPr>
          <a:xfrm>
            <a:off x="841248" y="3383280"/>
            <a:ext cx="10058400" cy="411480"/>
          </a:xfrm>
          <a:prstGeom prst="rect">
            <a:avLst/>
          </a:prstGeom>
          <a:noFill/>
          <a:ln/>
        </p:spPr>
        <p:txBody>
          <a:bodyPr wrap="square" lIns="0" tIns="0" rIns="0" bIns="0" rtlCol="0" anchor="ctr"/>
          <a:lstStyle/>
          <a:p>
            <a:pPr marL="0" indent="0">
              <a:buNone/>
            </a:pPr>
            <a:r>
              <a:rPr lang="en-US" sz="1700" dirty="0">
                <a:solidFill>
                  <a:srgbClr val="F3EBE0"/>
                </a:solidFill>
                <a:latin typeface="Calibri" pitchFamily="34" charset="0"/>
                <a:ea typeface="Calibri" pitchFamily="34" charset="-122"/>
                <a:cs typeface="Calibri" pitchFamily="34" charset="-120"/>
              </a:rPr>
              <a:t>Place a real order in the MVP right now.</a:t>
            </a:r>
            <a:endParaRPr lang="en-US" sz="1700" dirty="0"/>
          </a:p>
        </p:txBody>
      </p:sp>
      <p:sp>
        <p:nvSpPr>
          <p:cNvPr id="7" name="Shape 3"/>
          <p:cNvSpPr/>
          <p:nvPr/>
        </p:nvSpPr>
        <p:spPr>
          <a:xfrm>
            <a:off x="841248" y="4114800"/>
            <a:ext cx="6583680" cy="566928"/>
          </a:xfrm>
          <a:prstGeom prst="roundRect">
            <a:avLst>
              <a:gd name="adj" fmla="val 50000"/>
            </a:avLst>
          </a:prstGeom>
          <a:solidFill>
            <a:srgbClr val="342B26"/>
          </a:solidFill>
          <a:ln w="12700">
            <a:solidFill>
              <a:srgbClr val="E0A43B"/>
            </a:solidFill>
            <a:prstDash val="solid"/>
          </a:ln>
        </p:spPr>
        <p:txBody>
          <a:bodyPr/>
          <a:lstStyle/>
          <a:p>
            <a:endParaRPr lang="en-IN" dirty="0"/>
          </a:p>
        </p:txBody>
      </p:sp>
      <p:pic>
        <p:nvPicPr>
          <p:cNvPr id="8" name="Image 2" descr="preencoded.png"/>
          <p:cNvPicPr>
            <a:picLocks noChangeAspect="1"/>
          </p:cNvPicPr>
          <p:nvPr/>
        </p:nvPicPr>
        <p:blipFill>
          <a:blip r:embed="rId5"/>
          <a:stretch>
            <a:fillRect/>
          </a:stretch>
        </p:blipFill>
        <p:spPr>
          <a:xfrm>
            <a:off x="1024128" y="4242816"/>
            <a:ext cx="310896" cy="310896"/>
          </a:xfrm>
          <a:prstGeom prst="rect">
            <a:avLst/>
          </a:prstGeom>
        </p:spPr>
      </p:pic>
      <p:sp>
        <p:nvSpPr>
          <p:cNvPr id="9" name="Text 4"/>
          <p:cNvSpPr/>
          <p:nvPr/>
        </p:nvSpPr>
        <p:spPr>
          <a:xfrm>
            <a:off x="1417320" y="4114800"/>
            <a:ext cx="5943600" cy="566928"/>
          </a:xfrm>
          <a:prstGeom prst="rect">
            <a:avLst/>
          </a:prstGeom>
          <a:noFill/>
          <a:ln/>
        </p:spPr>
        <p:txBody>
          <a:bodyPr wrap="square" lIns="0" tIns="0" rIns="0" bIns="0" rtlCol="0" anchor="ctr"/>
          <a:lstStyle/>
          <a:p>
            <a:r>
              <a:rPr lang="en-US" sz="2000" dirty="0">
                <a:solidFill>
                  <a:srgbClr val="954F72"/>
                </a:solidFill>
                <a:latin typeface="Calibri" pitchFamily="34" charset="0"/>
                <a:ea typeface="Calibri" pitchFamily="34" charset="-122"/>
                <a:cs typeface="Calibri" pitchFamily="34" charset="-120"/>
                <a:hlinkClick r:id="rId6" tooltip="Slicematic">
                  <a:extLst>
                    <a:ext uri="{A12FA001-AC4F-418D-AE19-62706E023703}">
                      <ahyp:hlinkClr xmlns:ahyp="http://schemas.microsoft.com/office/drawing/2018/hyperlinkcolor" val="tx"/>
                    </a:ext>
                  </a:extLst>
                </a:hlinkClick>
              </a:rPr>
              <a:t>Slicematic</a:t>
            </a:r>
            <a:r>
              <a:rPr lang="en-US" sz="2000" dirty="0">
                <a:solidFill>
                  <a:schemeClr val="bg1"/>
                </a:solidFill>
                <a:latin typeface="Calibri" pitchFamily="34" charset="0"/>
                <a:ea typeface="Calibri" pitchFamily="34" charset="-122"/>
                <a:cs typeface="Calibri" pitchFamily="34" charset="-120"/>
                <a:hlinkClick r:id="rId6" tooltip="Slicematic">
                  <a:extLst>
                    <a:ext uri="{A12FA001-AC4F-418D-AE19-62706E023703}">
                      <ahyp:hlinkClr xmlns:ahyp="http://schemas.microsoft.com/office/drawing/2018/hyperlinkcolor" val="tx"/>
                    </a:ext>
                  </a:extLst>
                </a:hlinkClick>
              </a:rPr>
              <a:t> Application</a:t>
            </a:r>
            <a:endParaRPr lang="en-US" sz="2000" dirty="0">
              <a:solidFill>
                <a:schemeClr val="bg1"/>
              </a:solidFill>
            </a:endParaRPr>
          </a:p>
        </p:txBody>
      </p:sp>
      <p:sp>
        <p:nvSpPr>
          <p:cNvPr id="10" name="Text 5"/>
          <p:cNvSpPr/>
          <p:nvPr/>
        </p:nvSpPr>
        <p:spPr>
          <a:xfrm>
            <a:off x="841248" y="5212080"/>
            <a:ext cx="9144000" cy="365760"/>
          </a:xfrm>
          <a:prstGeom prst="rect">
            <a:avLst/>
          </a:prstGeom>
          <a:noFill/>
          <a:ln/>
        </p:spPr>
        <p:txBody>
          <a:bodyPr wrap="square" lIns="0" tIns="0" rIns="0" bIns="0" rtlCol="0" anchor="ctr"/>
          <a:lstStyle/>
          <a:p>
            <a:pPr marL="0" indent="0">
              <a:buNone/>
            </a:pPr>
            <a:r>
              <a:rPr lang="en-US" sz="1500" b="1" dirty="0">
                <a:solidFill>
                  <a:srgbClr val="E0A43B"/>
                </a:solidFill>
                <a:latin typeface="Calibri" pitchFamily="34" charset="0"/>
                <a:ea typeface="Calibri" pitchFamily="34" charset="-122"/>
                <a:cs typeface="Calibri" pitchFamily="34" charset="-120"/>
              </a:rPr>
              <a:t>Thank you — Group 3</a:t>
            </a:r>
            <a:endParaRPr lang="en-US" sz="1500" dirty="0"/>
          </a:p>
        </p:txBody>
      </p:sp>
      <p:sp>
        <p:nvSpPr>
          <p:cNvPr id="11" name="Text 6"/>
          <p:cNvSpPr/>
          <p:nvPr/>
        </p:nvSpPr>
        <p:spPr>
          <a:xfrm>
            <a:off x="841248" y="5559552"/>
            <a:ext cx="10424160" cy="274320"/>
          </a:xfrm>
          <a:prstGeom prst="rect">
            <a:avLst/>
          </a:prstGeom>
          <a:noFill/>
          <a:ln/>
        </p:spPr>
        <p:txBody>
          <a:bodyPr wrap="square" lIns="0" tIns="0" rIns="0" bIns="0" rtlCol="0" anchor="ctr"/>
          <a:lstStyle/>
          <a:p>
            <a:pPr marL="0" indent="0">
              <a:buNone/>
            </a:pPr>
            <a:r>
              <a:rPr lang="en-US" sz="1100" dirty="0">
                <a:solidFill>
                  <a:srgbClr val="F3EBE0">
                    <a:alpha val="85000"/>
                  </a:srgbClr>
                </a:solidFill>
                <a:latin typeface="Calibri" pitchFamily="34" charset="0"/>
                <a:ea typeface="Calibri" pitchFamily="34" charset="-122"/>
                <a:cs typeface="Calibri" pitchFamily="34" charset="-120"/>
              </a:rPr>
              <a:t>Mouli Murakambattu · Shaik Mohammed Pasha · Aman Sharma · Saurabh Sekhar · Sushant Kumar</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183</TotalTime>
  <Words>3080</Words>
  <Application>Microsoft Office PowerPoint</Application>
  <PresentationFormat>Widescreen</PresentationFormat>
  <Paragraphs>370</Paragraphs>
  <Slides>20</Slides>
  <Notes>20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Arial</vt:lpstr>
      <vt:lpstr>Calibri</vt:lpstr>
      <vt:lpstr>Cambria</vt:lpstr>
      <vt:lpstr>Courier New</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SliceMatic / PizzaFlow — MVP Live Demo</dc:title>
  <dc:subject>PptxGenJS Presentation</dc:subject>
  <dc:creator>Group 3 — Mouli Murakambattu</dc:creator>
  <cp:lastModifiedBy>moulisai.2296@outlook.com</cp:lastModifiedBy>
  <cp:revision>16</cp:revision>
  <dcterms:created xsi:type="dcterms:W3CDTF">2026-06-30T03:27:13Z</dcterms:created>
  <dcterms:modified xsi:type="dcterms:W3CDTF">2026-06-30T06:51:56Z</dcterms:modified>
</cp:coreProperties>
</file>